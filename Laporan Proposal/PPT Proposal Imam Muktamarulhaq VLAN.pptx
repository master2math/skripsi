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27"/>
  </p:notesMasterIdLst>
  <p:sldIdLst>
    <p:sldId id="256" r:id="rId2"/>
    <p:sldId id="319" r:id="rId3"/>
    <p:sldId id="320" r:id="rId4"/>
    <p:sldId id="342" r:id="rId5"/>
    <p:sldId id="312" r:id="rId6"/>
    <p:sldId id="337" r:id="rId7"/>
    <p:sldId id="339" r:id="rId8"/>
    <p:sldId id="323" r:id="rId9"/>
    <p:sldId id="324" r:id="rId10"/>
    <p:sldId id="340" r:id="rId11"/>
    <p:sldId id="325" r:id="rId12"/>
    <p:sldId id="326" r:id="rId13"/>
    <p:sldId id="321" r:id="rId14"/>
    <p:sldId id="286" r:id="rId15"/>
    <p:sldId id="343" r:id="rId16"/>
    <p:sldId id="327" r:id="rId17"/>
    <p:sldId id="330" r:id="rId18"/>
    <p:sldId id="341" r:id="rId19"/>
    <p:sldId id="322" r:id="rId20"/>
    <p:sldId id="313" r:id="rId21"/>
    <p:sldId id="332" r:id="rId22"/>
    <p:sldId id="280" r:id="rId23"/>
    <p:sldId id="333" r:id="rId24"/>
    <p:sldId id="334" r:id="rId25"/>
    <p:sldId id="269" r:id="rId26"/>
  </p:sldIdLst>
  <p:sldSz cx="9144000" cy="5143500" type="screen16x9"/>
  <p:notesSz cx="9144000" cy="6858000"/>
  <p:embeddedFontLst>
    <p:embeddedFont>
      <p:font typeface="Anaheim" panose="020B0604020202020204" charset="0"/>
      <p:regular r:id="rId28"/>
    </p:embeddedFont>
    <p:embeddedFont>
      <p:font typeface="Bebas Neue" panose="020B0606020202050201" pitchFamily="34" charset="0"/>
      <p:regular r:id="rId29"/>
    </p:embeddedFont>
    <p:embeddedFont>
      <p:font typeface="Comfortaa" panose="020B0604020202020204" charset="0"/>
      <p:regular r:id="rId30"/>
      <p:bold r:id="rId31"/>
    </p:embeddedFont>
    <p:embeddedFont>
      <p:font typeface="Fira Code" panose="020B0809050000020004" pitchFamily="49" charset="0"/>
      <p:regular r:id="rId32"/>
      <p:bold r:id="rId33"/>
    </p:embeddedFont>
    <p:embeddedFont>
      <p:font typeface="Source Code Pro" panose="020B0509030403020204" pitchFamily="49" charset="0"/>
      <p:regular r:id="rId34"/>
      <p:bold r:id="rId35"/>
      <p:italic r:id="rId36"/>
      <p:boldItalic r:id="rId37"/>
    </p:embeddedFont>
    <p:embeddedFont>
      <p:font typeface="Source Code Pro Medium" panose="020B0509030403020204" pitchFamily="49"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E48D74-6E45-4255-800F-27A351241F33}">
  <a:tblStyle styleId="{B1E48D74-6E45-4255-800F-27A351241F3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288A41C-ADF9-481E-9A2E-9AD63AB963D0}"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4660"/>
  </p:normalViewPr>
  <p:slideViewPr>
    <p:cSldViewPr snapToGrid="0">
      <p:cViewPr varScale="1">
        <p:scale>
          <a:sx n="138" d="100"/>
          <a:sy n="138" d="100"/>
        </p:scale>
        <p:origin x="7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4dfce81f19_0_4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4dfce81f19_0_45: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d431007ba2_0_21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d431007ba2_0_215: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54dda1946d_6_37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54dda1946d_6_37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C46FCD56-5784-5618-DD75-547AE2AF7491}"/>
            </a:ext>
          </a:extLst>
        </p:cNvPr>
        <p:cNvGrpSpPr/>
        <p:nvPr/>
      </p:nvGrpSpPr>
      <p:grpSpPr>
        <a:xfrm>
          <a:off x="0" y="0"/>
          <a:ext cx="0" cy="0"/>
          <a:chOff x="0" y="0"/>
          <a:chExt cx="0" cy="0"/>
        </a:xfrm>
      </p:grpSpPr>
      <p:sp>
        <p:nvSpPr>
          <p:cNvPr id="428" name="Google Shape;428;g14072739ea5_12_0:notes">
            <a:extLst>
              <a:ext uri="{FF2B5EF4-FFF2-40B4-BE49-F238E27FC236}">
                <a16:creationId xmlns:a16="http://schemas.microsoft.com/office/drawing/2014/main" id="{262EF2A9-3337-F527-B806-9A49B7477602}"/>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a:extLst>
              <a:ext uri="{FF2B5EF4-FFF2-40B4-BE49-F238E27FC236}">
                <a16:creationId xmlns:a16="http://schemas.microsoft.com/office/drawing/2014/main" id="{73849F16-3AA1-4518-680C-EF526A60863B}"/>
              </a:ext>
            </a:extLst>
          </p:cNvPr>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6669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7272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F4D7B226-F33B-1E95-6E1F-A96C795E70DD}"/>
            </a:ext>
          </a:extLst>
        </p:cNvPr>
        <p:cNvGrpSpPr/>
        <p:nvPr/>
      </p:nvGrpSpPr>
      <p:grpSpPr>
        <a:xfrm>
          <a:off x="0" y="0"/>
          <a:ext cx="0" cy="0"/>
          <a:chOff x="0" y="0"/>
          <a:chExt cx="0" cy="0"/>
        </a:xfrm>
      </p:grpSpPr>
      <p:sp>
        <p:nvSpPr>
          <p:cNvPr id="428" name="Google Shape;428;g14072739ea5_12_0:notes">
            <a:extLst>
              <a:ext uri="{FF2B5EF4-FFF2-40B4-BE49-F238E27FC236}">
                <a16:creationId xmlns:a16="http://schemas.microsoft.com/office/drawing/2014/main" id="{0044C5AB-B178-563E-5673-65469AFAA3D2}"/>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a:extLst>
              <a:ext uri="{FF2B5EF4-FFF2-40B4-BE49-F238E27FC236}">
                <a16:creationId xmlns:a16="http://schemas.microsoft.com/office/drawing/2014/main" id="{070AE2AA-CF34-7E87-C21F-6B354DAFBBDD}"/>
              </a:ext>
            </a:extLst>
          </p:cNvPr>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4628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EE2359B1-61C5-7769-EE3E-AB9CB6AC4A5C}"/>
            </a:ext>
          </a:extLst>
        </p:cNvPr>
        <p:cNvGrpSpPr/>
        <p:nvPr/>
      </p:nvGrpSpPr>
      <p:grpSpPr>
        <a:xfrm>
          <a:off x="0" y="0"/>
          <a:ext cx="0" cy="0"/>
          <a:chOff x="0" y="0"/>
          <a:chExt cx="0" cy="0"/>
        </a:xfrm>
      </p:grpSpPr>
      <p:sp>
        <p:nvSpPr>
          <p:cNvPr id="428" name="Google Shape;428;g14072739ea5_12_0:notes">
            <a:extLst>
              <a:ext uri="{FF2B5EF4-FFF2-40B4-BE49-F238E27FC236}">
                <a16:creationId xmlns:a16="http://schemas.microsoft.com/office/drawing/2014/main" id="{2343F7B8-82C4-689F-1333-E611C06D455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a:extLst>
              <a:ext uri="{FF2B5EF4-FFF2-40B4-BE49-F238E27FC236}">
                <a16:creationId xmlns:a16="http://schemas.microsoft.com/office/drawing/2014/main" id="{7718A934-2FD4-3B66-CB88-56DBC8E40F72}"/>
              </a:ext>
            </a:extLst>
          </p:cNvPr>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0943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2577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0563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65B357C2-507E-FE1E-A434-BADB02AF5A87}"/>
            </a:ext>
          </a:extLst>
        </p:cNvPr>
        <p:cNvGrpSpPr/>
        <p:nvPr/>
      </p:nvGrpSpPr>
      <p:grpSpPr>
        <a:xfrm>
          <a:off x="0" y="0"/>
          <a:ext cx="0" cy="0"/>
          <a:chOff x="0" y="0"/>
          <a:chExt cx="0" cy="0"/>
        </a:xfrm>
      </p:grpSpPr>
      <p:sp>
        <p:nvSpPr>
          <p:cNvPr id="428" name="Google Shape;428;g14072739ea5_12_0:notes">
            <a:extLst>
              <a:ext uri="{FF2B5EF4-FFF2-40B4-BE49-F238E27FC236}">
                <a16:creationId xmlns:a16="http://schemas.microsoft.com/office/drawing/2014/main" id="{03367C04-2014-FE18-17DA-AA22F5B31239}"/>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a:extLst>
              <a:ext uri="{FF2B5EF4-FFF2-40B4-BE49-F238E27FC236}">
                <a16:creationId xmlns:a16="http://schemas.microsoft.com/office/drawing/2014/main" id="{B27F1FF8-B5DF-EB8F-DA21-995D04C25C94}"/>
              </a:ext>
            </a:extLst>
          </p:cNvPr>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1554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397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36780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54dda1946d_6_37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54dda1946d_6_37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g54dda1946d_4_270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3" name="Google Shape;1303;g54dda1946d_4_2701: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a:extLst>
            <a:ext uri="{FF2B5EF4-FFF2-40B4-BE49-F238E27FC236}">
              <a16:creationId xmlns:a16="http://schemas.microsoft.com/office/drawing/2014/main" id="{D2393F0F-E06C-8959-87DC-FD4577089471}"/>
            </a:ext>
          </a:extLst>
        </p:cNvPr>
        <p:cNvGrpSpPr/>
        <p:nvPr/>
      </p:nvGrpSpPr>
      <p:grpSpPr>
        <a:xfrm>
          <a:off x="0" y="0"/>
          <a:ext cx="0" cy="0"/>
          <a:chOff x="0" y="0"/>
          <a:chExt cx="0" cy="0"/>
        </a:xfrm>
      </p:grpSpPr>
      <p:sp>
        <p:nvSpPr>
          <p:cNvPr id="1302" name="Google Shape;1302;g54dda1946d_4_2701:notes">
            <a:extLst>
              <a:ext uri="{FF2B5EF4-FFF2-40B4-BE49-F238E27FC236}">
                <a16:creationId xmlns:a16="http://schemas.microsoft.com/office/drawing/2014/main" id="{BB8C9B20-40EC-E432-26E9-C898ABA916B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3" name="Google Shape;1303;g54dda1946d_4_2701:notes">
            <a:extLst>
              <a:ext uri="{FF2B5EF4-FFF2-40B4-BE49-F238E27FC236}">
                <a16:creationId xmlns:a16="http://schemas.microsoft.com/office/drawing/2014/main" id="{452A9E77-5269-9854-B940-9F23F87750AC}"/>
              </a:ext>
            </a:extLst>
          </p:cNvPr>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02287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17483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25374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a:extLst>
            <a:ext uri="{FF2B5EF4-FFF2-40B4-BE49-F238E27FC236}">
              <a16:creationId xmlns:a16="http://schemas.microsoft.com/office/drawing/2014/main" id="{AC4BCCBD-D6D8-2CA2-6088-7AF1E26092D8}"/>
            </a:ext>
          </a:extLst>
        </p:cNvPr>
        <p:cNvGrpSpPr/>
        <p:nvPr/>
      </p:nvGrpSpPr>
      <p:grpSpPr>
        <a:xfrm>
          <a:off x="0" y="0"/>
          <a:ext cx="0" cy="0"/>
          <a:chOff x="0" y="0"/>
          <a:chExt cx="0" cy="0"/>
        </a:xfrm>
      </p:grpSpPr>
      <p:sp>
        <p:nvSpPr>
          <p:cNvPr id="428" name="Google Shape;428;g14072739ea5_12_0:notes">
            <a:extLst>
              <a:ext uri="{FF2B5EF4-FFF2-40B4-BE49-F238E27FC236}">
                <a16:creationId xmlns:a16="http://schemas.microsoft.com/office/drawing/2014/main" id="{E2B8142A-C242-4EF8-0761-983C23DD2DD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a:extLst>
              <a:ext uri="{FF2B5EF4-FFF2-40B4-BE49-F238E27FC236}">
                <a16:creationId xmlns:a16="http://schemas.microsoft.com/office/drawing/2014/main" id="{5373D235-2FF9-CACE-1CD4-FF8D9DAB66E4}"/>
              </a:ext>
            </a:extLst>
          </p:cNvPr>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8793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54dda1946d_6_37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54dda1946d_6_37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82827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14072739ea5_12_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07620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54dda1946d_4_274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1" name="Google Shape;1071;g54dda1946d_4_274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a:extLst>
            <a:ext uri="{FF2B5EF4-FFF2-40B4-BE49-F238E27FC236}">
              <a16:creationId xmlns:a16="http://schemas.microsoft.com/office/drawing/2014/main" id="{59A252BB-94D9-69D6-677E-BB0A5F74DE27}"/>
            </a:ext>
          </a:extLst>
        </p:cNvPr>
        <p:cNvGrpSpPr/>
        <p:nvPr/>
      </p:nvGrpSpPr>
      <p:grpSpPr>
        <a:xfrm>
          <a:off x="0" y="0"/>
          <a:ext cx="0" cy="0"/>
          <a:chOff x="0" y="0"/>
          <a:chExt cx="0" cy="0"/>
        </a:xfrm>
      </p:grpSpPr>
      <p:sp>
        <p:nvSpPr>
          <p:cNvPr id="1070" name="Google Shape;1070;g54dda1946d_4_2742:notes">
            <a:extLst>
              <a:ext uri="{FF2B5EF4-FFF2-40B4-BE49-F238E27FC236}">
                <a16:creationId xmlns:a16="http://schemas.microsoft.com/office/drawing/2014/main" id="{F349E8BB-9E45-20C6-70AA-113E9CBE7EB2}"/>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1" name="Google Shape;1071;g54dda1946d_4_2742:notes">
            <a:extLst>
              <a:ext uri="{FF2B5EF4-FFF2-40B4-BE49-F238E27FC236}">
                <a16:creationId xmlns:a16="http://schemas.microsoft.com/office/drawing/2014/main" id="{58E63D2A-099D-09CA-7082-CDF6F98AA1FA}"/>
              </a:ext>
            </a:extLst>
          </p:cNvPr>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80665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a:extLst>
            <a:ext uri="{FF2B5EF4-FFF2-40B4-BE49-F238E27FC236}">
              <a16:creationId xmlns:a16="http://schemas.microsoft.com/office/drawing/2014/main" id="{258A1F46-2506-CAD4-FBB9-51531D87A266}"/>
            </a:ext>
          </a:extLst>
        </p:cNvPr>
        <p:cNvGrpSpPr/>
        <p:nvPr/>
      </p:nvGrpSpPr>
      <p:grpSpPr>
        <a:xfrm>
          <a:off x="0" y="0"/>
          <a:ext cx="0" cy="0"/>
          <a:chOff x="0" y="0"/>
          <a:chExt cx="0" cy="0"/>
        </a:xfrm>
      </p:grpSpPr>
      <p:sp>
        <p:nvSpPr>
          <p:cNvPr id="1070" name="Google Shape;1070;g54dda1946d_4_2742:notes">
            <a:extLst>
              <a:ext uri="{FF2B5EF4-FFF2-40B4-BE49-F238E27FC236}">
                <a16:creationId xmlns:a16="http://schemas.microsoft.com/office/drawing/2014/main" id="{CC0F0CAC-FA04-8EFE-EEF3-E75D09E96B5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1" name="Google Shape;1071;g54dda1946d_4_2742:notes">
            <a:extLst>
              <a:ext uri="{FF2B5EF4-FFF2-40B4-BE49-F238E27FC236}">
                <a16:creationId xmlns:a16="http://schemas.microsoft.com/office/drawing/2014/main" id="{7E6D6F34-D710-F9F5-10C7-855E017216FC}"/>
              </a:ext>
            </a:extLst>
          </p:cNvPr>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50949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54dda1946d_6_37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54dda1946d_6_37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735500" y="1258850"/>
            <a:ext cx="5797500" cy="20388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735500" y="3297650"/>
            <a:ext cx="5797500" cy="440700"/>
          </a:xfrm>
          <a:prstGeom prst="rect">
            <a:avLst/>
          </a:prstGeom>
          <a:solidFill>
            <a:schemeClr val="accent6"/>
          </a:solidFill>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4"/>
        <p:cNvGrpSpPr/>
        <p:nvPr/>
      </p:nvGrpSpPr>
      <p:grpSpPr>
        <a:xfrm>
          <a:off x="0" y="0"/>
          <a:ext cx="0" cy="0"/>
          <a:chOff x="0" y="0"/>
          <a:chExt cx="0" cy="0"/>
        </a:xfrm>
      </p:grpSpPr>
      <p:sp>
        <p:nvSpPr>
          <p:cNvPr id="55" name="Google Shape;55;p8"/>
          <p:cNvSpPr/>
          <p:nvPr/>
        </p:nvSpPr>
        <p:spPr>
          <a:xfrm>
            <a:off x="3763500" y="-1800"/>
            <a:ext cx="5380500" cy="51435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 name="Google Shape;56;p8"/>
          <p:cNvGrpSpPr/>
          <p:nvPr/>
        </p:nvGrpSpPr>
        <p:grpSpPr>
          <a:xfrm>
            <a:off x="8059900" y="446250"/>
            <a:ext cx="473100" cy="186500"/>
            <a:chOff x="7059675" y="514525"/>
            <a:chExt cx="473100" cy="186500"/>
          </a:xfrm>
        </p:grpSpPr>
        <p:cxnSp>
          <p:nvCxnSpPr>
            <p:cNvPr id="57" name="Google Shape;57;p8"/>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8" name="Google Shape;58;p8"/>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9" name="Google Shape;59;p8"/>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60" name="Google Shape;60;p8"/>
          <p:cNvSpPr txBox="1">
            <a:spLocks noGrp="1"/>
          </p:cNvSpPr>
          <p:nvPr>
            <p:ph type="title"/>
          </p:nvPr>
        </p:nvSpPr>
        <p:spPr>
          <a:xfrm>
            <a:off x="4355250" y="1307100"/>
            <a:ext cx="40755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33"/>
        <p:cNvGrpSpPr/>
        <p:nvPr/>
      </p:nvGrpSpPr>
      <p:grpSpPr>
        <a:xfrm>
          <a:off x="0" y="0"/>
          <a:ext cx="0" cy="0"/>
          <a:chOff x="0" y="0"/>
          <a:chExt cx="0" cy="0"/>
        </a:xfrm>
      </p:grpSpPr>
      <p:sp>
        <p:nvSpPr>
          <p:cNvPr id="134" name="Google Shape;134;p19"/>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 name="Google Shape;135;p19"/>
          <p:cNvGrpSpPr/>
          <p:nvPr/>
        </p:nvGrpSpPr>
        <p:grpSpPr>
          <a:xfrm>
            <a:off x="8389787" y="179931"/>
            <a:ext cx="486393" cy="125690"/>
            <a:chOff x="-890300" y="1406550"/>
            <a:chExt cx="806088" cy="208200"/>
          </a:xfrm>
        </p:grpSpPr>
        <p:sp>
          <p:nvSpPr>
            <p:cNvPr id="136" name="Google Shape;136;p19"/>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9"/>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9"/>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0" name="Google Shape;140;p19"/>
          <p:cNvSpPr txBox="1">
            <a:spLocks noGrp="1"/>
          </p:cNvSpPr>
          <p:nvPr>
            <p:ph type="subTitle" idx="1"/>
          </p:nvPr>
        </p:nvSpPr>
        <p:spPr>
          <a:xfrm>
            <a:off x="4821898" y="1443125"/>
            <a:ext cx="3602100" cy="2433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1" name="Google Shape;141;p19"/>
          <p:cNvSpPr txBox="1">
            <a:spLocks noGrp="1"/>
          </p:cNvSpPr>
          <p:nvPr>
            <p:ph type="subTitle" idx="2"/>
          </p:nvPr>
        </p:nvSpPr>
        <p:spPr>
          <a:xfrm>
            <a:off x="644000" y="1443125"/>
            <a:ext cx="3602100" cy="2433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16"/>
        <p:cNvGrpSpPr/>
        <p:nvPr/>
      </p:nvGrpSpPr>
      <p:grpSpPr>
        <a:xfrm>
          <a:off x="0" y="0"/>
          <a:ext cx="0" cy="0"/>
          <a:chOff x="0" y="0"/>
          <a:chExt cx="0" cy="0"/>
        </a:xfrm>
      </p:grpSpPr>
      <p:sp>
        <p:nvSpPr>
          <p:cNvPr id="217" name="Google Shape;217;p26"/>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8" name="Google Shape;218;p26"/>
          <p:cNvGrpSpPr/>
          <p:nvPr/>
        </p:nvGrpSpPr>
        <p:grpSpPr>
          <a:xfrm>
            <a:off x="8389787" y="179931"/>
            <a:ext cx="486393" cy="125690"/>
            <a:chOff x="-890300" y="1406550"/>
            <a:chExt cx="806088" cy="208200"/>
          </a:xfrm>
        </p:grpSpPr>
        <p:sp>
          <p:nvSpPr>
            <p:cNvPr id="219" name="Google Shape;219;p2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22"/>
        <p:cNvGrpSpPr/>
        <p:nvPr/>
      </p:nvGrpSpPr>
      <p:grpSpPr>
        <a:xfrm>
          <a:off x="0" y="0"/>
          <a:ext cx="0" cy="0"/>
          <a:chOff x="0" y="0"/>
          <a:chExt cx="0" cy="0"/>
        </a:xfrm>
      </p:grpSpPr>
      <p:sp>
        <p:nvSpPr>
          <p:cNvPr id="223" name="Google Shape;223;p27"/>
          <p:cNvSpPr/>
          <p:nvPr/>
        </p:nvSpPr>
        <p:spPr>
          <a:xfrm>
            <a:off x="4424750" y="-1800"/>
            <a:ext cx="4719300" cy="51435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27"/>
          <p:cNvGrpSpPr/>
          <p:nvPr/>
        </p:nvGrpSpPr>
        <p:grpSpPr>
          <a:xfrm>
            <a:off x="8193116" y="446250"/>
            <a:ext cx="414956" cy="186500"/>
            <a:chOff x="7059675" y="514525"/>
            <a:chExt cx="473100" cy="186500"/>
          </a:xfrm>
        </p:grpSpPr>
        <p:cxnSp>
          <p:nvCxnSpPr>
            <p:cNvPr id="225" name="Google Shape;225;p27"/>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6" name="Google Shape;226;p27"/>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7" name="Google Shape;227;p27"/>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1"/>
        <p:cNvGrpSpPr/>
        <p:nvPr/>
      </p:nvGrpSpPr>
      <p:grpSpPr>
        <a:xfrm>
          <a:off x="0" y="0"/>
          <a:ext cx="0" cy="0"/>
          <a:chOff x="0" y="0"/>
          <a:chExt cx="0" cy="0"/>
        </a:xfrm>
      </p:grpSpPr>
      <p:sp>
        <p:nvSpPr>
          <p:cNvPr id="82" name="Google Shape;82;p13"/>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 name="Google Shape;83;p13"/>
          <p:cNvGrpSpPr/>
          <p:nvPr/>
        </p:nvGrpSpPr>
        <p:grpSpPr>
          <a:xfrm>
            <a:off x="8389787" y="179931"/>
            <a:ext cx="486393" cy="125690"/>
            <a:chOff x="-890300" y="1406550"/>
            <a:chExt cx="806088" cy="208200"/>
          </a:xfrm>
        </p:grpSpPr>
        <p:sp>
          <p:nvSpPr>
            <p:cNvPr id="84" name="Google Shape;84;p13"/>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3"/>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 name="Google Shape;87;p13"/>
          <p:cNvSpPr txBox="1">
            <a:spLocks noGrp="1"/>
          </p:cNvSpPr>
          <p:nvPr>
            <p:ph type="title"/>
          </p:nvPr>
        </p:nvSpPr>
        <p:spPr>
          <a:xfrm>
            <a:off x="713225" y="445025"/>
            <a:ext cx="771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8" name="Google Shape;88;p13"/>
          <p:cNvSpPr txBox="1">
            <a:spLocks noGrp="1"/>
          </p:cNvSpPr>
          <p:nvPr>
            <p:ph type="subTitle" idx="1"/>
          </p:nvPr>
        </p:nvSpPr>
        <p:spPr>
          <a:xfrm>
            <a:off x="2472000" y="1832950"/>
            <a:ext cx="4209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9" name="Google Shape;89;p13"/>
          <p:cNvSpPr txBox="1">
            <a:spLocks noGrp="1"/>
          </p:cNvSpPr>
          <p:nvPr>
            <p:ph type="subTitle" idx="2"/>
          </p:nvPr>
        </p:nvSpPr>
        <p:spPr>
          <a:xfrm>
            <a:off x="3175501" y="2833427"/>
            <a:ext cx="4209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0" name="Google Shape;90;p13"/>
          <p:cNvSpPr txBox="1">
            <a:spLocks noGrp="1"/>
          </p:cNvSpPr>
          <p:nvPr>
            <p:ph type="subTitle" idx="3"/>
          </p:nvPr>
        </p:nvSpPr>
        <p:spPr>
          <a:xfrm>
            <a:off x="3504027" y="3834248"/>
            <a:ext cx="4209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4" hasCustomPrompt="1"/>
          </p:nvPr>
        </p:nvSpPr>
        <p:spPr>
          <a:xfrm>
            <a:off x="1869900" y="1470525"/>
            <a:ext cx="602100" cy="3915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title" idx="5" hasCustomPrompt="1"/>
          </p:nvPr>
        </p:nvSpPr>
        <p:spPr>
          <a:xfrm>
            <a:off x="2573400" y="2482425"/>
            <a:ext cx="602100" cy="3915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a:spLocks noGrp="1"/>
          </p:cNvSpPr>
          <p:nvPr>
            <p:ph type="title" idx="6" hasCustomPrompt="1"/>
          </p:nvPr>
        </p:nvSpPr>
        <p:spPr>
          <a:xfrm>
            <a:off x="2891275" y="3494325"/>
            <a:ext cx="602100" cy="3285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24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subTitle" idx="7"/>
          </p:nvPr>
        </p:nvSpPr>
        <p:spPr>
          <a:xfrm>
            <a:off x="2472000" y="1470525"/>
            <a:ext cx="4209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5" name="Google Shape;95;p13"/>
          <p:cNvSpPr txBox="1">
            <a:spLocks noGrp="1"/>
          </p:cNvSpPr>
          <p:nvPr>
            <p:ph type="subTitle" idx="8"/>
          </p:nvPr>
        </p:nvSpPr>
        <p:spPr>
          <a:xfrm>
            <a:off x="3175500" y="2482425"/>
            <a:ext cx="4209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2"/>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6" name="Google Shape;96;p13"/>
          <p:cNvSpPr txBox="1">
            <a:spLocks noGrp="1"/>
          </p:cNvSpPr>
          <p:nvPr>
            <p:ph type="subTitle" idx="9"/>
          </p:nvPr>
        </p:nvSpPr>
        <p:spPr>
          <a:xfrm>
            <a:off x="3504025" y="3494325"/>
            <a:ext cx="42096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400">
                <a:solidFill>
                  <a:schemeClr val="accent3"/>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4228449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9"/>
        <p:cNvGrpSpPr/>
        <p:nvPr/>
      </p:nvGrpSpPr>
      <p:grpSpPr>
        <a:xfrm>
          <a:off x="0" y="0"/>
          <a:ext cx="0" cy="0"/>
          <a:chOff x="0" y="0"/>
          <a:chExt cx="0" cy="0"/>
        </a:xfrm>
      </p:grpSpPr>
      <p:sp>
        <p:nvSpPr>
          <p:cNvPr id="40" name="Google Shape;40;p6"/>
          <p:cNvSpPr/>
          <p:nvPr/>
        </p:nvSpPr>
        <p:spPr>
          <a:xfrm>
            <a:off x="7775" y="-1800"/>
            <a:ext cx="9144000" cy="1160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 name="Google Shape;41;p6"/>
          <p:cNvGrpSpPr/>
          <p:nvPr/>
        </p:nvGrpSpPr>
        <p:grpSpPr>
          <a:xfrm>
            <a:off x="8389787" y="179931"/>
            <a:ext cx="486393" cy="125690"/>
            <a:chOff x="-890300" y="1406550"/>
            <a:chExt cx="806088" cy="208200"/>
          </a:xfrm>
        </p:grpSpPr>
        <p:sp>
          <p:nvSpPr>
            <p:cNvPr id="42" name="Google Shape;42;p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3869944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18"/>
        <p:cNvGrpSpPr/>
        <p:nvPr/>
      </p:nvGrpSpPr>
      <p:grpSpPr>
        <a:xfrm>
          <a:off x="0" y="0"/>
          <a:ext cx="0" cy="0"/>
          <a:chOff x="0" y="0"/>
          <a:chExt cx="0" cy="0"/>
        </a:xfrm>
      </p:grpSpPr>
      <p:sp>
        <p:nvSpPr>
          <p:cNvPr id="119" name="Google Shape;119;p17"/>
          <p:cNvSpPr/>
          <p:nvPr/>
        </p:nvSpPr>
        <p:spPr>
          <a:xfrm>
            <a:off x="0" y="0"/>
            <a:ext cx="4901100" cy="51435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txBox="1">
            <a:spLocks noGrp="1"/>
          </p:cNvSpPr>
          <p:nvPr>
            <p:ph type="title"/>
          </p:nvPr>
        </p:nvSpPr>
        <p:spPr>
          <a:xfrm>
            <a:off x="4837200" y="1501200"/>
            <a:ext cx="3593400" cy="1060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1" name="Google Shape;121;p17"/>
          <p:cNvSpPr txBox="1">
            <a:spLocks noGrp="1"/>
          </p:cNvSpPr>
          <p:nvPr>
            <p:ph type="subTitle" idx="1"/>
          </p:nvPr>
        </p:nvSpPr>
        <p:spPr>
          <a:xfrm>
            <a:off x="4837371" y="2562000"/>
            <a:ext cx="3593400" cy="1080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67533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1pPr>
            <a:lvl2pPr lvl="1"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2pPr>
            <a:lvl3pPr lvl="2"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3pPr>
            <a:lvl4pPr lvl="3"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4pPr>
            <a:lvl5pPr lvl="4"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5pPr>
            <a:lvl6pPr lvl="5"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6pPr>
            <a:lvl7pPr lvl="6"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7pPr>
            <a:lvl8pPr lvl="7"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8pPr>
            <a:lvl9pPr lvl="8"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8" r:id="rId3"/>
    <p:sldLayoutId id="2147483665" r:id="rId4"/>
    <p:sldLayoutId id="2147483672" r:id="rId5"/>
    <p:sldLayoutId id="2147483673" r:id="rId6"/>
    <p:sldLayoutId id="2147483677" r:id="rId7"/>
    <p:sldLayoutId id="2147483678" r:id="rId8"/>
    <p:sldLayoutId id="214748367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1"/>
          <p:cNvSpPr txBox="1">
            <a:spLocks noGrp="1"/>
          </p:cNvSpPr>
          <p:nvPr>
            <p:ph type="ctrTitle"/>
          </p:nvPr>
        </p:nvSpPr>
        <p:spPr>
          <a:xfrm>
            <a:off x="2735500" y="1688505"/>
            <a:ext cx="6371800" cy="1831013"/>
          </a:xfrm>
          <a:prstGeom prst="rect">
            <a:avLst/>
          </a:prstGeom>
        </p:spPr>
        <p:txBody>
          <a:bodyPr spcFirstLastPara="1" wrap="square" lIns="91425" tIns="91425" rIns="91425" bIns="91425" anchor="b" anchorCtr="0">
            <a:noAutofit/>
          </a:bodyPr>
          <a:lstStyle/>
          <a:p>
            <a:pPr>
              <a:lnSpc>
                <a:spcPct val="107000"/>
              </a:lnSpc>
              <a:spcAft>
                <a:spcPts val="800"/>
              </a:spcAft>
            </a:pPr>
            <a:r>
              <a:rPr lang="id-ID" b="1" kern="100" noProof="0" dirty="0">
                <a:effectLst/>
                <a:latin typeface="Source Code Pro" panose="020B0509030403020204" pitchFamily="49" charset="0"/>
                <a:ea typeface="Source Code Pro" panose="020B0509030403020204" pitchFamily="49" charset="0"/>
                <a:cs typeface="Times New Roman" panose="02020603050405020304" pitchFamily="18" charset="0"/>
              </a:rPr>
              <a:t>IMPLEMENTASI VLAN</a:t>
            </a:r>
            <a:br>
              <a:rPr lang="id-ID" b="1" kern="100" noProof="0" dirty="0">
                <a:effectLst/>
                <a:latin typeface="Source Code Pro" panose="020B0509030403020204" pitchFamily="49" charset="0"/>
                <a:ea typeface="Source Code Pro" panose="020B0509030403020204" pitchFamily="49" charset="0"/>
                <a:cs typeface="Times New Roman" panose="02020603050405020304" pitchFamily="18" charset="0"/>
              </a:rPr>
            </a:br>
            <a:r>
              <a:rPr lang="id-ID" b="1" kern="100" noProof="0" dirty="0">
                <a:effectLst/>
                <a:latin typeface="Source Code Pro" panose="020B0509030403020204" pitchFamily="49" charset="0"/>
                <a:ea typeface="Source Code Pro" panose="020B0509030403020204" pitchFamily="49" charset="0"/>
                <a:cs typeface="Times New Roman" panose="02020603050405020304" pitchFamily="18" charset="0"/>
              </a:rPr>
              <a:t>PADA MIN 3 PONTIANAK</a:t>
            </a:r>
            <a:endParaRPr lang="id-ID" kern="100" noProof="0" dirty="0">
              <a:effectLst/>
              <a:latin typeface="Source Code Pro" panose="020B0509030403020204" pitchFamily="49" charset="0"/>
              <a:ea typeface="Source Code Pro" panose="020B0509030403020204" pitchFamily="49" charset="0"/>
              <a:cs typeface="Times New Roman" panose="02020603050405020304" pitchFamily="18" charset="0"/>
            </a:endParaRPr>
          </a:p>
        </p:txBody>
      </p:sp>
      <p:sp>
        <p:nvSpPr>
          <p:cNvPr id="240" name="Google Shape;240;p31"/>
          <p:cNvSpPr txBox="1"/>
          <p:nvPr/>
        </p:nvSpPr>
        <p:spPr>
          <a:xfrm>
            <a:off x="2097300" y="57100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1"/>
                </a:solidFill>
                <a:latin typeface="Comfortaa"/>
                <a:ea typeface="Comfortaa"/>
                <a:cs typeface="Comfortaa"/>
                <a:sym typeface="Comfortaa"/>
              </a:rPr>
              <a:t>{</a:t>
            </a:r>
          </a:p>
        </p:txBody>
      </p:sp>
      <p:sp>
        <p:nvSpPr>
          <p:cNvPr id="241" name="Google Shape;241;p31"/>
          <p:cNvSpPr txBox="1"/>
          <p:nvPr/>
        </p:nvSpPr>
        <p:spPr>
          <a:xfrm>
            <a:off x="8588000" y="4001925"/>
            <a:ext cx="519300" cy="75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242" name="Google Shape;242;p31"/>
          <p:cNvSpPr txBox="1"/>
          <p:nvPr/>
        </p:nvSpPr>
        <p:spPr>
          <a:xfrm>
            <a:off x="2847375" y="4108415"/>
            <a:ext cx="1447500" cy="5463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grpSp>
        <p:nvGrpSpPr>
          <p:cNvPr id="243" name="Google Shape;243;p31"/>
          <p:cNvGrpSpPr/>
          <p:nvPr/>
        </p:nvGrpSpPr>
        <p:grpSpPr>
          <a:xfrm>
            <a:off x="8059900" y="446250"/>
            <a:ext cx="473100" cy="186500"/>
            <a:chOff x="7059675" y="514525"/>
            <a:chExt cx="473100" cy="186500"/>
          </a:xfrm>
        </p:grpSpPr>
        <p:cxnSp>
          <p:nvCxnSpPr>
            <p:cNvPr id="244" name="Google Shape;244;p31"/>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5" name="Google Shape;245;p31"/>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6" name="Google Shape;246;p31"/>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grpSp>
        <p:nvGrpSpPr>
          <p:cNvPr id="247" name="Google Shape;247;p31"/>
          <p:cNvGrpSpPr/>
          <p:nvPr/>
        </p:nvGrpSpPr>
        <p:grpSpPr>
          <a:xfrm>
            <a:off x="255130" y="696438"/>
            <a:ext cx="2377907" cy="3907563"/>
            <a:chOff x="5" y="747463"/>
            <a:chExt cx="2377907" cy="3907563"/>
          </a:xfrm>
        </p:grpSpPr>
        <p:sp>
          <p:nvSpPr>
            <p:cNvPr id="248" name="Google Shape;248;p31"/>
            <p:cNvSpPr/>
            <p:nvPr/>
          </p:nvSpPr>
          <p:spPr>
            <a:xfrm>
              <a:off x="5" y="756038"/>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49" name="Google Shape;249;p31"/>
            <p:cNvSpPr/>
            <p:nvPr/>
          </p:nvSpPr>
          <p:spPr>
            <a:xfrm>
              <a:off x="486329" y="747463"/>
              <a:ext cx="354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50" name="Google Shape;250;p31"/>
            <p:cNvSpPr/>
            <p:nvPr/>
          </p:nvSpPr>
          <p:spPr>
            <a:xfrm>
              <a:off x="5" y="1068263"/>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51" name="Google Shape;251;p31"/>
            <p:cNvSpPr/>
            <p:nvPr/>
          </p:nvSpPr>
          <p:spPr>
            <a:xfrm>
              <a:off x="5" y="1394975"/>
              <a:ext cx="354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52" name="Google Shape;252;p31"/>
            <p:cNvSpPr/>
            <p:nvPr/>
          </p:nvSpPr>
          <p:spPr>
            <a:xfrm>
              <a:off x="5" y="1721713"/>
              <a:ext cx="354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53" name="Google Shape;253;p31"/>
            <p:cNvSpPr/>
            <p:nvPr/>
          </p:nvSpPr>
          <p:spPr>
            <a:xfrm>
              <a:off x="434858" y="1721713"/>
              <a:ext cx="454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54" name="Google Shape;254;p31"/>
            <p:cNvSpPr/>
            <p:nvPr/>
          </p:nvSpPr>
          <p:spPr>
            <a:xfrm>
              <a:off x="934654" y="1721722"/>
              <a:ext cx="2607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55" name="Google Shape;255;p31"/>
            <p:cNvSpPr/>
            <p:nvPr/>
          </p:nvSpPr>
          <p:spPr>
            <a:xfrm>
              <a:off x="5" y="2032288"/>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56" name="Google Shape;256;p31"/>
            <p:cNvSpPr/>
            <p:nvPr/>
          </p:nvSpPr>
          <p:spPr>
            <a:xfrm>
              <a:off x="5" y="2375138"/>
              <a:ext cx="327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57" name="Google Shape;257;p31"/>
            <p:cNvSpPr/>
            <p:nvPr/>
          </p:nvSpPr>
          <p:spPr>
            <a:xfrm>
              <a:off x="5" y="268406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58" name="Google Shape;258;p31"/>
            <p:cNvSpPr/>
            <p:nvPr/>
          </p:nvSpPr>
          <p:spPr>
            <a:xfrm>
              <a:off x="5" y="2992988"/>
              <a:ext cx="32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59" name="Google Shape;259;p31"/>
            <p:cNvSpPr/>
            <p:nvPr/>
          </p:nvSpPr>
          <p:spPr>
            <a:xfrm>
              <a:off x="13726" y="377396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60" name="Google Shape;260;p31"/>
            <p:cNvSpPr/>
            <p:nvPr/>
          </p:nvSpPr>
          <p:spPr>
            <a:xfrm>
              <a:off x="434858" y="2032288"/>
              <a:ext cx="3276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61" name="Google Shape;261;p31"/>
            <p:cNvSpPr/>
            <p:nvPr/>
          </p:nvSpPr>
          <p:spPr>
            <a:xfrm>
              <a:off x="395919" y="2375138"/>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62" name="Google Shape;262;p31"/>
            <p:cNvSpPr/>
            <p:nvPr/>
          </p:nvSpPr>
          <p:spPr>
            <a:xfrm>
              <a:off x="434858" y="2684063"/>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63" name="Google Shape;263;p31"/>
            <p:cNvSpPr/>
            <p:nvPr/>
          </p:nvSpPr>
          <p:spPr>
            <a:xfrm>
              <a:off x="434858" y="300995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64" name="Google Shape;264;p31"/>
            <p:cNvSpPr/>
            <p:nvPr/>
          </p:nvSpPr>
          <p:spPr>
            <a:xfrm>
              <a:off x="434858" y="3335838"/>
              <a:ext cx="3276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65" name="Google Shape;265;p31"/>
            <p:cNvSpPr/>
            <p:nvPr/>
          </p:nvSpPr>
          <p:spPr>
            <a:xfrm>
              <a:off x="838550" y="2032296"/>
              <a:ext cx="465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66" name="Google Shape;266;p31"/>
            <p:cNvSpPr/>
            <p:nvPr/>
          </p:nvSpPr>
          <p:spPr>
            <a:xfrm>
              <a:off x="838550" y="2375145"/>
              <a:ext cx="650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67" name="Google Shape;267;p31"/>
            <p:cNvSpPr/>
            <p:nvPr/>
          </p:nvSpPr>
          <p:spPr>
            <a:xfrm>
              <a:off x="861466" y="2684069"/>
              <a:ext cx="7572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68" name="Google Shape;268;p31"/>
            <p:cNvSpPr/>
            <p:nvPr/>
          </p:nvSpPr>
          <p:spPr>
            <a:xfrm>
              <a:off x="861466" y="3028567"/>
              <a:ext cx="7572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69" name="Google Shape;269;p31"/>
            <p:cNvSpPr/>
            <p:nvPr/>
          </p:nvSpPr>
          <p:spPr>
            <a:xfrm>
              <a:off x="861466" y="3335841"/>
              <a:ext cx="7572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70" name="Google Shape;270;p31"/>
            <p:cNvSpPr/>
            <p:nvPr/>
          </p:nvSpPr>
          <p:spPr>
            <a:xfrm>
              <a:off x="1360349" y="2032296"/>
              <a:ext cx="4242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71" name="Google Shape;271;p31"/>
            <p:cNvSpPr/>
            <p:nvPr/>
          </p:nvSpPr>
          <p:spPr>
            <a:xfrm>
              <a:off x="1573836" y="2358182"/>
              <a:ext cx="4242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72" name="Google Shape;272;p31"/>
            <p:cNvSpPr/>
            <p:nvPr/>
          </p:nvSpPr>
          <p:spPr>
            <a:xfrm>
              <a:off x="1697856" y="2684094"/>
              <a:ext cx="2607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73" name="Google Shape;273;p31"/>
            <p:cNvSpPr/>
            <p:nvPr/>
          </p:nvSpPr>
          <p:spPr>
            <a:xfrm>
              <a:off x="1697856" y="3335891"/>
              <a:ext cx="2607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74" name="Google Shape;274;p31"/>
            <p:cNvSpPr/>
            <p:nvPr/>
          </p:nvSpPr>
          <p:spPr>
            <a:xfrm>
              <a:off x="13726" y="40130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75" name="Google Shape;275;p31"/>
            <p:cNvSpPr/>
            <p:nvPr/>
          </p:nvSpPr>
          <p:spPr>
            <a:xfrm>
              <a:off x="395919" y="4296538"/>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76" name="Google Shape;276;p31"/>
            <p:cNvSpPr/>
            <p:nvPr/>
          </p:nvSpPr>
          <p:spPr>
            <a:xfrm>
              <a:off x="875884" y="4296538"/>
              <a:ext cx="385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77" name="Google Shape;277;p31"/>
            <p:cNvSpPr/>
            <p:nvPr/>
          </p:nvSpPr>
          <p:spPr>
            <a:xfrm>
              <a:off x="1360349" y="4296538"/>
              <a:ext cx="4869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78" name="Google Shape;278;p31"/>
            <p:cNvSpPr/>
            <p:nvPr/>
          </p:nvSpPr>
          <p:spPr>
            <a:xfrm>
              <a:off x="1912083" y="4296538"/>
              <a:ext cx="17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79" name="Google Shape;279;p31"/>
            <p:cNvSpPr/>
            <p:nvPr/>
          </p:nvSpPr>
          <p:spPr>
            <a:xfrm>
              <a:off x="395919" y="4505063"/>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80" name="Google Shape;280;p31"/>
            <p:cNvSpPr/>
            <p:nvPr/>
          </p:nvSpPr>
          <p:spPr>
            <a:xfrm>
              <a:off x="875884" y="4505063"/>
              <a:ext cx="6135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81" name="Google Shape;281;p31"/>
            <p:cNvSpPr/>
            <p:nvPr/>
          </p:nvSpPr>
          <p:spPr>
            <a:xfrm>
              <a:off x="1570204" y="4505063"/>
              <a:ext cx="260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82" name="Google Shape;282;p31"/>
            <p:cNvSpPr/>
            <p:nvPr/>
          </p:nvSpPr>
          <p:spPr>
            <a:xfrm>
              <a:off x="894657" y="759375"/>
              <a:ext cx="465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83" name="Google Shape;283;p31"/>
            <p:cNvSpPr/>
            <p:nvPr/>
          </p:nvSpPr>
          <p:spPr>
            <a:xfrm>
              <a:off x="486348" y="106828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84" name="Google Shape;284;p31"/>
            <p:cNvSpPr/>
            <p:nvPr/>
          </p:nvSpPr>
          <p:spPr>
            <a:xfrm>
              <a:off x="1169818" y="1064149"/>
              <a:ext cx="465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85" name="Google Shape;285;p31"/>
            <p:cNvSpPr/>
            <p:nvPr/>
          </p:nvSpPr>
          <p:spPr>
            <a:xfrm>
              <a:off x="486342" y="1395013"/>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86" name="Google Shape;286;p31"/>
            <p:cNvSpPr/>
            <p:nvPr/>
          </p:nvSpPr>
          <p:spPr>
            <a:xfrm>
              <a:off x="1254423" y="1719659"/>
              <a:ext cx="2964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87" name="Google Shape;287;p31"/>
            <p:cNvSpPr/>
            <p:nvPr/>
          </p:nvSpPr>
          <p:spPr>
            <a:xfrm>
              <a:off x="1697859" y="3028567"/>
              <a:ext cx="2964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88" name="Google Shape;288;p31"/>
            <p:cNvSpPr/>
            <p:nvPr/>
          </p:nvSpPr>
          <p:spPr>
            <a:xfrm>
              <a:off x="1840717" y="2032296"/>
              <a:ext cx="240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89" name="Google Shape;289;p31"/>
            <p:cNvSpPr/>
            <p:nvPr/>
          </p:nvSpPr>
          <p:spPr>
            <a:xfrm>
              <a:off x="2037810" y="2684069"/>
              <a:ext cx="240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90" name="Google Shape;290;p31"/>
            <p:cNvSpPr/>
            <p:nvPr/>
          </p:nvSpPr>
          <p:spPr>
            <a:xfrm>
              <a:off x="1912311" y="4507125"/>
              <a:ext cx="465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91" name="Google Shape;291;p31"/>
            <p:cNvSpPr/>
            <p:nvPr/>
          </p:nvSpPr>
          <p:spPr>
            <a:xfrm>
              <a:off x="434873" y="39876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292" name="Google Shape;292;p31"/>
            <p:cNvSpPr/>
            <p:nvPr/>
          </p:nvSpPr>
          <p:spPr>
            <a:xfrm>
              <a:off x="434873" y="37575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pic>
        <p:nvPicPr>
          <p:cNvPr id="2" name="Google Shape;156;p10">
            <a:extLst>
              <a:ext uri="{FF2B5EF4-FFF2-40B4-BE49-F238E27FC236}">
                <a16:creationId xmlns:a16="http://schemas.microsoft.com/office/drawing/2014/main" id="{3DEF18F3-3F38-DB55-1F73-DCB9ADBD9388}"/>
              </a:ext>
            </a:extLst>
          </p:cNvPr>
          <p:cNvPicPr preferRelativeResize="0"/>
          <p:nvPr/>
        </p:nvPicPr>
        <p:blipFill rotWithShape="1">
          <a:blip r:embed="rId3">
            <a:alphaModFix/>
          </a:blip>
          <a:srcRect/>
          <a:stretch/>
        </p:blipFill>
        <p:spPr>
          <a:xfrm>
            <a:off x="2851973" y="800812"/>
            <a:ext cx="2533814" cy="556793"/>
          </a:xfrm>
          <a:prstGeom prst="rect">
            <a:avLst/>
          </a:prstGeom>
          <a:noFill/>
          <a:ln>
            <a:noFill/>
          </a:ln>
        </p:spPr>
      </p:pic>
      <p:sp>
        <p:nvSpPr>
          <p:cNvPr id="3" name="Google Shape;238;p31">
            <a:extLst>
              <a:ext uri="{FF2B5EF4-FFF2-40B4-BE49-F238E27FC236}">
                <a16:creationId xmlns:a16="http://schemas.microsoft.com/office/drawing/2014/main" id="{3FF6FDAB-9FD7-674D-7D8F-E2DA89C97525}"/>
              </a:ext>
            </a:extLst>
          </p:cNvPr>
          <p:cNvSpPr txBox="1">
            <a:spLocks/>
          </p:cNvSpPr>
          <p:nvPr/>
        </p:nvSpPr>
        <p:spPr>
          <a:xfrm>
            <a:off x="4715219" y="4270214"/>
            <a:ext cx="4172109" cy="48680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191919"/>
              </a:buClr>
              <a:buSzPts val="5200"/>
              <a:buFont typeface="Source Code Pro"/>
              <a:buNone/>
              <a:defRPr sz="4000" b="0" i="0" u="none" strike="noStrike" cap="none">
                <a:solidFill>
                  <a:schemeClr val="dk1"/>
                </a:solidFill>
                <a:latin typeface="Source Code Pro"/>
                <a:ea typeface="Source Code Pro"/>
                <a:cs typeface="Source Code Pro"/>
                <a:sym typeface="Source Code Pro"/>
              </a:defRPr>
            </a:lvl1pPr>
            <a:lvl2pPr marR="0" lvl="1"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2pPr>
            <a:lvl3pPr marR="0" lvl="2"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3pPr>
            <a:lvl4pPr marR="0" lvl="3"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4pPr>
            <a:lvl5pPr marR="0" lvl="4"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5pPr>
            <a:lvl6pPr marR="0" lvl="5"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6pPr>
            <a:lvl7pPr marR="0" lvl="6"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7pPr>
            <a:lvl8pPr marR="0" lvl="7"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8pPr>
            <a:lvl9pPr marR="0" lvl="8" algn="ctr" rtl="0">
              <a:lnSpc>
                <a:spcPct val="100000"/>
              </a:lnSpc>
              <a:spcBef>
                <a:spcPts val="0"/>
              </a:spcBef>
              <a:spcAft>
                <a:spcPts val="0"/>
              </a:spcAft>
              <a:buClr>
                <a:srgbClr val="191919"/>
              </a:buClr>
              <a:buSzPts val="5200"/>
              <a:buFont typeface="Source Code Pro"/>
              <a:buNone/>
              <a:defRPr sz="5200" b="0" i="0" u="none" strike="noStrike" cap="none">
                <a:solidFill>
                  <a:srgbClr val="191919"/>
                </a:solidFill>
                <a:latin typeface="Source Code Pro"/>
                <a:ea typeface="Source Code Pro"/>
                <a:cs typeface="Source Code Pro"/>
                <a:sym typeface="Source Code Pro"/>
              </a:defRPr>
            </a:lvl9pPr>
          </a:lstStyle>
          <a:p>
            <a:pPr>
              <a:lnSpc>
                <a:spcPct val="100000"/>
              </a:lnSpc>
            </a:pPr>
            <a:r>
              <a:rPr lang="id-ID" sz="1600" noProof="0" dirty="0">
                <a:solidFill>
                  <a:schemeClr val="accent4"/>
                </a:solidFill>
              </a:rPr>
              <a:t>232220009 </a:t>
            </a:r>
            <a:r>
              <a:rPr lang="id-ID" sz="1600" noProof="0" dirty="0"/>
              <a:t>Imam Muktamarulhaq</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3"/>
          <p:cNvSpPr txBox="1">
            <a:spLocks noGrp="1"/>
          </p:cNvSpPr>
          <p:nvPr>
            <p:ph type="title"/>
          </p:nvPr>
        </p:nvSpPr>
        <p:spPr>
          <a:xfrm>
            <a:off x="713225" y="445025"/>
            <a:ext cx="771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id-ID" noProof="0" dirty="0">
              <a:solidFill>
                <a:schemeClr val="accent4"/>
              </a:solidFill>
            </a:endParaRPr>
          </a:p>
        </p:txBody>
      </p:sp>
      <p:sp>
        <p:nvSpPr>
          <p:cNvPr id="307" name="Google Shape;307;p33"/>
          <p:cNvSpPr txBox="1">
            <a:spLocks noGrp="1"/>
          </p:cNvSpPr>
          <p:nvPr>
            <p:ph type="subTitle" idx="1"/>
          </p:nvPr>
        </p:nvSpPr>
        <p:spPr>
          <a:xfrm>
            <a:off x="2472000" y="1832950"/>
            <a:ext cx="6252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a:t>Berisi Latar Belakang, Rumusan M</a:t>
            </a:r>
            <a:r>
              <a:rPr lang="en-US" noProof="0" dirty="0"/>
              <a:t>a</a:t>
            </a:r>
            <a:r>
              <a:rPr lang="id-ID" noProof="0" dirty="0"/>
              <a:t>salah,</a:t>
            </a:r>
            <a:r>
              <a:rPr lang="en-US" noProof="0" dirty="0"/>
              <a:t> Batasan </a:t>
            </a:r>
            <a:r>
              <a:rPr lang="en-US" noProof="0" dirty="0" err="1"/>
              <a:t>Masalah</a:t>
            </a:r>
            <a:r>
              <a:rPr lang="en-US" noProof="0" dirty="0"/>
              <a:t>, </a:t>
            </a:r>
            <a:r>
              <a:rPr lang="id-ID" noProof="0" dirty="0"/>
              <a:t> Tujuan Penelitian, dan Manfaat Penelitian </a:t>
            </a:r>
          </a:p>
        </p:txBody>
      </p:sp>
      <p:sp>
        <p:nvSpPr>
          <p:cNvPr id="308" name="Google Shape;308;p33"/>
          <p:cNvSpPr txBox="1">
            <a:spLocks noGrp="1"/>
          </p:cNvSpPr>
          <p:nvPr>
            <p:ph type="subTitle" idx="2"/>
          </p:nvPr>
        </p:nvSpPr>
        <p:spPr>
          <a:xfrm>
            <a:off x="3175501" y="2833427"/>
            <a:ext cx="4209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a:t>Berisi Landasan Teori yang digunakan</a:t>
            </a:r>
          </a:p>
        </p:txBody>
      </p:sp>
      <p:sp>
        <p:nvSpPr>
          <p:cNvPr id="309" name="Google Shape;309;p33"/>
          <p:cNvSpPr txBox="1">
            <a:spLocks noGrp="1"/>
          </p:cNvSpPr>
          <p:nvPr>
            <p:ph type="subTitle" idx="3"/>
          </p:nvPr>
        </p:nvSpPr>
        <p:spPr>
          <a:xfrm>
            <a:off x="3504027" y="3834248"/>
            <a:ext cx="4209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d-ID" noProof="0" dirty="0"/>
              <a:t>Berisi Metodologi penelitian yang digunakan</a:t>
            </a:r>
          </a:p>
        </p:txBody>
      </p:sp>
      <p:sp>
        <p:nvSpPr>
          <p:cNvPr id="310" name="Google Shape;310;p33"/>
          <p:cNvSpPr txBox="1">
            <a:spLocks noGrp="1"/>
          </p:cNvSpPr>
          <p:nvPr>
            <p:ph type="title" idx="4"/>
          </p:nvPr>
        </p:nvSpPr>
        <p:spPr>
          <a:xfrm>
            <a:off x="1869900" y="1470525"/>
            <a:ext cx="602100" cy="391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id-ID" noProof="0" dirty="0"/>
              <a:t>01</a:t>
            </a:r>
          </a:p>
        </p:txBody>
      </p:sp>
      <p:sp>
        <p:nvSpPr>
          <p:cNvPr id="311" name="Google Shape;311;p33"/>
          <p:cNvSpPr txBox="1">
            <a:spLocks noGrp="1"/>
          </p:cNvSpPr>
          <p:nvPr>
            <p:ph type="title" idx="5"/>
          </p:nvPr>
        </p:nvSpPr>
        <p:spPr>
          <a:xfrm>
            <a:off x="2573400" y="2482425"/>
            <a:ext cx="602100" cy="391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id-ID" noProof="0" dirty="0"/>
              <a:t>02</a:t>
            </a:r>
          </a:p>
        </p:txBody>
      </p:sp>
      <p:sp>
        <p:nvSpPr>
          <p:cNvPr id="312" name="Google Shape;312;p33"/>
          <p:cNvSpPr txBox="1">
            <a:spLocks noGrp="1"/>
          </p:cNvSpPr>
          <p:nvPr>
            <p:ph type="title" idx="6"/>
          </p:nvPr>
        </p:nvSpPr>
        <p:spPr>
          <a:xfrm>
            <a:off x="2891275" y="3494325"/>
            <a:ext cx="602100" cy="328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id-ID" noProof="0" dirty="0"/>
              <a:t>03</a:t>
            </a:r>
          </a:p>
        </p:txBody>
      </p:sp>
      <p:sp>
        <p:nvSpPr>
          <p:cNvPr id="313" name="Google Shape;313;p33"/>
          <p:cNvSpPr txBox="1">
            <a:spLocks noGrp="1"/>
          </p:cNvSpPr>
          <p:nvPr>
            <p:ph type="subTitle" idx="7"/>
          </p:nvPr>
        </p:nvSpPr>
        <p:spPr>
          <a:xfrm>
            <a:off x="2472000" y="1470525"/>
            <a:ext cx="42096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noProof="0" dirty="0"/>
              <a:t>Pendahuluan</a:t>
            </a:r>
          </a:p>
        </p:txBody>
      </p:sp>
      <p:sp>
        <p:nvSpPr>
          <p:cNvPr id="314" name="Google Shape;314;p33"/>
          <p:cNvSpPr txBox="1">
            <a:spLocks noGrp="1"/>
          </p:cNvSpPr>
          <p:nvPr>
            <p:ph type="subTitle" idx="8"/>
          </p:nvPr>
        </p:nvSpPr>
        <p:spPr>
          <a:xfrm>
            <a:off x="3175500" y="2482425"/>
            <a:ext cx="42096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noProof="0" dirty="0"/>
              <a:t>Landasan Teori</a:t>
            </a:r>
          </a:p>
        </p:txBody>
      </p:sp>
      <p:sp>
        <p:nvSpPr>
          <p:cNvPr id="315" name="Google Shape;315;p33"/>
          <p:cNvSpPr txBox="1">
            <a:spLocks noGrp="1"/>
          </p:cNvSpPr>
          <p:nvPr>
            <p:ph type="subTitle" idx="9"/>
          </p:nvPr>
        </p:nvSpPr>
        <p:spPr>
          <a:xfrm>
            <a:off x="3504025" y="3494325"/>
            <a:ext cx="4209600" cy="48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d-ID" noProof="0" dirty="0"/>
              <a:t>Metodologi Penelitian</a:t>
            </a:r>
          </a:p>
        </p:txBody>
      </p:sp>
      <p:grpSp>
        <p:nvGrpSpPr>
          <p:cNvPr id="316" name="Google Shape;316;p33"/>
          <p:cNvGrpSpPr/>
          <p:nvPr/>
        </p:nvGrpSpPr>
        <p:grpSpPr>
          <a:xfrm>
            <a:off x="358925" y="1867675"/>
            <a:ext cx="2142175" cy="2736325"/>
            <a:chOff x="358925" y="1867675"/>
            <a:chExt cx="2142175" cy="2736325"/>
          </a:xfrm>
        </p:grpSpPr>
        <p:sp>
          <p:nvSpPr>
            <p:cNvPr id="317" name="Google Shape;317;p33"/>
            <p:cNvSpPr/>
            <p:nvPr/>
          </p:nvSpPr>
          <p:spPr>
            <a:xfrm>
              <a:off x="358925" y="1876250"/>
              <a:ext cx="2910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8" name="Google Shape;318;p33"/>
            <p:cNvSpPr/>
            <p:nvPr/>
          </p:nvSpPr>
          <p:spPr>
            <a:xfrm>
              <a:off x="757650" y="1867675"/>
              <a:ext cx="291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19" name="Google Shape;319;p33"/>
            <p:cNvSpPr/>
            <p:nvPr/>
          </p:nvSpPr>
          <p:spPr>
            <a:xfrm>
              <a:off x="358925" y="2188475"/>
              <a:ext cx="2910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0" name="Google Shape;320;p33"/>
            <p:cNvSpPr/>
            <p:nvPr/>
          </p:nvSpPr>
          <p:spPr>
            <a:xfrm>
              <a:off x="358925" y="2515188"/>
              <a:ext cx="2910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1" name="Google Shape;321;p33"/>
            <p:cNvSpPr/>
            <p:nvPr/>
          </p:nvSpPr>
          <p:spPr>
            <a:xfrm>
              <a:off x="358925" y="2841925"/>
              <a:ext cx="2910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2" name="Google Shape;322;p33"/>
            <p:cNvSpPr/>
            <p:nvPr/>
          </p:nvSpPr>
          <p:spPr>
            <a:xfrm>
              <a:off x="709062" y="2841925"/>
              <a:ext cx="297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3" name="Google Shape;323;p33"/>
            <p:cNvSpPr/>
            <p:nvPr/>
          </p:nvSpPr>
          <p:spPr>
            <a:xfrm>
              <a:off x="1059518" y="2841925"/>
              <a:ext cx="2328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4" name="Google Shape;324;p33"/>
            <p:cNvSpPr/>
            <p:nvPr/>
          </p:nvSpPr>
          <p:spPr>
            <a:xfrm>
              <a:off x="358925" y="3152500"/>
              <a:ext cx="2685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5" name="Google Shape;325;p33"/>
            <p:cNvSpPr/>
            <p:nvPr/>
          </p:nvSpPr>
          <p:spPr>
            <a:xfrm>
              <a:off x="358925" y="3495350"/>
              <a:ext cx="268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6" name="Google Shape;326;p33"/>
            <p:cNvSpPr/>
            <p:nvPr/>
          </p:nvSpPr>
          <p:spPr>
            <a:xfrm>
              <a:off x="358925" y="3804275"/>
              <a:ext cx="2685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7" name="Google Shape;327;p33"/>
            <p:cNvSpPr/>
            <p:nvPr/>
          </p:nvSpPr>
          <p:spPr>
            <a:xfrm>
              <a:off x="358925" y="4113200"/>
              <a:ext cx="268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8" name="Google Shape;328;p33"/>
            <p:cNvSpPr/>
            <p:nvPr/>
          </p:nvSpPr>
          <p:spPr>
            <a:xfrm>
              <a:off x="709062" y="3152500"/>
              <a:ext cx="214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29" name="Google Shape;329;p33"/>
            <p:cNvSpPr/>
            <p:nvPr/>
          </p:nvSpPr>
          <p:spPr>
            <a:xfrm>
              <a:off x="683525" y="3495350"/>
              <a:ext cx="2148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0" name="Google Shape;330;p33"/>
            <p:cNvSpPr/>
            <p:nvPr/>
          </p:nvSpPr>
          <p:spPr>
            <a:xfrm>
              <a:off x="709062" y="3804275"/>
              <a:ext cx="2148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1" name="Google Shape;331;p33"/>
            <p:cNvSpPr/>
            <p:nvPr/>
          </p:nvSpPr>
          <p:spPr>
            <a:xfrm>
              <a:off x="709062" y="4130163"/>
              <a:ext cx="214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2" name="Google Shape;332;p33"/>
            <p:cNvSpPr/>
            <p:nvPr/>
          </p:nvSpPr>
          <p:spPr>
            <a:xfrm>
              <a:off x="709062" y="4456050"/>
              <a:ext cx="2148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3" name="Google Shape;333;p33"/>
            <p:cNvSpPr/>
            <p:nvPr/>
          </p:nvSpPr>
          <p:spPr>
            <a:xfrm>
              <a:off x="973809" y="3152500"/>
              <a:ext cx="4155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4" name="Google Shape;334;p33"/>
            <p:cNvSpPr/>
            <p:nvPr/>
          </p:nvSpPr>
          <p:spPr>
            <a:xfrm>
              <a:off x="973809" y="3495350"/>
              <a:ext cx="5802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5" name="Google Shape;335;p33"/>
            <p:cNvSpPr/>
            <p:nvPr/>
          </p:nvSpPr>
          <p:spPr>
            <a:xfrm>
              <a:off x="994246" y="3804275"/>
              <a:ext cx="675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6" name="Google Shape;336;p33"/>
            <p:cNvSpPr/>
            <p:nvPr/>
          </p:nvSpPr>
          <p:spPr>
            <a:xfrm>
              <a:off x="994246" y="4148775"/>
              <a:ext cx="675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7" name="Google Shape;337;p33"/>
            <p:cNvSpPr/>
            <p:nvPr/>
          </p:nvSpPr>
          <p:spPr>
            <a:xfrm>
              <a:off x="994246" y="4456050"/>
              <a:ext cx="675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8" name="Google Shape;338;p33"/>
            <p:cNvSpPr/>
            <p:nvPr/>
          </p:nvSpPr>
          <p:spPr>
            <a:xfrm>
              <a:off x="1439171" y="3152500"/>
              <a:ext cx="3783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39" name="Google Shape;339;p33"/>
            <p:cNvSpPr/>
            <p:nvPr/>
          </p:nvSpPr>
          <p:spPr>
            <a:xfrm>
              <a:off x="1629567" y="3478388"/>
              <a:ext cx="3783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0" name="Google Shape;340;p33"/>
            <p:cNvSpPr/>
            <p:nvPr/>
          </p:nvSpPr>
          <p:spPr>
            <a:xfrm>
              <a:off x="1740173" y="3804300"/>
              <a:ext cx="2328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1" name="Google Shape;341;p33"/>
            <p:cNvSpPr/>
            <p:nvPr/>
          </p:nvSpPr>
          <p:spPr>
            <a:xfrm>
              <a:off x="1740173" y="4456100"/>
              <a:ext cx="232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2" name="Google Shape;342;p33"/>
            <p:cNvSpPr/>
            <p:nvPr/>
          </p:nvSpPr>
          <p:spPr>
            <a:xfrm>
              <a:off x="757650" y="2182588"/>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3" name="Google Shape;343;p33"/>
            <p:cNvSpPr/>
            <p:nvPr/>
          </p:nvSpPr>
          <p:spPr>
            <a:xfrm>
              <a:off x="757650" y="2512250"/>
              <a:ext cx="5802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4" name="Google Shape;344;p33"/>
            <p:cNvSpPr/>
            <p:nvPr/>
          </p:nvSpPr>
          <p:spPr>
            <a:xfrm>
              <a:off x="1445575" y="2509300"/>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5" name="Google Shape;345;p33"/>
            <p:cNvSpPr/>
            <p:nvPr/>
          </p:nvSpPr>
          <p:spPr>
            <a:xfrm>
              <a:off x="1344900" y="2841925"/>
              <a:ext cx="297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6" name="Google Shape;346;p33"/>
            <p:cNvSpPr/>
            <p:nvPr/>
          </p:nvSpPr>
          <p:spPr>
            <a:xfrm>
              <a:off x="1740250" y="4148775"/>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347" name="Google Shape;347;p33"/>
            <p:cNvSpPr/>
            <p:nvPr/>
          </p:nvSpPr>
          <p:spPr>
            <a:xfrm>
              <a:off x="2043300" y="4456050"/>
              <a:ext cx="4578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44"/>
          <p:cNvSpPr txBox="1">
            <a:spLocks noGrp="1"/>
          </p:cNvSpPr>
          <p:nvPr>
            <p:ph type="title"/>
          </p:nvPr>
        </p:nvSpPr>
        <p:spPr>
          <a:xfrm>
            <a:off x="4355250" y="1307100"/>
            <a:ext cx="40755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sz="4400" noProof="0" dirty="0"/>
              <a:t>Pendahuluan</a:t>
            </a:r>
            <a:endParaRPr lang="id-ID" sz="4400" noProof="0" dirty="0">
              <a:solidFill>
                <a:schemeClr val="accent4"/>
              </a:solidFill>
            </a:endParaRPr>
          </a:p>
        </p:txBody>
      </p:sp>
      <p:grpSp>
        <p:nvGrpSpPr>
          <p:cNvPr id="709" name="Google Shape;709;p44"/>
          <p:cNvGrpSpPr/>
          <p:nvPr/>
        </p:nvGrpSpPr>
        <p:grpSpPr>
          <a:xfrm>
            <a:off x="335642" y="696438"/>
            <a:ext cx="2932044" cy="3907563"/>
            <a:chOff x="335642" y="696438"/>
            <a:chExt cx="2932044" cy="3907563"/>
          </a:xfrm>
        </p:grpSpPr>
        <p:sp>
          <p:nvSpPr>
            <p:cNvPr id="710" name="Google Shape;710;p44"/>
            <p:cNvSpPr/>
            <p:nvPr/>
          </p:nvSpPr>
          <p:spPr>
            <a:xfrm>
              <a:off x="335642" y="70501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1" name="Google Shape;711;p44"/>
            <p:cNvSpPr/>
            <p:nvPr/>
          </p:nvSpPr>
          <p:spPr>
            <a:xfrm>
              <a:off x="821967" y="696438"/>
              <a:ext cx="354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2" name="Google Shape;712;p44"/>
            <p:cNvSpPr/>
            <p:nvPr/>
          </p:nvSpPr>
          <p:spPr>
            <a:xfrm>
              <a:off x="335642" y="101723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3" name="Google Shape;713;p44"/>
            <p:cNvSpPr/>
            <p:nvPr/>
          </p:nvSpPr>
          <p:spPr>
            <a:xfrm>
              <a:off x="335642" y="1343950"/>
              <a:ext cx="354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4" name="Google Shape;714;p44"/>
            <p:cNvSpPr/>
            <p:nvPr/>
          </p:nvSpPr>
          <p:spPr>
            <a:xfrm>
              <a:off x="335642" y="1670688"/>
              <a:ext cx="354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5" name="Google Shape;715;p44"/>
            <p:cNvSpPr/>
            <p:nvPr/>
          </p:nvSpPr>
          <p:spPr>
            <a:xfrm>
              <a:off x="770496" y="1670688"/>
              <a:ext cx="454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6" name="Google Shape;716;p44"/>
            <p:cNvSpPr/>
            <p:nvPr/>
          </p:nvSpPr>
          <p:spPr>
            <a:xfrm>
              <a:off x="1304877" y="167068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7" name="Google Shape;717;p44"/>
            <p:cNvSpPr/>
            <p:nvPr/>
          </p:nvSpPr>
          <p:spPr>
            <a:xfrm>
              <a:off x="335642" y="1981263"/>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8" name="Google Shape;718;p44"/>
            <p:cNvSpPr/>
            <p:nvPr/>
          </p:nvSpPr>
          <p:spPr>
            <a:xfrm>
              <a:off x="335642" y="2324113"/>
              <a:ext cx="327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9" name="Google Shape;719;p44"/>
            <p:cNvSpPr/>
            <p:nvPr/>
          </p:nvSpPr>
          <p:spPr>
            <a:xfrm>
              <a:off x="335642" y="26330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0" name="Google Shape;720;p44"/>
            <p:cNvSpPr/>
            <p:nvPr/>
          </p:nvSpPr>
          <p:spPr>
            <a:xfrm>
              <a:off x="335642" y="2941963"/>
              <a:ext cx="32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1" name="Google Shape;721;p44"/>
            <p:cNvSpPr/>
            <p:nvPr/>
          </p:nvSpPr>
          <p:spPr>
            <a:xfrm>
              <a:off x="349364" y="37229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2" name="Google Shape;722;p44"/>
            <p:cNvSpPr/>
            <p:nvPr/>
          </p:nvSpPr>
          <p:spPr>
            <a:xfrm>
              <a:off x="770496" y="1981263"/>
              <a:ext cx="3276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3" name="Google Shape;723;p44"/>
            <p:cNvSpPr/>
            <p:nvPr/>
          </p:nvSpPr>
          <p:spPr>
            <a:xfrm>
              <a:off x="731557" y="232411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4" name="Google Shape;724;p44"/>
            <p:cNvSpPr/>
            <p:nvPr/>
          </p:nvSpPr>
          <p:spPr>
            <a:xfrm>
              <a:off x="770496" y="2633038"/>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5" name="Google Shape;725;p44"/>
            <p:cNvSpPr/>
            <p:nvPr/>
          </p:nvSpPr>
          <p:spPr>
            <a:xfrm>
              <a:off x="770496" y="2958925"/>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6" name="Google Shape;726;p44"/>
            <p:cNvSpPr/>
            <p:nvPr/>
          </p:nvSpPr>
          <p:spPr>
            <a:xfrm>
              <a:off x="770496" y="3284813"/>
              <a:ext cx="3276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7" name="Google Shape;727;p44"/>
            <p:cNvSpPr/>
            <p:nvPr/>
          </p:nvSpPr>
          <p:spPr>
            <a:xfrm>
              <a:off x="1174186" y="1981263"/>
              <a:ext cx="6333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8" name="Google Shape;728;p44"/>
            <p:cNvSpPr/>
            <p:nvPr/>
          </p:nvSpPr>
          <p:spPr>
            <a:xfrm>
              <a:off x="1174186" y="2324113"/>
              <a:ext cx="884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9" name="Google Shape;729;p44"/>
            <p:cNvSpPr/>
            <p:nvPr/>
          </p:nvSpPr>
          <p:spPr>
            <a:xfrm>
              <a:off x="1205349" y="2633038"/>
              <a:ext cx="1029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0" name="Google Shape;730;p44"/>
            <p:cNvSpPr/>
            <p:nvPr/>
          </p:nvSpPr>
          <p:spPr>
            <a:xfrm>
              <a:off x="1205349" y="2977538"/>
              <a:ext cx="1029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1" name="Google Shape;731;p44"/>
            <p:cNvSpPr/>
            <p:nvPr/>
          </p:nvSpPr>
          <p:spPr>
            <a:xfrm>
              <a:off x="1205349" y="3284813"/>
              <a:ext cx="1029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2" name="Google Shape;732;p44"/>
            <p:cNvSpPr/>
            <p:nvPr/>
          </p:nvSpPr>
          <p:spPr>
            <a:xfrm>
              <a:off x="1883777" y="1981263"/>
              <a:ext cx="576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3" name="Google Shape;733;p44"/>
            <p:cNvSpPr/>
            <p:nvPr/>
          </p:nvSpPr>
          <p:spPr>
            <a:xfrm>
              <a:off x="2174096" y="2307150"/>
              <a:ext cx="576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4" name="Google Shape;734;p44"/>
            <p:cNvSpPr/>
            <p:nvPr/>
          </p:nvSpPr>
          <p:spPr>
            <a:xfrm>
              <a:off x="2342750" y="263306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5" name="Google Shape;735;p44"/>
            <p:cNvSpPr/>
            <p:nvPr/>
          </p:nvSpPr>
          <p:spPr>
            <a:xfrm>
              <a:off x="2342750" y="3284863"/>
              <a:ext cx="3549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6" name="Google Shape;736;p44"/>
            <p:cNvSpPr/>
            <p:nvPr/>
          </p:nvSpPr>
          <p:spPr>
            <a:xfrm>
              <a:off x="349364" y="396201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7" name="Google Shape;737;p44"/>
            <p:cNvSpPr/>
            <p:nvPr/>
          </p:nvSpPr>
          <p:spPr>
            <a:xfrm>
              <a:off x="731557" y="424551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8" name="Google Shape;738;p44"/>
            <p:cNvSpPr/>
            <p:nvPr/>
          </p:nvSpPr>
          <p:spPr>
            <a:xfrm>
              <a:off x="1224956" y="4245513"/>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9" name="Google Shape;739;p44"/>
            <p:cNvSpPr/>
            <p:nvPr/>
          </p:nvSpPr>
          <p:spPr>
            <a:xfrm>
              <a:off x="1883777" y="4245513"/>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0" name="Google Shape;740;p44"/>
            <p:cNvSpPr/>
            <p:nvPr/>
          </p:nvSpPr>
          <p:spPr>
            <a:xfrm>
              <a:off x="2634075" y="4245513"/>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1" name="Google Shape;741;p44"/>
            <p:cNvSpPr/>
            <p:nvPr/>
          </p:nvSpPr>
          <p:spPr>
            <a:xfrm>
              <a:off x="731557" y="4454038"/>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2" name="Google Shape;742;p44"/>
            <p:cNvSpPr/>
            <p:nvPr/>
          </p:nvSpPr>
          <p:spPr>
            <a:xfrm>
              <a:off x="1224956" y="4454038"/>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3" name="Google Shape;743;p44"/>
            <p:cNvSpPr/>
            <p:nvPr/>
          </p:nvSpPr>
          <p:spPr>
            <a:xfrm>
              <a:off x="2169156" y="4454038"/>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4" name="Google Shape;744;p44"/>
            <p:cNvSpPr/>
            <p:nvPr/>
          </p:nvSpPr>
          <p:spPr>
            <a:xfrm>
              <a:off x="1250486" y="7083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5" name="Google Shape;745;p44"/>
            <p:cNvSpPr/>
            <p:nvPr/>
          </p:nvSpPr>
          <p:spPr>
            <a:xfrm>
              <a:off x="821986" y="10172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6" name="Google Shape;746;p44"/>
            <p:cNvSpPr/>
            <p:nvPr/>
          </p:nvSpPr>
          <p:spPr>
            <a:xfrm>
              <a:off x="1555286" y="10131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7" name="Google Shape;747;p44"/>
            <p:cNvSpPr/>
            <p:nvPr/>
          </p:nvSpPr>
          <p:spPr>
            <a:xfrm>
              <a:off x="821979" y="134398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8" name="Google Shape;748;p44"/>
            <p:cNvSpPr/>
            <p:nvPr/>
          </p:nvSpPr>
          <p:spPr>
            <a:xfrm>
              <a:off x="1739729" y="1668625"/>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9" name="Google Shape;749;p44"/>
            <p:cNvSpPr/>
            <p:nvPr/>
          </p:nvSpPr>
          <p:spPr>
            <a:xfrm>
              <a:off x="2342754" y="297753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0" name="Google Shape;750;p44"/>
            <p:cNvSpPr/>
            <p:nvPr/>
          </p:nvSpPr>
          <p:spPr>
            <a:xfrm>
              <a:off x="2537025" y="1981263"/>
              <a:ext cx="327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1" name="Google Shape;751;p44"/>
            <p:cNvSpPr/>
            <p:nvPr/>
          </p:nvSpPr>
          <p:spPr>
            <a:xfrm>
              <a:off x="2805050" y="2633038"/>
              <a:ext cx="327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2" name="Google Shape;752;p44"/>
            <p:cNvSpPr/>
            <p:nvPr/>
          </p:nvSpPr>
          <p:spPr>
            <a:xfrm>
              <a:off x="2634386" y="44561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3" name="Google Shape;753;p44"/>
            <p:cNvSpPr/>
            <p:nvPr/>
          </p:nvSpPr>
          <p:spPr>
            <a:xfrm>
              <a:off x="770511" y="393657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4" name="Google Shape;754;p44"/>
            <p:cNvSpPr/>
            <p:nvPr/>
          </p:nvSpPr>
          <p:spPr>
            <a:xfrm>
              <a:off x="770511" y="370647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755" name="Google Shape;755;p44"/>
          <p:cNvSpPr txBox="1"/>
          <p:nvPr/>
        </p:nvSpPr>
        <p:spPr>
          <a:xfrm>
            <a:off x="4014788" y="24535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2"/>
                </a:solidFill>
                <a:latin typeface="Comfortaa"/>
                <a:ea typeface="Comfortaa"/>
                <a:cs typeface="Comfortaa"/>
                <a:sym typeface="Comfortaa"/>
              </a:rPr>
              <a:t>{</a:t>
            </a:r>
          </a:p>
        </p:txBody>
      </p:sp>
      <p:sp>
        <p:nvSpPr>
          <p:cNvPr id="756" name="Google Shape;756;p44"/>
          <p:cNvSpPr txBox="1"/>
          <p:nvPr/>
        </p:nvSpPr>
        <p:spPr>
          <a:xfrm>
            <a:off x="7313175" y="3836400"/>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757" name="Google Shape;757;p44"/>
          <p:cNvSpPr txBox="1"/>
          <p:nvPr/>
        </p:nvSpPr>
        <p:spPr>
          <a:xfrm>
            <a:off x="7778275" y="4049400"/>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
        <p:nvSpPr>
          <p:cNvPr id="758" name="Google Shape;758;p44"/>
          <p:cNvSpPr txBox="1"/>
          <p:nvPr/>
        </p:nvSpPr>
        <p:spPr>
          <a:xfrm>
            <a:off x="4459138" y="460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5"/>
                </a:solidFill>
                <a:latin typeface="Fira Code"/>
                <a:ea typeface="Fira Code"/>
                <a:cs typeface="Fira Code"/>
                <a:sym typeface="Fira Code"/>
              </a:rPr>
              <a:t>..</a:t>
            </a:r>
            <a:endParaRPr lang="id-ID" sz="5000" noProof="0" dirty="0">
              <a:solidFill>
                <a:schemeClr val="accent5"/>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0">
          <a:extLst>
            <a:ext uri="{FF2B5EF4-FFF2-40B4-BE49-F238E27FC236}">
              <a16:creationId xmlns:a16="http://schemas.microsoft.com/office/drawing/2014/main" id="{7F09EC29-B6B8-E4B8-02A4-395079914BE3}"/>
            </a:ext>
          </a:extLst>
        </p:cNvPr>
        <p:cNvGrpSpPr/>
        <p:nvPr/>
      </p:nvGrpSpPr>
      <p:grpSpPr>
        <a:xfrm>
          <a:off x="0" y="0"/>
          <a:ext cx="0" cy="0"/>
          <a:chOff x="0" y="0"/>
          <a:chExt cx="0" cy="0"/>
        </a:xfrm>
      </p:grpSpPr>
      <p:sp>
        <p:nvSpPr>
          <p:cNvPr id="431" name="Google Shape;431;p36">
            <a:extLst>
              <a:ext uri="{FF2B5EF4-FFF2-40B4-BE49-F238E27FC236}">
                <a16:creationId xmlns:a16="http://schemas.microsoft.com/office/drawing/2014/main" id="{024827DA-E2FF-6FFB-4978-2810A6940C51}"/>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Latar </a:t>
            </a:r>
            <a:r>
              <a:rPr lang="id-ID" noProof="0" dirty="0">
                <a:solidFill>
                  <a:schemeClr val="accent5">
                    <a:lumMod val="90000"/>
                  </a:schemeClr>
                </a:solidFill>
              </a:rPr>
              <a:t>belakang</a:t>
            </a:r>
          </a:p>
        </p:txBody>
      </p:sp>
      <p:sp>
        <p:nvSpPr>
          <p:cNvPr id="433" name="Google Shape;433;p36">
            <a:extLst>
              <a:ext uri="{FF2B5EF4-FFF2-40B4-BE49-F238E27FC236}">
                <a16:creationId xmlns:a16="http://schemas.microsoft.com/office/drawing/2014/main" id="{71838E3F-4199-A96F-5A14-F4B059CACAFD}"/>
              </a:ext>
            </a:extLst>
          </p:cNvPr>
          <p:cNvSpPr txBox="1">
            <a:spLocks noGrp="1"/>
          </p:cNvSpPr>
          <p:nvPr>
            <p:ph type="subTitle" idx="2"/>
          </p:nvPr>
        </p:nvSpPr>
        <p:spPr>
          <a:xfrm>
            <a:off x="643999" y="1443125"/>
            <a:ext cx="7905089" cy="2433000"/>
          </a:xfrm>
          <a:prstGeom prst="rect">
            <a:avLst/>
          </a:prstGeom>
        </p:spPr>
        <p:txBody>
          <a:bodyPr spcFirstLastPara="1" wrap="square" lIns="91425" tIns="91425" rIns="91425" bIns="91425" anchor="t" anchorCtr="0">
            <a:noAutofit/>
          </a:bodyPr>
          <a:lstStyle/>
          <a:p>
            <a:pPr algn="just"/>
            <a:r>
              <a:rPr lang="en-US" sz="2000" dirty="0"/>
              <a:t>		</a:t>
            </a:r>
            <a:r>
              <a:rPr lang="id-ID" sz="2000" dirty="0"/>
              <a:t>Pada abad sekarang ini merupakan era perkembangan ilmu pengetahuan dan teknologi. Perkembangan ini berdampak pada kehidupan masyarakat, karena pada dasarnya kehidupan dalam semua aspek tidak lepas dari digerakkan oleh pengetahuan dan teknologi. </a:t>
            </a:r>
            <a:endParaRPr lang="id-ID" sz="2400" noProof="0" dirty="0"/>
          </a:p>
        </p:txBody>
      </p:sp>
      <p:grpSp>
        <p:nvGrpSpPr>
          <p:cNvPr id="434" name="Google Shape;434;p36">
            <a:extLst>
              <a:ext uri="{FF2B5EF4-FFF2-40B4-BE49-F238E27FC236}">
                <a16:creationId xmlns:a16="http://schemas.microsoft.com/office/drawing/2014/main" id="{FA1292C7-C90C-1C23-2D93-038376EE5CD8}"/>
              </a:ext>
            </a:extLst>
          </p:cNvPr>
          <p:cNvGrpSpPr/>
          <p:nvPr/>
        </p:nvGrpSpPr>
        <p:grpSpPr>
          <a:xfrm>
            <a:off x="350039" y="3944000"/>
            <a:ext cx="2536147" cy="887325"/>
            <a:chOff x="880714" y="3731738"/>
            <a:chExt cx="2536147" cy="887325"/>
          </a:xfrm>
        </p:grpSpPr>
        <p:sp>
          <p:nvSpPr>
            <p:cNvPr id="435" name="Google Shape;435;p36">
              <a:extLst>
                <a:ext uri="{FF2B5EF4-FFF2-40B4-BE49-F238E27FC236}">
                  <a16:creationId xmlns:a16="http://schemas.microsoft.com/office/drawing/2014/main" id="{7A7BE3AA-CCE1-518D-6864-EC9CDE19F3B2}"/>
                </a:ext>
              </a:extLst>
            </p:cNvPr>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a:extLst>
                <a:ext uri="{FF2B5EF4-FFF2-40B4-BE49-F238E27FC236}">
                  <a16:creationId xmlns:a16="http://schemas.microsoft.com/office/drawing/2014/main" id="{4045D5CA-CC42-EA4E-AAE4-5E5CA19B00F5}"/>
                </a:ext>
              </a:extLst>
            </p:cNvPr>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a:extLst>
                <a:ext uri="{FF2B5EF4-FFF2-40B4-BE49-F238E27FC236}">
                  <a16:creationId xmlns:a16="http://schemas.microsoft.com/office/drawing/2014/main" id="{BE17DE11-0B78-BCB4-5A47-3E82610869BC}"/>
                </a:ext>
              </a:extLst>
            </p:cNvPr>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a:extLst>
                <a:ext uri="{FF2B5EF4-FFF2-40B4-BE49-F238E27FC236}">
                  <a16:creationId xmlns:a16="http://schemas.microsoft.com/office/drawing/2014/main" id="{F2603DAA-0DA2-DC97-F097-6018C4FCA203}"/>
                </a:ext>
              </a:extLst>
            </p:cNvPr>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a:extLst>
                <a:ext uri="{FF2B5EF4-FFF2-40B4-BE49-F238E27FC236}">
                  <a16:creationId xmlns:a16="http://schemas.microsoft.com/office/drawing/2014/main" id="{78162E89-18FD-DF13-F6F6-D48A2A5AABF8}"/>
                </a:ext>
              </a:extLst>
            </p:cNvPr>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a:extLst>
                <a:ext uri="{FF2B5EF4-FFF2-40B4-BE49-F238E27FC236}">
                  <a16:creationId xmlns:a16="http://schemas.microsoft.com/office/drawing/2014/main" id="{75BDFD37-08E1-A3AC-FA3D-FC0EFD96B144}"/>
                </a:ext>
              </a:extLst>
            </p:cNvPr>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a:extLst>
                <a:ext uri="{FF2B5EF4-FFF2-40B4-BE49-F238E27FC236}">
                  <a16:creationId xmlns:a16="http://schemas.microsoft.com/office/drawing/2014/main" id="{FF5A775F-B028-10E7-00A0-5EA05984571A}"/>
                </a:ext>
              </a:extLst>
            </p:cNvPr>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a:extLst>
                <a:ext uri="{FF2B5EF4-FFF2-40B4-BE49-F238E27FC236}">
                  <a16:creationId xmlns:a16="http://schemas.microsoft.com/office/drawing/2014/main" id="{5FBE312E-4A3E-9F78-847D-90291657F720}"/>
                </a:ext>
              </a:extLst>
            </p:cNvPr>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a:extLst>
                <a:ext uri="{FF2B5EF4-FFF2-40B4-BE49-F238E27FC236}">
                  <a16:creationId xmlns:a16="http://schemas.microsoft.com/office/drawing/2014/main" id="{3BF49599-D624-37E1-FB8B-26586ACB2554}"/>
                </a:ext>
              </a:extLst>
            </p:cNvPr>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a:extLst>
                <a:ext uri="{FF2B5EF4-FFF2-40B4-BE49-F238E27FC236}">
                  <a16:creationId xmlns:a16="http://schemas.microsoft.com/office/drawing/2014/main" id="{D6E34956-1AA0-EB73-DCEC-1353C93E6B4A}"/>
                </a:ext>
              </a:extLst>
            </p:cNvPr>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a:extLst>
                <a:ext uri="{FF2B5EF4-FFF2-40B4-BE49-F238E27FC236}">
                  <a16:creationId xmlns:a16="http://schemas.microsoft.com/office/drawing/2014/main" id="{7312C915-4F2C-FDB9-C46D-A703E327C400}"/>
                </a:ext>
              </a:extLst>
            </p:cNvPr>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a:extLst>
                <a:ext uri="{FF2B5EF4-FFF2-40B4-BE49-F238E27FC236}">
                  <a16:creationId xmlns:a16="http://schemas.microsoft.com/office/drawing/2014/main" id="{67C077AD-CB25-8A2F-126B-63836B6F2664}"/>
                </a:ext>
              </a:extLst>
            </p:cNvPr>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a:extLst>
                <a:ext uri="{FF2B5EF4-FFF2-40B4-BE49-F238E27FC236}">
                  <a16:creationId xmlns:a16="http://schemas.microsoft.com/office/drawing/2014/main" id="{3B3B8238-585D-FD9E-F3B9-AA98466D30AA}"/>
                </a:ext>
              </a:extLst>
            </p:cNvPr>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a:extLst>
              <a:ext uri="{FF2B5EF4-FFF2-40B4-BE49-F238E27FC236}">
                <a16:creationId xmlns:a16="http://schemas.microsoft.com/office/drawing/2014/main" id="{0D65817E-BDA2-FC54-D0F1-72FBBAAAD920}"/>
              </a:ext>
            </a:extLst>
          </p:cNvPr>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a:extLst>
              <a:ext uri="{FF2B5EF4-FFF2-40B4-BE49-F238E27FC236}">
                <a16:creationId xmlns:a16="http://schemas.microsoft.com/office/drawing/2014/main" id="{16B7124A-3356-B7C2-DFA1-F15CC3D7B836}"/>
              </a:ext>
            </a:extLst>
          </p:cNvPr>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Tree>
    <p:extLst>
      <p:ext uri="{BB962C8B-B14F-4D97-AF65-F5344CB8AC3E}">
        <p14:creationId xmlns:p14="http://schemas.microsoft.com/office/powerpoint/2010/main" val="2742367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Latar </a:t>
            </a:r>
            <a:r>
              <a:rPr lang="id-ID" noProof="0" dirty="0">
                <a:solidFill>
                  <a:schemeClr val="accent5">
                    <a:lumMod val="90000"/>
                  </a:schemeClr>
                </a:solidFill>
              </a:rPr>
              <a:t>belakang</a:t>
            </a:r>
          </a:p>
        </p:txBody>
      </p:sp>
      <p:sp>
        <p:nvSpPr>
          <p:cNvPr id="433" name="Google Shape;433;p36"/>
          <p:cNvSpPr txBox="1">
            <a:spLocks noGrp="1"/>
          </p:cNvSpPr>
          <p:nvPr>
            <p:ph type="subTitle" idx="2"/>
          </p:nvPr>
        </p:nvSpPr>
        <p:spPr>
          <a:xfrm>
            <a:off x="643999" y="1443125"/>
            <a:ext cx="7905089" cy="2433000"/>
          </a:xfrm>
          <a:prstGeom prst="rect">
            <a:avLst/>
          </a:prstGeom>
        </p:spPr>
        <p:txBody>
          <a:bodyPr spcFirstLastPara="1" wrap="square" lIns="91425" tIns="91425" rIns="91425" bIns="91425" anchor="t" anchorCtr="0">
            <a:noAutofit/>
          </a:bodyPr>
          <a:lstStyle/>
          <a:p>
            <a:pPr algn="just"/>
            <a:r>
              <a:rPr lang="en-US" sz="1600" dirty="0"/>
              <a:t>	</a:t>
            </a:r>
            <a:r>
              <a:rPr lang="id-ID" sz="1600" noProof="0" dirty="0"/>
              <a:t>	Madrasah sebagai lembaga pendidikan dituntut untuk mampu memanfaatkan teknologi,  khususnya jaringan internet, guna menunjang proses pembelajaran dan administrasi. Ketersediaan jaringan yang stabil dan terkelola dengan baik menjadi kebutuhan utama, terutama dalam kegiatan penting seperti </a:t>
            </a:r>
            <a:r>
              <a:rPr lang="id-ID" sz="1600" noProof="0" dirty="0" err="1"/>
              <a:t>Asesmen</a:t>
            </a:r>
            <a:r>
              <a:rPr lang="id-ID" sz="1600" noProof="0" dirty="0"/>
              <a:t> Nasional Berbasis Komputer</a:t>
            </a:r>
            <a:r>
              <a:rPr lang="id-ID" sz="1600" i="1" noProof="0" dirty="0"/>
              <a:t> </a:t>
            </a:r>
            <a:r>
              <a:rPr lang="id-ID" sz="1600" noProof="0" dirty="0"/>
              <a:t>(ANBK) yang memerlukan koneksi internet yang lancar.</a:t>
            </a:r>
          </a:p>
        </p:txBody>
      </p:sp>
      <p:grpSp>
        <p:nvGrpSpPr>
          <p:cNvPr id="434" name="Google Shape;434;p36"/>
          <p:cNvGrpSpPr/>
          <p:nvPr/>
        </p:nvGrpSpPr>
        <p:grpSpPr>
          <a:xfrm>
            <a:off x="350039" y="3944000"/>
            <a:ext cx="2536147" cy="887325"/>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Tree>
    <p:extLst>
      <p:ext uri="{BB962C8B-B14F-4D97-AF65-F5344CB8AC3E}">
        <p14:creationId xmlns:p14="http://schemas.microsoft.com/office/powerpoint/2010/main" val="40818135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0">
          <a:extLst>
            <a:ext uri="{FF2B5EF4-FFF2-40B4-BE49-F238E27FC236}">
              <a16:creationId xmlns:a16="http://schemas.microsoft.com/office/drawing/2014/main" id="{F17F8266-12A1-C533-49BD-CC87E4BCADE2}"/>
            </a:ext>
          </a:extLst>
        </p:cNvPr>
        <p:cNvGrpSpPr/>
        <p:nvPr/>
      </p:nvGrpSpPr>
      <p:grpSpPr>
        <a:xfrm>
          <a:off x="0" y="0"/>
          <a:ext cx="0" cy="0"/>
          <a:chOff x="0" y="0"/>
          <a:chExt cx="0" cy="0"/>
        </a:xfrm>
      </p:grpSpPr>
      <p:sp>
        <p:nvSpPr>
          <p:cNvPr id="431" name="Google Shape;431;p36">
            <a:extLst>
              <a:ext uri="{FF2B5EF4-FFF2-40B4-BE49-F238E27FC236}">
                <a16:creationId xmlns:a16="http://schemas.microsoft.com/office/drawing/2014/main" id="{2315FF59-A065-0416-E7C4-328214ACCC5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Latar </a:t>
            </a:r>
            <a:r>
              <a:rPr lang="id-ID" noProof="0" dirty="0">
                <a:solidFill>
                  <a:schemeClr val="accent5">
                    <a:lumMod val="90000"/>
                  </a:schemeClr>
                </a:solidFill>
              </a:rPr>
              <a:t>belakang</a:t>
            </a:r>
          </a:p>
        </p:txBody>
      </p:sp>
      <p:sp>
        <p:nvSpPr>
          <p:cNvPr id="433" name="Google Shape;433;p36">
            <a:extLst>
              <a:ext uri="{FF2B5EF4-FFF2-40B4-BE49-F238E27FC236}">
                <a16:creationId xmlns:a16="http://schemas.microsoft.com/office/drawing/2014/main" id="{A77C4ACF-C6E7-8CBD-EA13-ABF992FE7352}"/>
              </a:ext>
            </a:extLst>
          </p:cNvPr>
          <p:cNvSpPr txBox="1">
            <a:spLocks noGrp="1"/>
          </p:cNvSpPr>
          <p:nvPr>
            <p:ph type="subTitle" idx="2"/>
          </p:nvPr>
        </p:nvSpPr>
        <p:spPr>
          <a:xfrm>
            <a:off x="256309" y="1297506"/>
            <a:ext cx="8589818" cy="2433000"/>
          </a:xfrm>
          <a:prstGeom prst="rect">
            <a:avLst/>
          </a:prstGeom>
        </p:spPr>
        <p:txBody>
          <a:bodyPr spcFirstLastPara="1" wrap="square" lIns="91425" tIns="91425" rIns="91425" bIns="91425" anchor="t" anchorCtr="0">
            <a:noAutofit/>
          </a:bodyPr>
          <a:lstStyle/>
          <a:p>
            <a:pPr algn="just"/>
            <a:r>
              <a:rPr lang="id-ID" noProof="0" dirty="0"/>
              <a:t>		Hasil observasi di MIN 3 menunjukkan bahwa sistem jaringan internet yang ada masih menggunakan satu kesatuan jaringan tanpa segmentasi. Seluruh perangkat, baik guru maupun siswa yang memerlukan akses pada saat tertentu, terhubung dalam satu jalur yang sama. Kondisi ini sering menimbulkan masalah berupa kelebihan beban (</a:t>
            </a:r>
            <a:r>
              <a:rPr lang="id-ID" i="1" noProof="0" dirty="0" err="1"/>
              <a:t>overload</a:t>
            </a:r>
            <a:r>
              <a:rPr lang="id-ID" noProof="0" dirty="0"/>
              <a:t>) akibat terlalu banyak perangkat yang tersambung secara bersamaan. Tidak jarang ditemukan banyak pengguna yang sekadar menghubungkan perangkatnya ke jaringan </a:t>
            </a:r>
            <a:r>
              <a:rPr lang="id-ID" i="1" noProof="0" dirty="0" err="1"/>
              <a:t>Wi-Fi</a:t>
            </a:r>
            <a:r>
              <a:rPr lang="id-ID" noProof="0" dirty="0"/>
              <a:t> tanpa benar-benar memanfaatkannya, sehingga </a:t>
            </a:r>
            <a:r>
              <a:rPr lang="id-ID" i="1" noProof="0" dirty="0" err="1"/>
              <a:t>bandwidth</a:t>
            </a:r>
            <a:r>
              <a:rPr lang="id-ID" noProof="0" dirty="0"/>
              <a:t> terbagi dan kinerja jaringan menurun secara signifikan.</a:t>
            </a:r>
          </a:p>
        </p:txBody>
      </p:sp>
      <p:grpSp>
        <p:nvGrpSpPr>
          <p:cNvPr id="434" name="Google Shape;434;p36">
            <a:extLst>
              <a:ext uri="{FF2B5EF4-FFF2-40B4-BE49-F238E27FC236}">
                <a16:creationId xmlns:a16="http://schemas.microsoft.com/office/drawing/2014/main" id="{3812C072-7B16-A691-000A-DF6C4AD06AB0}"/>
              </a:ext>
            </a:extLst>
          </p:cNvPr>
          <p:cNvGrpSpPr/>
          <p:nvPr/>
        </p:nvGrpSpPr>
        <p:grpSpPr>
          <a:xfrm>
            <a:off x="350039" y="3944000"/>
            <a:ext cx="2536147" cy="887325"/>
            <a:chOff x="880714" y="3731738"/>
            <a:chExt cx="2536147" cy="887325"/>
          </a:xfrm>
        </p:grpSpPr>
        <p:sp>
          <p:nvSpPr>
            <p:cNvPr id="435" name="Google Shape;435;p36">
              <a:extLst>
                <a:ext uri="{FF2B5EF4-FFF2-40B4-BE49-F238E27FC236}">
                  <a16:creationId xmlns:a16="http://schemas.microsoft.com/office/drawing/2014/main" id="{7DEF4D0E-F953-D602-BA15-BA178B897A27}"/>
                </a:ext>
              </a:extLst>
            </p:cNvPr>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a:extLst>
                <a:ext uri="{FF2B5EF4-FFF2-40B4-BE49-F238E27FC236}">
                  <a16:creationId xmlns:a16="http://schemas.microsoft.com/office/drawing/2014/main" id="{DB2553F3-E7A9-CEAF-8F90-01228A27C45D}"/>
                </a:ext>
              </a:extLst>
            </p:cNvPr>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a:extLst>
                <a:ext uri="{FF2B5EF4-FFF2-40B4-BE49-F238E27FC236}">
                  <a16:creationId xmlns:a16="http://schemas.microsoft.com/office/drawing/2014/main" id="{A7781993-3011-1F9C-411C-2FBE71F990E6}"/>
                </a:ext>
              </a:extLst>
            </p:cNvPr>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a:extLst>
                <a:ext uri="{FF2B5EF4-FFF2-40B4-BE49-F238E27FC236}">
                  <a16:creationId xmlns:a16="http://schemas.microsoft.com/office/drawing/2014/main" id="{E9BD99B7-149A-4464-35BE-677207AAA4C3}"/>
                </a:ext>
              </a:extLst>
            </p:cNvPr>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a:extLst>
                <a:ext uri="{FF2B5EF4-FFF2-40B4-BE49-F238E27FC236}">
                  <a16:creationId xmlns:a16="http://schemas.microsoft.com/office/drawing/2014/main" id="{678F0973-C045-4A40-1B6F-FB5C2269AFA7}"/>
                </a:ext>
              </a:extLst>
            </p:cNvPr>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a:extLst>
                <a:ext uri="{FF2B5EF4-FFF2-40B4-BE49-F238E27FC236}">
                  <a16:creationId xmlns:a16="http://schemas.microsoft.com/office/drawing/2014/main" id="{1CFE0C15-524F-E932-8E43-781DDABED38C}"/>
                </a:ext>
              </a:extLst>
            </p:cNvPr>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a:extLst>
                <a:ext uri="{FF2B5EF4-FFF2-40B4-BE49-F238E27FC236}">
                  <a16:creationId xmlns:a16="http://schemas.microsoft.com/office/drawing/2014/main" id="{5864B207-9A75-D066-6481-7CE77580A90E}"/>
                </a:ext>
              </a:extLst>
            </p:cNvPr>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a:extLst>
                <a:ext uri="{FF2B5EF4-FFF2-40B4-BE49-F238E27FC236}">
                  <a16:creationId xmlns:a16="http://schemas.microsoft.com/office/drawing/2014/main" id="{7BEA4F8F-28E8-A415-B9A2-8C7D3454F50A}"/>
                </a:ext>
              </a:extLst>
            </p:cNvPr>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a:extLst>
                <a:ext uri="{FF2B5EF4-FFF2-40B4-BE49-F238E27FC236}">
                  <a16:creationId xmlns:a16="http://schemas.microsoft.com/office/drawing/2014/main" id="{F44E77CF-B4BA-C3CB-80D9-1B1CEB7257CB}"/>
                </a:ext>
              </a:extLst>
            </p:cNvPr>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a:extLst>
                <a:ext uri="{FF2B5EF4-FFF2-40B4-BE49-F238E27FC236}">
                  <a16:creationId xmlns:a16="http://schemas.microsoft.com/office/drawing/2014/main" id="{69ED38D2-FB53-9D57-011A-77C813B73DEB}"/>
                </a:ext>
              </a:extLst>
            </p:cNvPr>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a:extLst>
                <a:ext uri="{FF2B5EF4-FFF2-40B4-BE49-F238E27FC236}">
                  <a16:creationId xmlns:a16="http://schemas.microsoft.com/office/drawing/2014/main" id="{6FADF2EA-2472-BEC2-7B41-4B8EB10B5B4A}"/>
                </a:ext>
              </a:extLst>
            </p:cNvPr>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a:extLst>
                <a:ext uri="{FF2B5EF4-FFF2-40B4-BE49-F238E27FC236}">
                  <a16:creationId xmlns:a16="http://schemas.microsoft.com/office/drawing/2014/main" id="{D34DF66A-7601-C3D3-9714-E42B229E8A63}"/>
                </a:ext>
              </a:extLst>
            </p:cNvPr>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a:extLst>
                <a:ext uri="{FF2B5EF4-FFF2-40B4-BE49-F238E27FC236}">
                  <a16:creationId xmlns:a16="http://schemas.microsoft.com/office/drawing/2014/main" id="{2C67E353-F142-7227-C1D1-4EB71E05106C}"/>
                </a:ext>
              </a:extLst>
            </p:cNvPr>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a:extLst>
              <a:ext uri="{FF2B5EF4-FFF2-40B4-BE49-F238E27FC236}">
                <a16:creationId xmlns:a16="http://schemas.microsoft.com/office/drawing/2014/main" id="{6D0E0C3B-54FB-764B-3B35-7F0C13778CAB}"/>
              </a:ext>
            </a:extLst>
          </p:cNvPr>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a:extLst>
              <a:ext uri="{FF2B5EF4-FFF2-40B4-BE49-F238E27FC236}">
                <a16:creationId xmlns:a16="http://schemas.microsoft.com/office/drawing/2014/main" id="{4CE7958C-1DF2-9F17-FD7F-D0F5C7037233}"/>
              </a:ext>
            </a:extLst>
          </p:cNvPr>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Tree>
    <p:extLst>
      <p:ext uri="{BB962C8B-B14F-4D97-AF65-F5344CB8AC3E}">
        <p14:creationId xmlns:p14="http://schemas.microsoft.com/office/powerpoint/2010/main" val="27718122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0">
          <a:extLst>
            <a:ext uri="{FF2B5EF4-FFF2-40B4-BE49-F238E27FC236}">
              <a16:creationId xmlns:a16="http://schemas.microsoft.com/office/drawing/2014/main" id="{7723E626-9D38-5F9F-F7C7-A27BB3C7A989}"/>
            </a:ext>
          </a:extLst>
        </p:cNvPr>
        <p:cNvGrpSpPr/>
        <p:nvPr/>
      </p:nvGrpSpPr>
      <p:grpSpPr>
        <a:xfrm>
          <a:off x="0" y="0"/>
          <a:ext cx="0" cy="0"/>
          <a:chOff x="0" y="0"/>
          <a:chExt cx="0" cy="0"/>
        </a:xfrm>
      </p:grpSpPr>
      <p:sp>
        <p:nvSpPr>
          <p:cNvPr id="431" name="Google Shape;431;p36">
            <a:extLst>
              <a:ext uri="{FF2B5EF4-FFF2-40B4-BE49-F238E27FC236}">
                <a16:creationId xmlns:a16="http://schemas.microsoft.com/office/drawing/2014/main" id="{56AEA18E-F068-3CD8-8E0A-C305FDDE04D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Latar </a:t>
            </a:r>
            <a:r>
              <a:rPr lang="id-ID" noProof="0" dirty="0">
                <a:solidFill>
                  <a:schemeClr val="accent5">
                    <a:lumMod val="90000"/>
                  </a:schemeClr>
                </a:solidFill>
              </a:rPr>
              <a:t>belakang</a:t>
            </a:r>
          </a:p>
        </p:txBody>
      </p:sp>
      <p:sp>
        <p:nvSpPr>
          <p:cNvPr id="433" name="Google Shape;433;p36">
            <a:extLst>
              <a:ext uri="{FF2B5EF4-FFF2-40B4-BE49-F238E27FC236}">
                <a16:creationId xmlns:a16="http://schemas.microsoft.com/office/drawing/2014/main" id="{B1645341-CD66-6B33-F1C6-22E9F4A8FA29}"/>
              </a:ext>
            </a:extLst>
          </p:cNvPr>
          <p:cNvSpPr txBox="1">
            <a:spLocks noGrp="1"/>
          </p:cNvSpPr>
          <p:nvPr>
            <p:ph type="subTitle" idx="2"/>
          </p:nvPr>
        </p:nvSpPr>
        <p:spPr>
          <a:xfrm>
            <a:off x="256309" y="1297506"/>
            <a:ext cx="8589818" cy="2433000"/>
          </a:xfrm>
          <a:prstGeom prst="rect">
            <a:avLst/>
          </a:prstGeom>
        </p:spPr>
        <p:txBody>
          <a:bodyPr spcFirstLastPara="1" wrap="square" lIns="91425" tIns="91425" rIns="91425" bIns="91425" anchor="t" anchorCtr="0">
            <a:noAutofit/>
          </a:bodyPr>
          <a:lstStyle/>
          <a:p>
            <a:pPr algn="just"/>
            <a:r>
              <a:rPr lang="id-ID" sz="1800" noProof="0" dirty="0"/>
              <a:t>		Solusi dari permasalahan tersebut adalah dengan menerapkan jaringan VLAN melalui proses segmentasi dan pengaturan </a:t>
            </a:r>
            <a:r>
              <a:rPr lang="id-ID" sz="1800" noProof="0" dirty="0" err="1"/>
              <a:t>bandwidth</a:t>
            </a:r>
            <a:r>
              <a:rPr lang="id-ID" sz="1800" noProof="0" dirty="0"/>
              <a:t>. Pada salah satu segmen VLAN, dapat dilakukan pembatasan (limit) atau pemblokiran agar kinerja segmen VLAN lainnya tetap lancar dan stabil. Pengaturan ini bertujuan untuk menjaga kestabilan koneksi internet serta memastikan layanan prioritas dapat berjalan sesuai kebutuhan.</a:t>
            </a:r>
          </a:p>
        </p:txBody>
      </p:sp>
      <p:grpSp>
        <p:nvGrpSpPr>
          <p:cNvPr id="434" name="Google Shape;434;p36">
            <a:extLst>
              <a:ext uri="{FF2B5EF4-FFF2-40B4-BE49-F238E27FC236}">
                <a16:creationId xmlns:a16="http://schemas.microsoft.com/office/drawing/2014/main" id="{86F0ECE3-8F7A-3341-1AAD-7372D9B74DD2}"/>
              </a:ext>
            </a:extLst>
          </p:cNvPr>
          <p:cNvGrpSpPr/>
          <p:nvPr/>
        </p:nvGrpSpPr>
        <p:grpSpPr>
          <a:xfrm>
            <a:off x="350039" y="3944000"/>
            <a:ext cx="2536147" cy="887325"/>
            <a:chOff x="880714" y="3731738"/>
            <a:chExt cx="2536147" cy="887325"/>
          </a:xfrm>
        </p:grpSpPr>
        <p:sp>
          <p:nvSpPr>
            <p:cNvPr id="435" name="Google Shape;435;p36">
              <a:extLst>
                <a:ext uri="{FF2B5EF4-FFF2-40B4-BE49-F238E27FC236}">
                  <a16:creationId xmlns:a16="http://schemas.microsoft.com/office/drawing/2014/main" id="{6FB99854-43CC-211E-A303-93ACE42C807E}"/>
                </a:ext>
              </a:extLst>
            </p:cNvPr>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a:extLst>
                <a:ext uri="{FF2B5EF4-FFF2-40B4-BE49-F238E27FC236}">
                  <a16:creationId xmlns:a16="http://schemas.microsoft.com/office/drawing/2014/main" id="{8735210D-A8FA-D486-214A-240EFE1E280C}"/>
                </a:ext>
              </a:extLst>
            </p:cNvPr>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a:extLst>
                <a:ext uri="{FF2B5EF4-FFF2-40B4-BE49-F238E27FC236}">
                  <a16:creationId xmlns:a16="http://schemas.microsoft.com/office/drawing/2014/main" id="{6D7017DA-5BE7-2AFA-29FC-45963555E8C5}"/>
                </a:ext>
              </a:extLst>
            </p:cNvPr>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a:extLst>
                <a:ext uri="{FF2B5EF4-FFF2-40B4-BE49-F238E27FC236}">
                  <a16:creationId xmlns:a16="http://schemas.microsoft.com/office/drawing/2014/main" id="{CF847FFA-48AB-5A2C-08BB-C89B62354C0D}"/>
                </a:ext>
              </a:extLst>
            </p:cNvPr>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a:extLst>
                <a:ext uri="{FF2B5EF4-FFF2-40B4-BE49-F238E27FC236}">
                  <a16:creationId xmlns:a16="http://schemas.microsoft.com/office/drawing/2014/main" id="{0B73C005-6C64-B583-1CAB-317B91A9A07D}"/>
                </a:ext>
              </a:extLst>
            </p:cNvPr>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a:extLst>
                <a:ext uri="{FF2B5EF4-FFF2-40B4-BE49-F238E27FC236}">
                  <a16:creationId xmlns:a16="http://schemas.microsoft.com/office/drawing/2014/main" id="{79BE6023-5DD1-C210-1D33-2637D6B7C0EF}"/>
                </a:ext>
              </a:extLst>
            </p:cNvPr>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a:extLst>
                <a:ext uri="{FF2B5EF4-FFF2-40B4-BE49-F238E27FC236}">
                  <a16:creationId xmlns:a16="http://schemas.microsoft.com/office/drawing/2014/main" id="{77FDA624-A268-300A-B950-86478F8B56E2}"/>
                </a:ext>
              </a:extLst>
            </p:cNvPr>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a:extLst>
                <a:ext uri="{FF2B5EF4-FFF2-40B4-BE49-F238E27FC236}">
                  <a16:creationId xmlns:a16="http://schemas.microsoft.com/office/drawing/2014/main" id="{95DA54B2-A0E9-15A0-3330-C48ECBAB1EA8}"/>
                </a:ext>
              </a:extLst>
            </p:cNvPr>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a:extLst>
                <a:ext uri="{FF2B5EF4-FFF2-40B4-BE49-F238E27FC236}">
                  <a16:creationId xmlns:a16="http://schemas.microsoft.com/office/drawing/2014/main" id="{9C99AF90-5C98-0A9F-9076-EB3B386A8408}"/>
                </a:ext>
              </a:extLst>
            </p:cNvPr>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a:extLst>
                <a:ext uri="{FF2B5EF4-FFF2-40B4-BE49-F238E27FC236}">
                  <a16:creationId xmlns:a16="http://schemas.microsoft.com/office/drawing/2014/main" id="{4ADABFB5-8097-CECF-722A-1DDB2C1F9B4B}"/>
                </a:ext>
              </a:extLst>
            </p:cNvPr>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a:extLst>
                <a:ext uri="{FF2B5EF4-FFF2-40B4-BE49-F238E27FC236}">
                  <a16:creationId xmlns:a16="http://schemas.microsoft.com/office/drawing/2014/main" id="{77404DB5-9624-55F4-28D6-EC0A5E1122AE}"/>
                </a:ext>
              </a:extLst>
            </p:cNvPr>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a:extLst>
                <a:ext uri="{FF2B5EF4-FFF2-40B4-BE49-F238E27FC236}">
                  <a16:creationId xmlns:a16="http://schemas.microsoft.com/office/drawing/2014/main" id="{D93E4665-FB9C-4CC5-02CA-5B7C853BBC83}"/>
                </a:ext>
              </a:extLst>
            </p:cNvPr>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a:extLst>
                <a:ext uri="{FF2B5EF4-FFF2-40B4-BE49-F238E27FC236}">
                  <a16:creationId xmlns:a16="http://schemas.microsoft.com/office/drawing/2014/main" id="{2A725830-3AF4-BC73-D6DE-6D50DC5CB8AE}"/>
                </a:ext>
              </a:extLst>
            </p:cNvPr>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a:extLst>
              <a:ext uri="{FF2B5EF4-FFF2-40B4-BE49-F238E27FC236}">
                <a16:creationId xmlns:a16="http://schemas.microsoft.com/office/drawing/2014/main" id="{FF924E28-EB4D-ABDC-75E4-32FD4E060C37}"/>
              </a:ext>
            </a:extLst>
          </p:cNvPr>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a:extLst>
              <a:ext uri="{FF2B5EF4-FFF2-40B4-BE49-F238E27FC236}">
                <a16:creationId xmlns:a16="http://schemas.microsoft.com/office/drawing/2014/main" id="{0AD9FC31-51FF-9206-FBBC-282B25E08756}"/>
              </a:ext>
            </a:extLst>
          </p:cNvPr>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Tree>
    <p:extLst>
      <p:ext uri="{BB962C8B-B14F-4D97-AF65-F5344CB8AC3E}">
        <p14:creationId xmlns:p14="http://schemas.microsoft.com/office/powerpoint/2010/main" val="299262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Rumusan </a:t>
            </a:r>
            <a:r>
              <a:rPr lang="id-ID" noProof="0" dirty="0">
                <a:solidFill>
                  <a:schemeClr val="bg2"/>
                </a:solidFill>
              </a:rPr>
              <a:t>masalah</a:t>
            </a:r>
          </a:p>
        </p:txBody>
      </p:sp>
      <p:sp>
        <p:nvSpPr>
          <p:cNvPr id="433" name="Google Shape;433;p36"/>
          <p:cNvSpPr txBox="1">
            <a:spLocks noGrp="1"/>
          </p:cNvSpPr>
          <p:nvPr>
            <p:ph type="subTitle" idx="2"/>
          </p:nvPr>
        </p:nvSpPr>
        <p:spPr>
          <a:xfrm>
            <a:off x="677639" y="1706513"/>
            <a:ext cx="7905089" cy="2086650"/>
          </a:xfrm>
          <a:prstGeom prst="rect">
            <a:avLst/>
          </a:prstGeom>
        </p:spPr>
        <p:txBody>
          <a:bodyPr spcFirstLastPara="1" wrap="square" lIns="91425" tIns="91425" rIns="91425" bIns="91425" anchor="t" anchorCtr="0">
            <a:noAutofit/>
          </a:bodyPr>
          <a:lstStyle/>
          <a:p>
            <a:pPr lvl="0"/>
            <a:r>
              <a:rPr lang="id-ID" sz="1800" noProof="0" dirty="0"/>
              <a:t>1. Bagaimana implementasi </a:t>
            </a:r>
            <a:r>
              <a:rPr lang="id-ID" sz="1800" i="1" noProof="0" dirty="0"/>
              <a:t>Virtual </a:t>
            </a:r>
            <a:r>
              <a:rPr lang="id-ID" sz="1800" i="1" noProof="0" dirty="0" err="1"/>
              <a:t>Local</a:t>
            </a:r>
            <a:r>
              <a:rPr lang="id-ID" sz="1800" i="1" noProof="0" dirty="0"/>
              <a:t> Area Network (VLAN)</a:t>
            </a:r>
            <a:r>
              <a:rPr lang="id-ID" sz="1800" noProof="0" dirty="0"/>
              <a:t> pada jaringan di MIN 3 Pontianak?</a:t>
            </a:r>
          </a:p>
          <a:p>
            <a:pPr lvl="0"/>
            <a:r>
              <a:rPr lang="id-ID" sz="1800" noProof="0" dirty="0"/>
              <a:t>2. Bagaimana menguji </a:t>
            </a:r>
            <a:r>
              <a:rPr lang="id-ID" sz="1800" i="1" noProof="0" dirty="0"/>
              <a:t>Virtual </a:t>
            </a:r>
            <a:r>
              <a:rPr lang="id-ID" sz="1800" i="1" noProof="0" dirty="0" err="1"/>
              <a:t>Local</a:t>
            </a:r>
            <a:r>
              <a:rPr lang="id-ID" sz="1800" i="1" noProof="0" dirty="0"/>
              <a:t> Area Network (VLAN)</a:t>
            </a:r>
            <a:r>
              <a:rPr lang="id-ID" sz="1800" noProof="0" dirty="0"/>
              <a:t> pada jaringan di MIN 3 Pontianak?</a:t>
            </a:r>
          </a:p>
        </p:txBody>
      </p:sp>
      <p:grpSp>
        <p:nvGrpSpPr>
          <p:cNvPr id="434" name="Google Shape;434;p36"/>
          <p:cNvGrpSpPr/>
          <p:nvPr/>
        </p:nvGrpSpPr>
        <p:grpSpPr>
          <a:xfrm>
            <a:off x="350039" y="3944000"/>
            <a:ext cx="2536147" cy="887325"/>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Tree>
    <p:extLst>
      <p:ext uri="{BB962C8B-B14F-4D97-AF65-F5344CB8AC3E}">
        <p14:creationId xmlns:p14="http://schemas.microsoft.com/office/powerpoint/2010/main" val="2157090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Batasan </a:t>
            </a:r>
            <a:r>
              <a:rPr lang="id-ID" noProof="0" dirty="0">
                <a:solidFill>
                  <a:srgbClr val="0070C0"/>
                </a:solidFill>
              </a:rPr>
              <a:t>masalah</a:t>
            </a:r>
          </a:p>
        </p:txBody>
      </p:sp>
      <p:sp>
        <p:nvSpPr>
          <p:cNvPr id="433" name="Google Shape;433;p36"/>
          <p:cNvSpPr txBox="1">
            <a:spLocks noGrp="1"/>
          </p:cNvSpPr>
          <p:nvPr>
            <p:ph type="subTitle" idx="2"/>
          </p:nvPr>
        </p:nvSpPr>
        <p:spPr>
          <a:xfrm>
            <a:off x="643999" y="1463040"/>
            <a:ext cx="7905089" cy="2413085"/>
          </a:xfrm>
          <a:prstGeom prst="rect">
            <a:avLst/>
          </a:prstGeom>
        </p:spPr>
        <p:txBody>
          <a:bodyPr spcFirstLastPara="1" wrap="square" lIns="91425" tIns="91425" rIns="91425" bIns="91425" anchor="t" anchorCtr="0">
            <a:noAutofit/>
          </a:bodyPr>
          <a:lstStyle/>
          <a:p>
            <a:pPr lvl="0"/>
            <a:r>
              <a:rPr lang="id-ID" sz="1600" noProof="0" dirty="0"/>
              <a:t>1. Implementasi </a:t>
            </a:r>
            <a:r>
              <a:rPr lang="id-ID" sz="1600" i="1" noProof="0" dirty="0"/>
              <a:t>VLAN</a:t>
            </a:r>
            <a:r>
              <a:rPr lang="id-ID" sz="1600" noProof="0" dirty="0"/>
              <a:t> dibatasi untuk manajemen jaringan.</a:t>
            </a:r>
          </a:p>
          <a:p>
            <a:pPr lvl="0"/>
            <a:r>
              <a:rPr lang="id-ID" sz="1600" noProof="0" dirty="0"/>
              <a:t>2. Implementasi </a:t>
            </a:r>
            <a:r>
              <a:rPr lang="id-ID" sz="1600" i="1" noProof="0" dirty="0"/>
              <a:t>VLAN</a:t>
            </a:r>
            <a:r>
              <a:rPr lang="id-ID" sz="1600" noProof="0" dirty="0"/>
              <a:t> hanya fokus pada lalu lintas jaringan antar perangkat, tidak mencakup sistem keamanan jaringan.</a:t>
            </a:r>
          </a:p>
          <a:p>
            <a:pPr lvl="0"/>
            <a:r>
              <a:rPr lang="id-ID" sz="1600" noProof="0" dirty="0"/>
              <a:t>3. Penelitian ini berfokus manajemen </a:t>
            </a:r>
            <a:r>
              <a:rPr lang="id-ID" sz="1600" i="1" noProof="0" dirty="0" err="1"/>
              <a:t>bandwidth</a:t>
            </a:r>
            <a:r>
              <a:rPr lang="id-ID" sz="1600" i="1" noProof="0" dirty="0"/>
              <a:t> </a:t>
            </a:r>
            <a:r>
              <a:rPr lang="id-ID" sz="1600" noProof="0" dirty="0"/>
              <a:t>di jaringan </a:t>
            </a:r>
            <a:r>
              <a:rPr lang="id-ID" sz="1600" i="1" noProof="0" dirty="0"/>
              <a:t>Wireless </a:t>
            </a:r>
            <a:r>
              <a:rPr lang="id-ID" sz="1600" i="1" noProof="0" dirty="0" err="1"/>
              <a:t>Local</a:t>
            </a:r>
            <a:r>
              <a:rPr lang="id-ID" sz="1600" i="1" noProof="0" dirty="0"/>
              <a:t> Area Network</a:t>
            </a:r>
            <a:r>
              <a:rPr lang="id-ID" sz="1600" noProof="0" dirty="0"/>
              <a:t> (</a:t>
            </a:r>
            <a:r>
              <a:rPr lang="id-ID" sz="1600" i="1" noProof="0" dirty="0"/>
              <a:t>WLAN</a:t>
            </a:r>
            <a:r>
              <a:rPr lang="id-ID" sz="1600" noProof="0" dirty="0"/>
              <a:t>)</a:t>
            </a:r>
          </a:p>
          <a:p>
            <a:pPr lvl="0"/>
            <a:r>
              <a:rPr lang="id-ID" sz="1600" noProof="0" dirty="0"/>
              <a:t>4. Kapasitas </a:t>
            </a:r>
            <a:r>
              <a:rPr lang="id-ID" sz="1600" i="1" noProof="0" dirty="0" err="1"/>
              <a:t>bandwidth</a:t>
            </a:r>
            <a:r>
              <a:rPr lang="id-ID" sz="1600" noProof="0" dirty="0"/>
              <a:t> pada jaringan di MIN 3 Pontianak sebesar 20 Mbps (</a:t>
            </a:r>
            <a:r>
              <a:rPr lang="id-ID" sz="1600" i="1" noProof="0" dirty="0"/>
              <a:t>Mega Bits Per </a:t>
            </a:r>
            <a:r>
              <a:rPr lang="id-ID" sz="1600" i="1" noProof="0" dirty="0" err="1"/>
              <a:t>Second</a:t>
            </a:r>
            <a:r>
              <a:rPr lang="id-ID" sz="1600" noProof="0" dirty="0"/>
              <a:t>).</a:t>
            </a:r>
          </a:p>
        </p:txBody>
      </p:sp>
      <p:grpSp>
        <p:nvGrpSpPr>
          <p:cNvPr id="434" name="Google Shape;434;p36"/>
          <p:cNvGrpSpPr/>
          <p:nvPr/>
        </p:nvGrpSpPr>
        <p:grpSpPr>
          <a:xfrm>
            <a:off x="350039" y="3944000"/>
            <a:ext cx="2536147" cy="887325"/>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Tree>
    <p:extLst>
      <p:ext uri="{BB962C8B-B14F-4D97-AF65-F5344CB8AC3E}">
        <p14:creationId xmlns:p14="http://schemas.microsoft.com/office/powerpoint/2010/main" val="2292966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0">
          <a:extLst>
            <a:ext uri="{FF2B5EF4-FFF2-40B4-BE49-F238E27FC236}">
              <a16:creationId xmlns:a16="http://schemas.microsoft.com/office/drawing/2014/main" id="{69CCD556-233A-77C2-4927-3AF4E4E8C1E5}"/>
            </a:ext>
          </a:extLst>
        </p:cNvPr>
        <p:cNvGrpSpPr/>
        <p:nvPr/>
      </p:nvGrpSpPr>
      <p:grpSpPr>
        <a:xfrm>
          <a:off x="0" y="0"/>
          <a:ext cx="0" cy="0"/>
          <a:chOff x="0" y="0"/>
          <a:chExt cx="0" cy="0"/>
        </a:xfrm>
      </p:grpSpPr>
      <p:sp>
        <p:nvSpPr>
          <p:cNvPr id="431" name="Google Shape;431;p36">
            <a:extLst>
              <a:ext uri="{FF2B5EF4-FFF2-40B4-BE49-F238E27FC236}">
                <a16:creationId xmlns:a16="http://schemas.microsoft.com/office/drawing/2014/main" id="{5BB36DEB-2165-361E-58CD-9AB8C8F8BCF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Batasan </a:t>
            </a:r>
            <a:r>
              <a:rPr lang="id-ID" noProof="0" dirty="0">
                <a:solidFill>
                  <a:srgbClr val="0070C0"/>
                </a:solidFill>
              </a:rPr>
              <a:t>masalah</a:t>
            </a:r>
          </a:p>
        </p:txBody>
      </p:sp>
      <p:sp>
        <p:nvSpPr>
          <p:cNvPr id="433" name="Google Shape;433;p36">
            <a:extLst>
              <a:ext uri="{FF2B5EF4-FFF2-40B4-BE49-F238E27FC236}">
                <a16:creationId xmlns:a16="http://schemas.microsoft.com/office/drawing/2014/main" id="{40FD6600-5B63-9CEF-B802-5EBCC2D46CD1}"/>
              </a:ext>
            </a:extLst>
          </p:cNvPr>
          <p:cNvSpPr txBox="1">
            <a:spLocks noGrp="1"/>
          </p:cNvSpPr>
          <p:nvPr>
            <p:ph type="subTitle" idx="2"/>
          </p:nvPr>
        </p:nvSpPr>
        <p:spPr>
          <a:xfrm>
            <a:off x="643999" y="1463039"/>
            <a:ext cx="7905089" cy="2413085"/>
          </a:xfrm>
          <a:prstGeom prst="rect">
            <a:avLst/>
          </a:prstGeom>
        </p:spPr>
        <p:txBody>
          <a:bodyPr spcFirstLastPara="1" wrap="square" lIns="91425" tIns="91425" rIns="91425" bIns="91425" anchor="t" anchorCtr="0">
            <a:noAutofit/>
          </a:bodyPr>
          <a:lstStyle/>
          <a:p>
            <a:pPr lvl="0"/>
            <a:r>
              <a:rPr lang="id-ID" sz="1600" noProof="0" dirty="0"/>
              <a:t>5. Penelitian ini akan di implementasikan di 15 laptop yang akan mengakses </a:t>
            </a:r>
            <a:r>
              <a:rPr lang="id-ID" sz="1600" i="1" noProof="0" dirty="0"/>
              <a:t>Wireless </a:t>
            </a:r>
            <a:r>
              <a:rPr lang="id-ID" sz="1600" i="1" noProof="0" dirty="0" err="1"/>
              <a:t>Local</a:t>
            </a:r>
            <a:r>
              <a:rPr lang="id-ID" sz="1600" i="1" noProof="0" dirty="0"/>
              <a:t> Area Network</a:t>
            </a:r>
            <a:r>
              <a:rPr lang="id-ID" sz="1600" noProof="0" dirty="0"/>
              <a:t> (</a:t>
            </a:r>
            <a:r>
              <a:rPr lang="id-ID" sz="1600" i="1" noProof="0" dirty="0"/>
              <a:t>WLAN</a:t>
            </a:r>
            <a:r>
              <a:rPr lang="id-ID" sz="1600" noProof="0" dirty="0"/>
              <a:t>).</a:t>
            </a:r>
          </a:p>
          <a:p>
            <a:pPr lvl="0"/>
            <a:r>
              <a:rPr lang="id-ID" sz="1600" noProof="0" dirty="0"/>
              <a:t>6. Penelitian ini menggunakan perangkat jaringan </a:t>
            </a:r>
            <a:r>
              <a:rPr lang="id-ID" sz="1600" i="1" noProof="0" dirty="0"/>
              <a:t>Huawei</a:t>
            </a:r>
            <a:r>
              <a:rPr lang="id-ID" sz="1600" noProof="0" dirty="0"/>
              <a:t> </a:t>
            </a:r>
            <a:r>
              <a:rPr lang="id-ID" sz="1600" i="1" noProof="0" dirty="0"/>
              <a:t>HG8245H5, </a:t>
            </a:r>
            <a:r>
              <a:rPr lang="id-ID" sz="1600" i="1" noProof="0" dirty="0" err="1"/>
              <a:t>Router</a:t>
            </a:r>
            <a:r>
              <a:rPr lang="id-ID" sz="1600" i="1" noProof="0" dirty="0"/>
              <a:t> </a:t>
            </a:r>
            <a:r>
              <a:rPr lang="id-ID" sz="1600" i="1" noProof="0" dirty="0" err="1"/>
              <a:t>Mikrotik</a:t>
            </a:r>
            <a:r>
              <a:rPr lang="id-ID" sz="1600" i="1" noProof="0" dirty="0"/>
              <a:t> RB750GR3 (</a:t>
            </a:r>
            <a:r>
              <a:rPr lang="id-ID" sz="1600" i="1" noProof="0" dirty="0" err="1"/>
              <a:t>hEX</a:t>
            </a:r>
            <a:r>
              <a:rPr lang="id-ID" sz="1600" i="1" noProof="0" dirty="0"/>
              <a:t>) dan </a:t>
            </a:r>
            <a:r>
              <a:rPr lang="id-ID" sz="1600" i="1" noProof="0" dirty="0" err="1"/>
              <a:t>Mikrotik</a:t>
            </a:r>
            <a:r>
              <a:rPr lang="id-ID" sz="1600" i="1" noProof="0" dirty="0"/>
              <a:t> </a:t>
            </a:r>
            <a:r>
              <a:rPr lang="id-ID" sz="1600" i="1" noProof="0" dirty="0" err="1"/>
              <a:t>cAP</a:t>
            </a:r>
            <a:r>
              <a:rPr lang="id-ID" sz="1600" i="1" noProof="0" dirty="0"/>
              <a:t> </a:t>
            </a:r>
            <a:r>
              <a:rPr lang="id-ID" sz="1600" i="1" noProof="0" dirty="0" err="1"/>
              <a:t>ac</a:t>
            </a:r>
            <a:r>
              <a:rPr lang="id-ID" sz="1600" i="1" noProof="0" dirty="0"/>
              <a:t> (RBcAPGi-5acD2nD).</a:t>
            </a:r>
          </a:p>
          <a:p>
            <a:pPr lvl="0"/>
            <a:r>
              <a:rPr lang="id-ID" sz="1600" noProof="0" dirty="0"/>
              <a:t>7. Pengujian jaringan menggunakan </a:t>
            </a:r>
            <a:r>
              <a:rPr lang="id-ID" sz="1600" i="1" noProof="0" dirty="0" err="1"/>
              <a:t>Quality</a:t>
            </a:r>
            <a:r>
              <a:rPr lang="id-ID" sz="1600" i="1" noProof="0" dirty="0"/>
              <a:t> </a:t>
            </a:r>
            <a:r>
              <a:rPr lang="id-ID" sz="1600" i="1" noProof="0" dirty="0" err="1"/>
              <a:t>of</a:t>
            </a:r>
            <a:r>
              <a:rPr lang="id-ID" sz="1600" i="1" noProof="0" dirty="0"/>
              <a:t> </a:t>
            </a:r>
            <a:r>
              <a:rPr lang="id-ID" sz="1600" i="1" noProof="0" dirty="0" err="1"/>
              <a:t>Servive</a:t>
            </a:r>
            <a:r>
              <a:rPr lang="id-ID" sz="1600" noProof="0" dirty="0"/>
              <a:t> (</a:t>
            </a:r>
            <a:r>
              <a:rPr lang="id-ID" sz="1600" i="1" noProof="0" dirty="0" err="1"/>
              <a:t>QoS</a:t>
            </a:r>
            <a:r>
              <a:rPr lang="id-ID" sz="1600" noProof="0" dirty="0"/>
              <a:t>) yang meliputi </a:t>
            </a:r>
            <a:r>
              <a:rPr lang="id-ID" sz="1600" i="1" noProof="0" dirty="0" err="1"/>
              <a:t>throughput</a:t>
            </a:r>
            <a:r>
              <a:rPr lang="id-ID" sz="1600" noProof="0" dirty="0"/>
              <a:t>, </a:t>
            </a:r>
            <a:r>
              <a:rPr lang="id-ID" sz="1600" i="1" noProof="0" dirty="0" err="1"/>
              <a:t>packet</a:t>
            </a:r>
            <a:r>
              <a:rPr lang="id-ID" sz="1600" i="1" noProof="0" dirty="0"/>
              <a:t> </a:t>
            </a:r>
            <a:r>
              <a:rPr lang="id-ID" sz="1600" i="1" noProof="0" dirty="0" err="1"/>
              <a:t>loss</a:t>
            </a:r>
            <a:r>
              <a:rPr lang="id-ID" sz="1600" noProof="0" dirty="0"/>
              <a:t>, </a:t>
            </a:r>
            <a:r>
              <a:rPr lang="id-ID" sz="1600" i="1" noProof="0" dirty="0" err="1"/>
              <a:t>delay</a:t>
            </a:r>
            <a:r>
              <a:rPr lang="id-ID" sz="1600" noProof="0" dirty="0"/>
              <a:t> dan </a:t>
            </a:r>
            <a:r>
              <a:rPr lang="id-ID" sz="1600" i="1" noProof="0" dirty="0" err="1"/>
              <a:t>jitter</a:t>
            </a:r>
            <a:r>
              <a:rPr lang="id-ID" sz="1600" noProof="0" dirty="0"/>
              <a:t>.</a:t>
            </a:r>
          </a:p>
        </p:txBody>
      </p:sp>
      <p:grpSp>
        <p:nvGrpSpPr>
          <p:cNvPr id="434" name="Google Shape;434;p36">
            <a:extLst>
              <a:ext uri="{FF2B5EF4-FFF2-40B4-BE49-F238E27FC236}">
                <a16:creationId xmlns:a16="http://schemas.microsoft.com/office/drawing/2014/main" id="{96733520-A912-7028-FD01-4E0DD88DA461}"/>
              </a:ext>
            </a:extLst>
          </p:cNvPr>
          <p:cNvGrpSpPr/>
          <p:nvPr/>
        </p:nvGrpSpPr>
        <p:grpSpPr>
          <a:xfrm>
            <a:off x="350039" y="3944000"/>
            <a:ext cx="2536147" cy="887325"/>
            <a:chOff x="880714" y="3731738"/>
            <a:chExt cx="2536147" cy="887325"/>
          </a:xfrm>
        </p:grpSpPr>
        <p:sp>
          <p:nvSpPr>
            <p:cNvPr id="435" name="Google Shape;435;p36">
              <a:extLst>
                <a:ext uri="{FF2B5EF4-FFF2-40B4-BE49-F238E27FC236}">
                  <a16:creationId xmlns:a16="http://schemas.microsoft.com/office/drawing/2014/main" id="{93A569BC-5E49-2C65-A4C8-76B4548A217D}"/>
                </a:ext>
              </a:extLst>
            </p:cNvPr>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a:extLst>
                <a:ext uri="{FF2B5EF4-FFF2-40B4-BE49-F238E27FC236}">
                  <a16:creationId xmlns:a16="http://schemas.microsoft.com/office/drawing/2014/main" id="{2043C115-8E18-4A9B-C83A-327C7380DE14}"/>
                </a:ext>
              </a:extLst>
            </p:cNvPr>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a:extLst>
                <a:ext uri="{FF2B5EF4-FFF2-40B4-BE49-F238E27FC236}">
                  <a16:creationId xmlns:a16="http://schemas.microsoft.com/office/drawing/2014/main" id="{558DAE92-BEC5-9937-107E-D5B5608BB6AA}"/>
                </a:ext>
              </a:extLst>
            </p:cNvPr>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a:extLst>
                <a:ext uri="{FF2B5EF4-FFF2-40B4-BE49-F238E27FC236}">
                  <a16:creationId xmlns:a16="http://schemas.microsoft.com/office/drawing/2014/main" id="{3B8E9C73-2E40-4D11-B93D-C1C81B14BB37}"/>
                </a:ext>
              </a:extLst>
            </p:cNvPr>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a:extLst>
                <a:ext uri="{FF2B5EF4-FFF2-40B4-BE49-F238E27FC236}">
                  <a16:creationId xmlns:a16="http://schemas.microsoft.com/office/drawing/2014/main" id="{3EBC15AB-4350-F971-B021-DDBD52316BA6}"/>
                </a:ext>
              </a:extLst>
            </p:cNvPr>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a:extLst>
                <a:ext uri="{FF2B5EF4-FFF2-40B4-BE49-F238E27FC236}">
                  <a16:creationId xmlns:a16="http://schemas.microsoft.com/office/drawing/2014/main" id="{1DFEAE27-8C7A-932F-30EF-8A9D32589133}"/>
                </a:ext>
              </a:extLst>
            </p:cNvPr>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a:extLst>
                <a:ext uri="{FF2B5EF4-FFF2-40B4-BE49-F238E27FC236}">
                  <a16:creationId xmlns:a16="http://schemas.microsoft.com/office/drawing/2014/main" id="{818FF1E6-9177-5B74-A548-AEBB8F22625D}"/>
                </a:ext>
              </a:extLst>
            </p:cNvPr>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a:extLst>
                <a:ext uri="{FF2B5EF4-FFF2-40B4-BE49-F238E27FC236}">
                  <a16:creationId xmlns:a16="http://schemas.microsoft.com/office/drawing/2014/main" id="{F5717FF0-4E35-73E4-987E-1CF66D83F249}"/>
                </a:ext>
              </a:extLst>
            </p:cNvPr>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a:extLst>
                <a:ext uri="{FF2B5EF4-FFF2-40B4-BE49-F238E27FC236}">
                  <a16:creationId xmlns:a16="http://schemas.microsoft.com/office/drawing/2014/main" id="{B723E500-08B3-060C-B0D5-AE82A58984C6}"/>
                </a:ext>
              </a:extLst>
            </p:cNvPr>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a:extLst>
                <a:ext uri="{FF2B5EF4-FFF2-40B4-BE49-F238E27FC236}">
                  <a16:creationId xmlns:a16="http://schemas.microsoft.com/office/drawing/2014/main" id="{AEAE9BC1-1A96-A847-E697-B33E99CD6DD8}"/>
                </a:ext>
              </a:extLst>
            </p:cNvPr>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a:extLst>
                <a:ext uri="{FF2B5EF4-FFF2-40B4-BE49-F238E27FC236}">
                  <a16:creationId xmlns:a16="http://schemas.microsoft.com/office/drawing/2014/main" id="{E26AEE79-E227-8667-D80B-100F188ABB91}"/>
                </a:ext>
              </a:extLst>
            </p:cNvPr>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a:extLst>
                <a:ext uri="{FF2B5EF4-FFF2-40B4-BE49-F238E27FC236}">
                  <a16:creationId xmlns:a16="http://schemas.microsoft.com/office/drawing/2014/main" id="{16D43F08-36CB-20C5-261B-43505C220734}"/>
                </a:ext>
              </a:extLst>
            </p:cNvPr>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a:extLst>
                <a:ext uri="{FF2B5EF4-FFF2-40B4-BE49-F238E27FC236}">
                  <a16:creationId xmlns:a16="http://schemas.microsoft.com/office/drawing/2014/main" id="{23C04D65-1588-E8B2-2BEE-588FC848FB4D}"/>
                </a:ext>
              </a:extLst>
            </p:cNvPr>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a:extLst>
              <a:ext uri="{FF2B5EF4-FFF2-40B4-BE49-F238E27FC236}">
                <a16:creationId xmlns:a16="http://schemas.microsoft.com/office/drawing/2014/main" id="{471706FC-1995-06FF-7677-A10347AAFD13}"/>
              </a:ext>
            </a:extLst>
          </p:cNvPr>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a:extLst>
              <a:ext uri="{FF2B5EF4-FFF2-40B4-BE49-F238E27FC236}">
                <a16:creationId xmlns:a16="http://schemas.microsoft.com/office/drawing/2014/main" id="{08BE893E-4285-740E-DFE7-B1D61575ACD9}"/>
              </a:ext>
            </a:extLst>
          </p:cNvPr>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Tree>
    <p:extLst>
      <p:ext uri="{BB962C8B-B14F-4D97-AF65-F5344CB8AC3E}">
        <p14:creationId xmlns:p14="http://schemas.microsoft.com/office/powerpoint/2010/main" val="3876584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Tujuan </a:t>
            </a:r>
            <a:r>
              <a:rPr lang="id-ID" noProof="0" dirty="0">
                <a:solidFill>
                  <a:schemeClr val="tx2">
                    <a:lumMod val="75000"/>
                  </a:schemeClr>
                </a:solidFill>
              </a:rPr>
              <a:t>Penelitian</a:t>
            </a:r>
          </a:p>
        </p:txBody>
      </p:sp>
      <p:sp>
        <p:nvSpPr>
          <p:cNvPr id="433" name="Google Shape;433;p36"/>
          <p:cNvSpPr txBox="1">
            <a:spLocks noGrp="1"/>
          </p:cNvSpPr>
          <p:nvPr>
            <p:ph type="subTitle" idx="2"/>
          </p:nvPr>
        </p:nvSpPr>
        <p:spPr>
          <a:xfrm>
            <a:off x="643999" y="1281545"/>
            <a:ext cx="7905089" cy="2594580"/>
          </a:xfrm>
          <a:prstGeom prst="rect">
            <a:avLst/>
          </a:prstGeom>
        </p:spPr>
        <p:txBody>
          <a:bodyPr spcFirstLastPara="1" wrap="square" lIns="91425" tIns="91425" rIns="91425" bIns="91425" anchor="t" anchorCtr="0">
            <a:noAutofit/>
          </a:bodyPr>
          <a:lstStyle/>
          <a:p>
            <a:pPr lvl="0"/>
            <a:r>
              <a:rPr lang="id-ID" sz="1800" noProof="0" dirty="0"/>
              <a:t>1. Mengevaluasi implementasi </a:t>
            </a:r>
            <a:r>
              <a:rPr lang="id-ID" sz="1800" i="1" noProof="0" dirty="0"/>
              <a:t>Virtual </a:t>
            </a:r>
            <a:r>
              <a:rPr lang="id-ID" sz="1800" i="1" noProof="0" dirty="0" err="1"/>
              <a:t>Local</a:t>
            </a:r>
            <a:r>
              <a:rPr lang="id-ID" sz="1800" i="1" noProof="0" dirty="0"/>
              <a:t> Area Network (VLAN)</a:t>
            </a:r>
            <a:r>
              <a:rPr lang="id-ID" sz="1800" noProof="0" dirty="0"/>
              <a:t> dalam mengelola segmentasi jaringan di MIN 3 Pontianak.</a:t>
            </a:r>
          </a:p>
          <a:p>
            <a:pPr lvl="0"/>
            <a:r>
              <a:rPr lang="id-ID" sz="1800" noProof="0" dirty="0"/>
              <a:t>2. Menampilkan hasil pengujian kinerja jaringan setelah diterapkan </a:t>
            </a:r>
            <a:r>
              <a:rPr lang="id-ID" sz="1800" i="1" noProof="0" dirty="0"/>
              <a:t>VLAN</a:t>
            </a:r>
            <a:r>
              <a:rPr lang="id-ID" sz="1800" noProof="0" dirty="0"/>
              <a:t> dengan parameter </a:t>
            </a:r>
            <a:r>
              <a:rPr lang="id-ID" sz="1800" i="1" noProof="0" dirty="0" err="1"/>
              <a:t>Quality</a:t>
            </a:r>
            <a:r>
              <a:rPr lang="id-ID" sz="1800" i="1" noProof="0" dirty="0"/>
              <a:t> </a:t>
            </a:r>
            <a:r>
              <a:rPr lang="id-ID" sz="1800" i="1" noProof="0" dirty="0" err="1"/>
              <a:t>of</a:t>
            </a:r>
            <a:r>
              <a:rPr lang="id-ID" sz="1800" i="1" noProof="0" dirty="0"/>
              <a:t> Service (</a:t>
            </a:r>
            <a:r>
              <a:rPr lang="id-ID" sz="1800" i="1" noProof="0" dirty="0" err="1"/>
              <a:t>QoS</a:t>
            </a:r>
            <a:r>
              <a:rPr lang="id-ID" sz="1800" i="1" noProof="0" dirty="0"/>
              <a:t>)</a:t>
            </a:r>
            <a:r>
              <a:rPr lang="id-ID" sz="1800" noProof="0" dirty="0"/>
              <a:t> yang meliputi </a:t>
            </a:r>
            <a:r>
              <a:rPr lang="id-ID" sz="1800" i="1" noProof="0" dirty="0" err="1"/>
              <a:t>throughput</a:t>
            </a:r>
            <a:r>
              <a:rPr lang="id-ID" sz="1800" noProof="0" dirty="0"/>
              <a:t>, </a:t>
            </a:r>
            <a:r>
              <a:rPr lang="id-ID" sz="1800" i="1" noProof="0" dirty="0" err="1"/>
              <a:t>packet</a:t>
            </a:r>
            <a:r>
              <a:rPr lang="id-ID" sz="1800" i="1" noProof="0" dirty="0"/>
              <a:t> </a:t>
            </a:r>
            <a:r>
              <a:rPr lang="id-ID" sz="1800" i="1" noProof="0" dirty="0" err="1"/>
              <a:t>loss</a:t>
            </a:r>
            <a:r>
              <a:rPr lang="id-ID" sz="1800" i="1" noProof="0" dirty="0"/>
              <a:t>, </a:t>
            </a:r>
            <a:r>
              <a:rPr lang="id-ID" sz="1800" i="1" noProof="0" dirty="0" err="1"/>
              <a:t>delay</a:t>
            </a:r>
            <a:r>
              <a:rPr lang="id-ID" sz="1800" i="1" noProof="0" dirty="0"/>
              <a:t>, dan </a:t>
            </a:r>
            <a:r>
              <a:rPr lang="id-ID" sz="1800" i="1" noProof="0" dirty="0" err="1"/>
              <a:t>jitter</a:t>
            </a:r>
            <a:r>
              <a:rPr lang="id-ID" sz="1800" noProof="0" dirty="0"/>
              <a:t> pada jaringan di MIN 3 Pontianak.</a:t>
            </a:r>
          </a:p>
        </p:txBody>
      </p:sp>
      <p:grpSp>
        <p:nvGrpSpPr>
          <p:cNvPr id="434" name="Google Shape;434;p36"/>
          <p:cNvGrpSpPr/>
          <p:nvPr/>
        </p:nvGrpSpPr>
        <p:grpSpPr>
          <a:xfrm>
            <a:off x="350039" y="3944000"/>
            <a:ext cx="2536147" cy="887325"/>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Tree>
    <p:extLst>
      <p:ext uri="{BB962C8B-B14F-4D97-AF65-F5344CB8AC3E}">
        <p14:creationId xmlns:p14="http://schemas.microsoft.com/office/powerpoint/2010/main" val="104727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Manfaat </a:t>
            </a:r>
            <a:r>
              <a:rPr lang="id-ID" noProof="0" dirty="0">
                <a:solidFill>
                  <a:schemeClr val="accent2">
                    <a:lumMod val="75000"/>
                  </a:schemeClr>
                </a:solidFill>
              </a:rPr>
              <a:t>Penelitian</a:t>
            </a:r>
          </a:p>
        </p:txBody>
      </p:sp>
      <p:sp>
        <p:nvSpPr>
          <p:cNvPr id="433" name="Google Shape;433;p36"/>
          <p:cNvSpPr txBox="1">
            <a:spLocks noGrp="1"/>
          </p:cNvSpPr>
          <p:nvPr>
            <p:ph type="subTitle" idx="2"/>
          </p:nvPr>
        </p:nvSpPr>
        <p:spPr>
          <a:xfrm>
            <a:off x="619455" y="1463041"/>
            <a:ext cx="7905089" cy="2434734"/>
          </a:xfrm>
          <a:prstGeom prst="rect">
            <a:avLst/>
          </a:prstGeom>
        </p:spPr>
        <p:txBody>
          <a:bodyPr spcFirstLastPara="1" wrap="square" lIns="91425" tIns="91425" rIns="91425" bIns="91425" anchor="t" anchorCtr="0">
            <a:noAutofit/>
          </a:bodyPr>
          <a:lstStyle/>
          <a:p>
            <a:pPr marL="0" lvl="0" indent="0" algn="just"/>
            <a:r>
              <a:rPr lang="id-ID" sz="2000" noProof="0" dirty="0"/>
              <a:t>	Manfaat yang diharapkan dari penelitian ini adalah memberikan solusi bagi MIN 3 Pontianak dalam mengelola jaringan secara lebih terstruktur dan efisien. Melalui penerapan metode manajemen </a:t>
            </a:r>
            <a:r>
              <a:rPr lang="id-ID" sz="2000" i="1" noProof="0" dirty="0" err="1"/>
              <a:t>bandwidth</a:t>
            </a:r>
            <a:r>
              <a:rPr lang="id-ID" sz="2000" noProof="0" dirty="0"/>
              <a:t> serta pemisahan jaringan, akses internet dapat dikendalikan sesuai kebutuhan</a:t>
            </a:r>
            <a:endParaRPr lang="id-ID" sz="2800" noProof="0" dirty="0"/>
          </a:p>
        </p:txBody>
      </p:sp>
      <p:grpSp>
        <p:nvGrpSpPr>
          <p:cNvPr id="434" name="Google Shape;434;p36"/>
          <p:cNvGrpSpPr/>
          <p:nvPr/>
        </p:nvGrpSpPr>
        <p:grpSpPr>
          <a:xfrm>
            <a:off x="350039" y="3944000"/>
            <a:ext cx="2536147" cy="887325"/>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Tree>
    <p:extLst>
      <p:ext uri="{BB962C8B-B14F-4D97-AF65-F5344CB8AC3E}">
        <p14:creationId xmlns:p14="http://schemas.microsoft.com/office/powerpoint/2010/main" val="1342011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44"/>
          <p:cNvSpPr txBox="1">
            <a:spLocks noGrp="1"/>
          </p:cNvSpPr>
          <p:nvPr>
            <p:ph type="title"/>
          </p:nvPr>
        </p:nvSpPr>
        <p:spPr>
          <a:xfrm>
            <a:off x="4355250" y="1307100"/>
            <a:ext cx="40755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sz="6000" noProof="0" dirty="0"/>
              <a:t>Landasan </a:t>
            </a:r>
            <a:r>
              <a:rPr lang="id-ID" sz="6000" noProof="0" dirty="0">
                <a:solidFill>
                  <a:schemeClr val="accent4"/>
                </a:solidFill>
              </a:rPr>
              <a:t>teori</a:t>
            </a:r>
          </a:p>
        </p:txBody>
      </p:sp>
      <p:grpSp>
        <p:nvGrpSpPr>
          <p:cNvPr id="709" name="Google Shape;709;p44"/>
          <p:cNvGrpSpPr/>
          <p:nvPr/>
        </p:nvGrpSpPr>
        <p:grpSpPr>
          <a:xfrm>
            <a:off x="335642" y="696438"/>
            <a:ext cx="2932044" cy="3907563"/>
            <a:chOff x="335642" y="696438"/>
            <a:chExt cx="2932044" cy="3907563"/>
          </a:xfrm>
        </p:grpSpPr>
        <p:sp>
          <p:nvSpPr>
            <p:cNvPr id="710" name="Google Shape;710;p44"/>
            <p:cNvSpPr/>
            <p:nvPr/>
          </p:nvSpPr>
          <p:spPr>
            <a:xfrm>
              <a:off x="335642" y="70501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1" name="Google Shape;711;p44"/>
            <p:cNvSpPr/>
            <p:nvPr/>
          </p:nvSpPr>
          <p:spPr>
            <a:xfrm>
              <a:off x="821967" y="696438"/>
              <a:ext cx="354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2" name="Google Shape;712;p44"/>
            <p:cNvSpPr/>
            <p:nvPr/>
          </p:nvSpPr>
          <p:spPr>
            <a:xfrm>
              <a:off x="335642" y="101723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3" name="Google Shape;713;p44"/>
            <p:cNvSpPr/>
            <p:nvPr/>
          </p:nvSpPr>
          <p:spPr>
            <a:xfrm>
              <a:off x="335642" y="1343950"/>
              <a:ext cx="354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4" name="Google Shape;714;p44"/>
            <p:cNvSpPr/>
            <p:nvPr/>
          </p:nvSpPr>
          <p:spPr>
            <a:xfrm>
              <a:off x="335642" y="1670688"/>
              <a:ext cx="354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5" name="Google Shape;715;p44"/>
            <p:cNvSpPr/>
            <p:nvPr/>
          </p:nvSpPr>
          <p:spPr>
            <a:xfrm>
              <a:off x="770496" y="1670688"/>
              <a:ext cx="454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6" name="Google Shape;716;p44"/>
            <p:cNvSpPr/>
            <p:nvPr/>
          </p:nvSpPr>
          <p:spPr>
            <a:xfrm>
              <a:off x="1304877" y="167068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7" name="Google Shape;717;p44"/>
            <p:cNvSpPr/>
            <p:nvPr/>
          </p:nvSpPr>
          <p:spPr>
            <a:xfrm>
              <a:off x="335642" y="1981263"/>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8" name="Google Shape;718;p44"/>
            <p:cNvSpPr/>
            <p:nvPr/>
          </p:nvSpPr>
          <p:spPr>
            <a:xfrm>
              <a:off x="335642" y="2324113"/>
              <a:ext cx="327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9" name="Google Shape;719;p44"/>
            <p:cNvSpPr/>
            <p:nvPr/>
          </p:nvSpPr>
          <p:spPr>
            <a:xfrm>
              <a:off x="335642" y="26330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0" name="Google Shape;720;p44"/>
            <p:cNvSpPr/>
            <p:nvPr/>
          </p:nvSpPr>
          <p:spPr>
            <a:xfrm>
              <a:off x="335642" y="2941963"/>
              <a:ext cx="32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1" name="Google Shape;721;p44"/>
            <p:cNvSpPr/>
            <p:nvPr/>
          </p:nvSpPr>
          <p:spPr>
            <a:xfrm>
              <a:off x="349364" y="37229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2" name="Google Shape;722;p44"/>
            <p:cNvSpPr/>
            <p:nvPr/>
          </p:nvSpPr>
          <p:spPr>
            <a:xfrm>
              <a:off x="770496" y="1981263"/>
              <a:ext cx="3276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3" name="Google Shape;723;p44"/>
            <p:cNvSpPr/>
            <p:nvPr/>
          </p:nvSpPr>
          <p:spPr>
            <a:xfrm>
              <a:off x="731557" y="232411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4" name="Google Shape;724;p44"/>
            <p:cNvSpPr/>
            <p:nvPr/>
          </p:nvSpPr>
          <p:spPr>
            <a:xfrm>
              <a:off x="770496" y="2633038"/>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5" name="Google Shape;725;p44"/>
            <p:cNvSpPr/>
            <p:nvPr/>
          </p:nvSpPr>
          <p:spPr>
            <a:xfrm>
              <a:off x="770496" y="2958925"/>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6" name="Google Shape;726;p44"/>
            <p:cNvSpPr/>
            <p:nvPr/>
          </p:nvSpPr>
          <p:spPr>
            <a:xfrm>
              <a:off x="770496" y="3284813"/>
              <a:ext cx="3276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7" name="Google Shape;727;p44"/>
            <p:cNvSpPr/>
            <p:nvPr/>
          </p:nvSpPr>
          <p:spPr>
            <a:xfrm>
              <a:off x="1174186" y="1981263"/>
              <a:ext cx="6333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8" name="Google Shape;728;p44"/>
            <p:cNvSpPr/>
            <p:nvPr/>
          </p:nvSpPr>
          <p:spPr>
            <a:xfrm>
              <a:off x="1174186" y="2324113"/>
              <a:ext cx="884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9" name="Google Shape;729;p44"/>
            <p:cNvSpPr/>
            <p:nvPr/>
          </p:nvSpPr>
          <p:spPr>
            <a:xfrm>
              <a:off x="1205349" y="2633038"/>
              <a:ext cx="1029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0" name="Google Shape;730;p44"/>
            <p:cNvSpPr/>
            <p:nvPr/>
          </p:nvSpPr>
          <p:spPr>
            <a:xfrm>
              <a:off x="1205349" y="2977538"/>
              <a:ext cx="1029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1" name="Google Shape;731;p44"/>
            <p:cNvSpPr/>
            <p:nvPr/>
          </p:nvSpPr>
          <p:spPr>
            <a:xfrm>
              <a:off x="1205349" y="3284813"/>
              <a:ext cx="1029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2" name="Google Shape;732;p44"/>
            <p:cNvSpPr/>
            <p:nvPr/>
          </p:nvSpPr>
          <p:spPr>
            <a:xfrm>
              <a:off x="1883777" y="1981263"/>
              <a:ext cx="576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3" name="Google Shape;733;p44"/>
            <p:cNvSpPr/>
            <p:nvPr/>
          </p:nvSpPr>
          <p:spPr>
            <a:xfrm>
              <a:off x="2174096" y="2307150"/>
              <a:ext cx="576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4" name="Google Shape;734;p44"/>
            <p:cNvSpPr/>
            <p:nvPr/>
          </p:nvSpPr>
          <p:spPr>
            <a:xfrm>
              <a:off x="2342750" y="263306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5" name="Google Shape;735;p44"/>
            <p:cNvSpPr/>
            <p:nvPr/>
          </p:nvSpPr>
          <p:spPr>
            <a:xfrm>
              <a:off x="2342750" y="3284863"/>
              <a:ext cx="3549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6" name="Google Shape;736;p44"/>
            <p:cNvSpPr/>
            <p:nvPr/>
          </p:nvSpPr>
          <p:spPr>
            <a:xfrm>
              <a:off x="349364" y="396201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7" name="Google Shape;737;p44"/>
            <p:cNvSpPr/>
            <p:nvPr/>
          </p:nvSpPr>
          <p:spPr>
            <a:xfrm>
              <a:off x="731557" y="424551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8" name="Google Shape;738;p44"/>
            <p:cNvSpPr/>
            <p:nvPr/>
          </p:nvSpPr>
          <p:spPr>
            <a:xfrm>
              <a:off x="1224956" y="4245513"/>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9" name="Google Shape;739;p44"/>
            <p:cNvSpPr/>
            <p:nvPr/>
          </p:nvSpPr>
          <p:spPr>
            <a:xfrm>
              <a:off x="1883777" y="4245513"/>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0" name="Google Shape;740;p44"/>
            <p:cNvSpPr/>
            <p:nvPr/>
          </p:nvSpPr>
          <p:spPr>
            <a:xfrm>
              <a:off x="2634075" y="4245513"/>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1" name="Google Shape;741;p44"/>
            <p:cNvSpPr/>
            <p:nvPr/>
          </p:nvSpPr>
          <p:spPr>
            <a:xfrm>
              <a:off x="731557" y="4454038"/>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2" name="Google Shape;742;p44"/>
            <p:cNvSpPr/>
            <p:nvPr/>
          </p:nvSpPr>
          <p:spPr>
            <a:xfrm>
              <a:off x="1224956" y="4454038"/>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3" name="Google Shape;743;p44"/>
            <p:cNvSpPr/>
            <p:nvPr/>
          </p:nvSpPr>
          <p:spPr>
            <a:xfrm>
              <a:off x="2169156" y="4454038"/>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4" name="Google Shape;744;p44"/>
            <p:cNvSpPr/>
            <p:nvPr/>
          </p:nvSpPr>
          <p:spPr>
            <a:xfrm>
              <a:off x="1250486" y="7083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5" name="Google Shape;745;p44"/>
            <p:cNvSpPr/>
            <p:nvPr/>
          </p:nvSpPr>
          <p:spPr>
            <a:xfrm>
              <a:off x="821986" y="10172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6" name="Google Shape;746;p44"/>
            <p:cNvSpPr/>
            <p:nvPr/>
          </p:nvSpPr>
          <p:spPr>
            <a:xfrm>
              <a:off x="1555286" y="10131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7" name="Google Shape;747;p44"/>
            <p:cNvSpPr/>
            <p:nvPr/>
          </p:nvSpPr>
          <p:spPr>
            <a:xfrm>
              <a:off x="821979" y="134398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8" name="Google Shape;748;p44"/>
            <p:cNvSpPr/>
            <p:nvPr/>
          </p:nvSpPr>
          <p:spPr>
            <a:xfrm>
              <a:off x="1739729" y="1668625"/>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9" name="Google Shape;749;p44"/>
            <p:cNvSpPr/>
            <p:nvPr/>
          </p:nvSpPr>
          <p:spPr>
            <a:xfrm>
              <a:off x="2342754" y="297753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0" name="Google Shape;750;p44"/>
            <p:cNvSpPr/>
            <p:nvPr/>
          </p:nvSpPr>
          <p:spPr>
            <a:xfrm>
              <a:off x="2537025" y="1981263"/>
              <a:ext cx="327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1" name="Google Shape;751;p44"/>
            <p:cNvSpPr/>
            <p:nvPr/>
          </p:nvSpPr>
          <p:spPr>
            <a:xfrm>
              <a:off x="2805050" y="2633038"/>
              <a:ext cx="327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2" name="Google Shape;752;p44"/>
            <p:cNvSpPr/>
            <p:nvPr/>
          </p:nvSpPr>
          <p:spPr>
            <a:xfrm>
              <a:off x="2634386" y="44561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3" name="Google Shape;753;p44"/>
            <p:cNvSpPr/>
            <p:nvPr/>
          </p:nvSpPr>
          <p:spPr>
            <a:xfrm>
              <a:off x="770511" y="393657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4" name="Google Shape;754;p44"/>
            <p:cNvSpPr/>
            <p:nvPr/>
          </p:nvSpPr>
          <p:spPr>
            <a:xfrm>
              <a:off x="770511" y="370647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755" name="Google Shape;755;p44"/>
          <p:cNvSpPr txBox="1"/>
          <p:nvPr/>
        </p:nvSpPr>
        <p:spPr>
          <a:xfrm>
            <a:off x="4014788" y="24535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2"/>
                </a:solidFill>
                <a:latin typeface="Comfortaa"/>
                <a:ea typeface="Comfortaa"/>
                <a:cs typeface="Comfortaa"/>
                <a:sym typeface="Comfortaa"/>
              </a:rPr>
              <a:t>{</a:t>
            </a:r>
          </a:p>
        </p:txBody>
      </p:sp>
      <p:sp>
        <p:nvSpPr>
          <p:cNvPr id="756" name="Google Shape;756;p44"/>
          <p:cNvSpPr txBox="1"/>
          <p:nvPr/>
        </p:nvSpPr>
        <p:spPr>
          <a:xfrm>
            <a:off x="7313175" y="3836400"/>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757" name="Google Shape;757;p44"/>
          <p:cNvSpPr txBox="1"/>
          <p:nvPr/>
        </p:nvSpPr>
        <p:spPr>
          <a:xfrm>
            <a:off x="7778275" y="4049400"/>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
        <p:nvSpPr>
          <p:cNvPr id="758" name="Google Shape;758;p44"/>
          <p:cNvSpPr txBox="1"/>
          <p:nvPr/>
        </p:nvSpPr>
        <p:spPr>
          <a:xfrm>
            <a:off x="4459138" y="460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5"/>
                </a:solidFill>
                <a:latin typeface="Fira Code"/>
                <a:ea typeface="Fira Code"/>
                <a:cs typeface="Fira Code"/>
                <a:sym typeface="Fira Code"/>
              </a:rPr>
              <a:t>..</a:t>
            </a:r>
            <a:endParaRPr lang="id-ID" sz="5000" noProof="0" dirty="0">
              <a:solidFill>
                <a:schemeClr val="accent5"/>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6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Tinjauan </a:t>
            </a:r>
            <a:r>
              <a:rPr lang="id-ID" noProof="0" dirty="0">
                <a:solidFill>
                  <a:schemeClr val="accent4"/>
                </a:solidFill>
              </a:rPr>
              <a:t>Pustaka</a:t>
            </a:r>
          </a:p>
        </p:txBody>
      </p:sp>
      <p:graphicFrame>
        <p:nvGraphicFramePr>
          <p:cNvPr id="1306" name="Google Shape;1306;p61"/>
          <p:cNvGraphicFramePr/>
          <p:nvPr>
            <p:extLst>
              <p:ext uri="{D42A27DB-BD31-4B8C-83A1-F6EECF244321}">
                <p14:modId xmlns:p14="http://schemas.microsoft.com/office/powerpoint/2010/main" val="82526450"/>
              </p:ext>
            </p:extLst>
          </p:nvPr>
        </p:nvGraphicFramePr>
        <p:xfrm>
          <a:off x="719988" y="1557435"/>
          <a:ext cx="7703975" cy="3474700"/>
        </p:xfrm>
        <a:graphic>
          <a:graphicData uri="http://schemas.openxmlformats.org/drawingml/2006/table">
            <a:tbl>
              <a:tblPr>
                <a:noFill/>
                <a:tableStyleId>{D288A41C-ADF9-481E-9A2E-9AD63AB963D0}</a:tableStyleId>
              </a:tblPr>
              <a:tblGrid>
                <a:gridCol w="712205">
                  <a:extLst>
                    <a:ext uri="{9D8B030D-6E8A-4147-A177-3AD203B41FA5}">
                      <a16:colId xmlns:a16="http://schemas.microsoft.com/office/drawing/2014/main" val="20000"/>
                    </a:ext>
                  </a:extLst>
                </a:gridCol>
                <a:gridCol w="6991770">
                  <a:extLst>
                    <a:ext uri="{9D8B030D-6E8A-4147-A177-3AD203B41FA5}">
                      <a16:colId xmlns:a16="http://schemas.microsoft.com/office/drawing/2014/main" val="20001"/>
                    </a:ext>
                  </a:extLst>
                </a:gridCol>
              </a:tblGrid>
              <a:tr h="1370903">
                <a:tc>
                  <a:txBody>
                    <a:bodyPr/>
                    <a:lstStyle/>
                    <a:p>
                      <a:pPr marL="0" lvl="0" indent="0" algn="ctr" rtl="0">
                        <a:spcBef>
                          <a:spcPts val="0"/>
                        </a:spcBef>
                        <a:spcAft>
                          <a:spcPts val="0"/>
                        </a:spcAft>
                        <a:buNone/>
                      </a:pPr>
                      <a:r>
                        <a:rPr lang="id-ID" sz="1800" noProof="0" dirty="0">
                          <a:solidFill>
                            <a:srgbClr val="4E48AB"/>
                          </a:solidFill>
                          <a:latin typeface="Source Code Pro"/>
                          <a:ea typeface="Source Code Pro"/>
                          <a:cs typeface="Source Code Pro"/>
                          <a:sym typeface="Source Code Pro"/>
                        </a:rPr>
                        <a:t>1</a:t>
                      </a: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tc>
                  <a:txBody>
                    <a:bodyPr/>
                    <a:lstStyle/>
                    <a:p>
                      <a:pPr marL="0" lvl="0" indent="0" algn="just" rtl="0">
                        <a:spcBef>
                          <a:spcPts val="0"/>
                        </a:spcBef>
                        <a:spcAft>
                          <a:spcPts val="0"/>
                        </a:spcAft>
                        <a:buNone/>
                      </a:pPr>
                      <a:r>
                        <a:rPr lang="id-ID" sz="1400" noProof="0" dirty="0">
                          <a:solidFill>
                            <a:schemeClr val="tx1"/>
                          </a:solidFill>
                          <a:latin typeface="Source Code Pro" panose="020B0509030403020204" pitchFamily="49" charset="0"/>
                          <a:ea typeface="Source Code Pro" panose="020B0509030403020204" pitchFamily="49" charset="0"/>
                          <a:sym typeface="Source Code Pro Medium"/>
                        </a:rPr>
                        <a:t>Ndun, Y. J. (2025). Penerapan VLAN pada aplikasi </a:t>
                      </a:r>
                      <a:r>
                        <a:rPr lang="id-ID" sz="1400" noProof="0" dirty="0" err="1">
                          <a:solidFill>
                            <a:schemeClr val="tx1"/>
                          </a:solidFill>
                          <a:latin typeface="Source Code Pro" panose="020B0509030403020204" pitchFamily="49" charset="0"/>
                          <a:ea typeface="Source Code Pro" panose="020B0509030403020204" pitchFamily="49" charset="0"/>
                          <a:sym typeface="Source Code Pro Medium"/>
                        </a:rPr>
                        <a:t>Dapodik</a:t>
                      </a:r>
                      <a:r>
                        <a:rPr lang="id-ID" sz="1400" noProof="0" dirty="0">
                          <a:solidFill>
                            <a:schemeClr val="tx1"/>
                          </a:solidFill>
                          <a:latin typeface="Source Code Pro" panose="020B0509030403020204" pitchFamily="49" charset="0"/>
                          <a:ea typeface="Source Code Pro" panose="020B0509030403020204" pitchFamily="49" charset="0"/>
                          <a:sym typeface="Source Code Pro Medium"/>
                        </a:rPr>
                        <a:t> di sekolah dasar : Penerapan VLAN ini bertujuan untuk memisahkan jaringan berdasarkan alamat IP tertentu, sehingga dapat meningkatkan kinerja jaringan secara</a:t>
                      </a:r>
                      <a:r>
                        <a:rPr lang="en-US" sz="1400" noProof="0" dirty="0">
                          <a:solidFill>
                            <a:schemeClr val="tx1"/>
                          </a:solidFill>
                          <a:latin typeface="Source Code Pro" panose="020B0509030403020204" pitchFamily="49" charset="0"/>
                          <a:ea typeface="Source Code Pro" panose="020B0509030403020204" pitchFamily="49" charset="0"/>
                          <a:sym typeface="Source Code Pro Medium"/>
                        </a:rPr>
                        <a:t> </a:t>
                      </a:r>
                      <a:r>
                        <a:rPr lang="id-ID" sz="1400" noProof="0" dirty="0">
                          <a:solidFill>
                            <a:schemeClr val="tx1"/>
                          </a:solidFill>
                          <a:latin typeface="Source Code Pro" panose="020B0509030403020204" pitchFamily="49" charset="0"/>
                          <a:ea typeface="Source Code Pro" panose="020B0509030403020204" pitchFamily="49" charset="0"/>
                          <a:sym typeface="Source Code Pro Medium"/>
                        </a:rPr>
                        <a:t>keseluruhan serta mendukung kelancaran pertukaran data antar jaringan dengan lebih efektif dan aman.</a:t>
                      </a: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extLst>
                  <a:ext uri="{0D108BD9-81ED-4DB2-BD59-A6C34878D82A}">
                    <a16:rowId xmlns:a16="http://schemas.microsoft.com/office/drawing/2014/main" val="10000"/>
                  </a:ext>
                </a:extLst>
              </a:tr>
              <a:tr h="1990026">
                <a:tc>
                  <a:txBody>
                    <a:bodyPr/>
                    <a:lstStyle/>
                    <a:p>
                      <a:pPr marL="0" lvl="0" indent="0" algn="ctr" rtl="0">
                        <a:spcBef>
                          <a:spcPts val="0"/>
                        </a:spcBef>
                        <a:spcAft>
                          <a:spcPts val="0"/>
                        </a:spcAft>
                        <a:buNone/>
                      </a:pPr>
                      <a:r>
                        <a:rPr lang="id-ID" sz="1800" noProof="0" dirty="0">
                          <a:solidFill>
                            <a:schemeClr val="accent3"/>
                          </a:solidFill>
                          <a:latin typeface="Source Code Pro Medium"/>
                          <a:ea typeface="Source Code Pro Medium"/>
                          <a:cs typeface="Source Code Pro Medium"/>
                          <a:sym typeface="Source Code Pro Medium"/>
                        </a:rPr>
                        <a:t>2</a:t>
                      </a: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tc>
                  <a:txBody>
                    <a:bodyPr/>
                    <a:lstStyle/>
                    <a:p>
                      <a:pPr marL="0" lvl="0" indent="0" algn="just" rtl="0">
                        <a:spcBef>
                          <a:spcPts val="0"/>
                        </a:spcBef>
                        <a:spcAft>
                          <a:spcPts val="0"/>
                        </a:spcAft>
                        <a:buNone/>
                      </a:pPr>
                      <a:r>
                        <a:rPr lang="id-ID" sz="1400" noProof="0" dirty="0" err="1">
                          <a:solidFill>
                            <a:schemeClr val="tx1"/>
                          </a:solidFill>
                          <a:latin typeface="Source Code Pro"/>
                          <a:ea typeface="Source Code Pro"/>
                          <a:sym typeface="Source Code Pro"/>
                        </a:rPr>
                        <a:t>Marsehan</a:t>
                      </a:r>
                      <a:r>
                        <a:rPr lang="id-ID" sz="1400" noProof="0" dirty="0">
                          <a:solidFill>
                            <a:schemeClr val="tx1"/>
                          </a:solidFill>
                          <a:latin typeface="Source Code Pro"/>
                          <a:ea typeface="Source Code Pro"/>
                          <a:sym typeface="Source Code Pro"/>
                        </a:rPr>
                        <a:t>, A., Wicaksono, A. A., &amp; </a:t>
                      </a:r>
                      <a:r>
                        <a:rPr lang="id-ID" sz="1400" noProof="0" dirty="0" err="1">
                          <a:solidFill>
                            <a:schemeClr val="tx1"/>
                          </a:solidFill>
                          <a:latin typeface="Source Code Pro"/>
                          <a:ea typeface="Source Code Pro"/>
                          <a:sym typeface="Source Code Pro"/>
                        </a:rPr>
                        <a:t>Inkariski</a:t>
                      </a:r>
                      <a:r>
                        <a:rPr lang="id-ID" sz="1400" noProof="0" dirty="0">
                          <a:solidFill>
                            <a:schemeClr val="tx1"/>
                          </a:solidFill>
                          <a:latin typeface="Source Code Pro"/>
                          <a:ea typeface="Source Code Pro"/>
                          <a:sym typeface="Source Code Pro"/>
                        </a:rPr>
                        <a:t>, S. I. (2025). Perancangan VLAN di SMK Pertanian : Penelitian ini berhasil merancang jaringan komputer berbasis Virtual </a:t>
                      </a:r>
                      <a:r>
                        <a:rPr lang="id-ID" sz="1400" noProof="0" dirty="0" err="1">
                          <a:solidFill>
                            <a:schemeClr val="tx1"/>
                          </a:solidFill>
                          <a:latin typeface="Source Code Pro"/>
                          <a:ea typeface="Source Code Pro"/>
                          <a:sym typeface="Source Code Pro"/>
                        </a:rPr>
                        <a:t>Local</a:t>
                      </a:r>
                      <a:r>
                        <a:rPr lang="id-ID" sz="1400" noProof="0" dirty="0">
                          <a:solidFill>
                            <a:schemeClr val="tx1"/>
                          </a:solidFill>
                          <a:latin typeface="Source Code Pro"/>
                          <a:ea typeface="Source Code Pro"/>
                          <a:sym typeface="Source Code Pro"/>
                        </a:rPr>
                        <a:t> Area Network (VLAN) di SMK Pertanian Negeri 2 </a:t>
                      </a:r>
                      <a:r>
                        <a:rPr lang="id-ID" sz="1400" noProof="0" dirty="0" err="1">
                          <a:solidFill>
                            <a:schemeClr val="tx1"/>
                          </a:solidFill>
                          <a:latin typeface="Source Code Pro"/>
                          <a:ea typeface="Source Code Pro"/>
                          <a:sym typeface="Source Code Pro"/>
                        </a:rPr>
                        <a:t>Tugumulyo</a:t>
                      </a:r>
                      <a:r>
                        <a:rPr lang="id-ID" sz="1400" noProof="0" dirty="0">
                          <a:solidFill>
                            <a:schemeClr val="tx1"/>
                          </a:solidFill>
                          <a:latin typeface="Source Code Pro"/>
                          <a:ea typeface="Source Code Pro"/>
                          <a:sym typeface="Source Code Pro"/>
                        </a:rPr>
                        <a:t> menggunakan metode PPDIOO dan simulasi </a:t>
                      </a:r>
                      <a:r>
                        <a:rPr lang="id-ID" sz="1400" noProof="0" dirty="0" err="1">
                          <a:solidFill>
                            <a:schemeClr val="tx1"/>
                          </a:solidFill>
                          <a:latin typeface="Source Code Pro"/>
                          <a:ea typeface="Source Code Pro"/>
                          <a:sym typeface="Source Code Pro"/>
                        </a:rPr>
                        <a:t>Cisco</a:t>
                      </a:r>
                      <a:r>
                        <a:rPr lang="id-ID" sz="1400" noProof="0" dirty="0">
                          <a:solidFill>
                            <a:schemeClr val="tx1"/>
                          </a:solidFill>
                          <a:latin typeface="Source Code Pro"/>
                          <a:ea typeface="Source Code Pro"/>
                          <a:sym typeface="Source Code Pro"/>
                        </a:rPr>
                        <a:t> </a:t>
                      </a:r>
                      <a:r>
                        <a:rPr lang="id-ID" sz="1400" noProof="0" dirty="0" err="1">
                          <a:solidFill>
                            <a:schemeClr val="tx1"/>
                          </a:solidFill>
                          <a:latin typeface="Source Code Pro"/>
                          <a:ea typeface="Source Code Pro"/>
                          <a:sym typeface="Source Code Pro"/>
                        </a:rPr>
                        <a:t>Packet</a:t>
                      </a:r>
                      <a:r>
                        <a:rPr lang="id-ID" sz="1400" noProof="0" dirty="0">
                          <a:solidFill>
                            <a:schemeClr val="tx1"/>
                          </a:solidFill>
                          <a:latin typeface="Source Code Pro"/>
                          <a:ea typeface="Source Code Pro"/>
                          <a:sym typeface="Source Code Pro"/>
                        </a:rPr>
                        <a:t> </a:t>
                      </a:r>
                      <a:r>
                        <a:rPr lang="id-ID" sz="1400" noProof="0" dirty="0" err="1">
                          <a:solidFill>
                            <a:schemeClr val="tx1"/>
                          </a:solidFill>
                          <a:latin typeface="Source Code Pro"/>
                          <a:ea typeface="Source Code Pro"/>
                          <a:sym typeface="Source Code Pro"/>
                        </a:rPr>
                        <a:t>Tracer</a:t>
                      </a:r>
                      <a:r>
                        <a:rPr lang="id-ID" sz="1400" noProof="0" dirty="0">
                          <a:solidFill>
                            <a:schemeClr val="tx1"/>
                          </a:solidFill>
                          <a:latin typeface="Source Code Pro"/>
                          <a:ea typeface="Source Code Pro"/>
                          <a:sym typeface="Source Code Pro"/>
                        </a:rPr>
                        <a:t>. Hasil menunjukkan bahwa penerapan VLAN dan Access </a:t>
                      </a:r>
                      <a:r>
                        <a:rPr lang="id-ID" sz="1400" noProof="0" dirty="0" err="1">
                          <a:solidFill>
                            <a:schemeClr val="tx1"/>
                          </a:solidFill>
                          <a:latin typeface="Source Code Pro"/>
                          <a:ea typeface="Source Code Pro"/>
                          <a:sym typeface="Source Code Pro"/>
                        </a:rPr>
                        <a:t>Control</a:t>
                      </a:r>
                      <a:r>
                        <a:rPr lang="id-ID" sz="1400" noProof="0" dirty="0">
                          <a:solidFill>
                            <a:schemeClr val="tx1"/>
                          </a:solidFill>
                          <a:latin typeface="Source Code Pro"/>
                          <a:ea typeface="Source Code Pro"/>
                          <a:sym typeface="Source Code Pro"/>
                        </a:rPr>
                        <a:t> </a:t>
                      </a:r>
                      <a:r>
                        <a:rPr lang="id-ID" sz="1400" noProof="0" dirty="0" err="1">
                          <a:solidFill>
                            <a:schemeClr val="tx1"/>
                          </a:solidFill>
                          <a:latin typeface="Source Code Pro"/>
                          <a:ea typeface="Source Code Pro"/>
                          <a:sym typeface="Source Code Pro"/>
                        </a:rPr>
                        <a:t>List</a:t>
                      </a:r>
                      <a:r>
                        <a:rPr lang="id-ID" sz="1400" noProof="0" dirty="0">
                          <a:solidFill>
                            <a:schemeClr val="tx1"/>
                          </a:solidFill>
                          <a:latin typeface="Source Code Pro"/>
                          <a:ea typeface="Source Code Pro"/>
                          <a:sym typeface="Source Code Pro"/>
                        </a:rPr>
                        <a:t> (ACL) mampu meningkatkan efisiensi manajemen jaringan, mengurangi lalu lintas siaran yang tidak diperlukan, serta meningkatkan keamanan dengan membatasi akses antar segmen </a:t>
                      </a:r>
                      <a:r>
                        <a:rPr lang="id-ID" sz="1400" noProof="0">
                          <a:solidFill>
                            <a:schemeClr val="tx1"/>
                          </a:solidFill>
                          <a:latin typeface="Source Code Pro"/>
                          <a:ea typeface="Source Code Pro"/>
                          <a:sym typeface="Source Code Pro"/>
                        </a:rPr>
                        <a:t>jaringan.</a:t>
                      </a:r>
                      <a:endParaRPr lang="id-ID" sz="1400" noProof="0" dirty="0">
                        <a:solidFill>
                          <a:schemeClr val="tx1"/>
                        </a:solidFill>
                        <a:latin typeface="Source Code Pro"/>
                        <a:ea typeface="Source Code Pro"/>
                        <a:sym typeface="Source Code Pro"/>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extLst>
                  <a:ext uri="{0D108BD9-81ED-4DB2-BD59-A6C34878D82A}">
                    <a16:rowId xmlns:a16="http://schemas.microsoft.com/office/drawing/2014/main" val="10001"/>
                  </a:ext>
                </a:extLst>
              </a:tr>
            </a:tbl>
          </a:graphicData>
        </a:graphic>
      </p:graphicFrame>
      <p:sp>
        <p:nvSpPr>
          <p:cNvPr id="1307" name="Google Shape;1307;p61"/>
          <p:cNvSpPr txBox="1"/>
          <p:nvPr/>
        </p:nvSpPr>
        <p:spPr>
          <a:xfrm>
            <a:off x="101288" y="1222863"/>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5"/>
                </a:solidFill>
                <a:latin typeface="Comfortaa"/>
                <a:ea typeface="Comfortaa"/>
                <a:cs typeface="Comfortaa"/>
                <a:sym typeface="Comfortaa"/>
              </a:rPr>
              <a:t>{</a:t>
            </a:r>
          </a:p>
        </p:txBody>
      </p:sp>
      <p:sp>
        <p:nvSpPr>
          <p:cNvPr id="1308" name="Google Shape;1308;p61"/>
          <p:cNvSpPr txBox="1"/>
          <p:nvPr/>
        </p:nvSpPr>
        <p:spPr>
          <a:xfrm>
            <a:off x="8495700" y="4063450"/>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2"/>
                </a:solidFill>
                <a:latin typeface="Comfortaa"/>
                <a:ea typeface="Comfortaa"/>
                <a:cs typeface="Comfortaa"/>
                <a:sym typeface="Comfortaa"/>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04">
          <a:extLst>
            <a:ext uri="{FF2B5EF4-FFF2-40B4-BE49-F238E27FC236}">
              <a16:creationId xmlns:a16="http://schemas.microsoft.com/office/drawing/2014/main" id="{8852A07C-C8C4-C10A-22A1-98E0C872A1D0}"/>
            </a:ext>
          </a:extLst>
        </p:cNvPr>
        <p:cNvGrpSpPr/>
        <p:nvPr/>
      </p:nvGrpSpPr>
      <p:grpSpPr>
        <a:xfrm>
          <a:off x="0" y="0"/>
          <a:ext cx="0" cy="0"/>
          <a:chOff x="0" y="0"/>
          <a:chExt cx="0" cy="0"/>
        </a:xfrm>
      </p:grpSpPr>
      <p:sp>
        <p:nvSpPr>
          <p:cNvPr id="1305" name="Google Shape;1305;p61">
            <a:extLst>
              <a:ext uri="{FF2B5EF4-FFF2-40B4-BE49-F238E27FC236}">
                <a16:creationId xmlns:a16="http://schemas.microsoft.com/office/drawing/2014/main" id="{7311F8BC-078B-4B63-1633-9A4BB0C71ED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Tinjauan </a:t>
            </a:r>
            <a:r>
              <a:rPr lang="id-ID" noProof="0" dirty="0">
                <a:solidFill>
                  <a:schemeClr val="accent4"/>
                </a:solidFill>
              </a:rPr>
              <a:t>Pustaka</a:t>
            </a:r>
          </a:p>
        </p:txBody>
      </p:sp>
      <p:graphicFrame>
        <p:nvGraphicFramePr>
          <p:cNvPr id="1306" name="Google Shape;1306;p61">
            <a:extLst>
              <a:ext uri="{FF2B5EF4-FFF2-40B4-BE49-F238E27FC236}">
                <a16:creationId xmlns:a16="http://schemas.microsoft.com/office/drawing/2014/main" id="{88E6B16A-A7DD-6D8C-F027-9B77CEB8F7A9}"/>
              </a:ext>
            </a:extLst>
          </p:cNvPr>
          <p:cNvGraphicFramePr/>
          <p:nvPr>
            <p:extLst>
              <p:ext uri="{D42A27DB-BD31-4B8C-83A1-F6EECF244321}">
                <p14:modId xmlns:p14="http://schemas.microsoft.com/office/powerpoint/2010/main" val="970196857"/>
              </p:ext>
            </p:extLst>
          </p:nvPr>
        </p:nvGraphicFramePr>
        <p:xfrm>
          <a:off x="719988" y="1557434"/>
          <a:ext cx="7703975" cy="3201601"/>
        </p:xfrm>
        <a:graphic>
          <a:graphicData uri="http://schemas.openxmlformats.org/drawingml/2006/table">
            <a:tbl>
              <a:tblPr>
                <a:noFill/>
                <a:tableStyleId>{D288A41C-ADF9-481E-9A2E-9AD63AB963D0}</a:tableStyleId>
              </a:tblPr>
              <a:tblGrid>
                <a:gridCol w="712205">
                  <a:extLst>
                    <a:ext uri="{9D8B030D-6E8A-4147-A177-3AD203B41FA5}">
                      <a16:colId xmlns:a16="http://schemas.microsoft.com/office/drawing/2014/main" val="20000"/>
                    </a:ext>
                  </a:extLst>
                </a:gridCol>
                <a:gridCol w="6991770">
                  <a:extLst>
                    <a:ext uri="{9D8B030D-6E8A-4147-A177-3AD203B41FA5}">
                      <a16:colId xmlns:a16="http://schemas.microsoft.com/office/drawing/2014/main" val="20001"/>
                    </a:ext>
                  </a:extLst>
                </a:gridCol>
              </a:tblGrid>
              <a:tr h="3201601">
                <a:tc>
                  <a:txBody>
                    <a:bodyPr/>
                    <a:lstStyle/>
                    <a:p>
                      <a:pPr marL="0" lvl="0" indent="0" algn="ctr" rtl="0">
                        <a:spcBef>
                          <a:spcPts val="0"/>
                        </a:spcBef>
                        <a:spcAft>
                          <a:spcPts val="0"/>
                        </a:spcAft>
                        <a:buNone/>
                      </a:pPr>
                      <a:r>
                        <a:rPr lang="id-ID" sz="2000" noProof="0" dirty="0">
                          <a:solidFill>
                            <a:schemeClr val="lt2"/>
                          </a:solidFill>
                          <a:latin typeface="Source Code Pro Medium"/>
                          <a:ea typeface="Source Code Pro Medium"/>
                          <a:cs typeface="Source Code Pro Medium"/>
                          <a:sym typeface="Source Code Pro Medium"/>
                        </a:rPr>
                        <a:t>3</a:t>
                      </a:r>
                    </a:p>
                  </a:txBody>
                  <a:tcPr marL="91425" marR="91425" marT="68575" marB="6857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tc>
                  <a:txBody>
                    <a:bodyPr/>
                    <a:lstStyle/>
                    <a:p>
                      <a:pPr marL="0" lvl="0" indent="0" algn="just" rtl="0">
                        <a:spcBef>
                          <a:spcPts val="0"/>
                        </a:spcBef>
                        <a:spcAft>
                          <a:spcPts val="0"/>
                        </a:spcAft>
                        <a:buNone/>
                      </a:pPr>
                      <a:r>
                        <a:rPr lang="id-ID" sz="1600" noProof="0" dirty="0" err="1">
                          <a:solidFill>
                            <a:schemeClr val="tx1"/>
                          </a:solidFill>
                          <a:latin typeface="Source Code Pro"/>
                          <a:ea typeface="Source Code Pro"/>
                          <a:sym typeface="Source Code Pro"/>
                        </a:rPr>
                        <a:t>Lienardy</a:t>
                      </a:r>
                      <a:r>
                        <a:rPr lang="id-ID" sz="1600" noProof="0" dirty="0">
                          <a:solidFill>
                            <a:schemeClr val="tx1"/>
                          </a:solidFill>
                          <a:latin typeface="Source Code Pro"/>
                          <a:ea typeface="Source Code Pro"/>
                          <a:sym typeface="Source Code Pro"/>
                        </a:rPr>
                        <a:t>, G., </a:t>
                      </a:r>
                      <a:r>
                        <a:rPr lang="id-ID" sz="1600" noProof="0" dirty="0" err="1">
                          <a:solidFill>
                            <a:schemeClr val="tx1"/>
                          </a:solidFill>
                          <a:latin typeface="Source Code Pro"/>
                          <a:ea typeface="Source Code Pro"/>
                          <a:sym typeface="Source Code Pro"/>
                        </a:rPr>
                        <a:t>Dharmalau</a:t>
                      </a:r>
                      <a:r>
                        <a:rPr lang="id-ID" sz="1600" noProof="0" dirty="0">
                          <a:solidFill>
                            <a:schemeClr val="tx1"/>
                          </a:solidFill>
                          <a:latin typeface="Source Code Pro"/>
                          <a:ea typeface="Source Code Pro"/>
                          <a:sym typeface="Source Code Pro"/>
                        </a:rPr>
                        <a:t>, A., Sucahyo, N., &amp; </a:t>
                      </a:r>
                      <a:r>
                        <a:rPr lang="id-ID" sz="1600" noProof="0" dirty="0" err="1">
                          <a:solidFill>
                            <a:schemeClr val="tx1"/>
                          </a:solidFill>
                          <a:latin typeface="Source Code Pro"/>
                          <a:ea typeface="Source Code Pro"/>
                          <a:sym typeface="Source Code Pro"/>
                        </a:rPr>
                        <a:t>Hiswara</a:t>
                      </a:r>
                      <a:r>
                        <a:rPr lang="id-ID" sz="1600" noProof="0" dirty="0">
                          <a:solidFill>
                            <a:schemeClr val="tx1"/>
                          </a:solidFill>
                          <a:latin typeface="Source Code Pro"/>
                          <a:ea typeface="Source Code Pro"/>
                          <a:sym typeface="Source Code Pro"/>
                        </a:rPr>
                        <a:t>, I. (2025). Implementasi Manajemen </a:t>
                      </a:r>
                      <a:r>
                        <a:rPr lang="id-ID" sz="1600" noProof="0" dirty="0" err="1">
                          <a:solidFill>
                            <a:schemeClr val="tx1"/>
                          </a:solidFill>
                          <a:latin typeface="Source Code Pro"/>
                          <a:ea typeface="Source Code Pro"/>
                          <a:sym typeface="Source Code Pro"/>
                        </a:rPr>
                        <a:t>Bandwidth</a:t>
                      </a:r>
                      <a:r>
                        <a:rPr lang="id-ID" sz="1600" noProof="0" dirty="0">
                          <a:solidFill>
                            <a:schemeClr val="tx1"/>
                          </a:solidFill>
                          <a:latin typeface="Source Code Pro"/>
                          <a:ea typeface="Source Code Pro"/>
                          <a:sym typeface="Source Code Pro"/>
                        </a:rPr>
                        <a:t> Dan </a:t>
                      </a:r>
                      <a:r>
                        <a:rPr lang="id-ID" sz="1600" noProof="0" dirty="0" err="1">
                          <a:solidFill>
                            <a:schemeClr val="tx1"/>
                          </a:solidFill>
                          <a:latin typeface="Source Code Pro"/>
                          <a:ea typeface="Source Code Pro"/>
                          <a:sym typeface="Source Code Pro"/>
                        </a:rPr>
                        <a:t>Firewall</a:t>
                      </a:r>
                      <a:r>
                        <a:rPr lang="id-ID" sz="1600" noProof="0" dirty="0">
                          <a:solidFill>
                            <a:schemeClr val="tx1"/>
                          </a:solidFill>
                          <a:latin typeface="Source Code Pro"/>
                          <a:ea typeface="Source Code Pro"/>
                          <a:sym typeface="Source Code Pro"/>
                        </a:rPr>
                        <a:t> Menggunakan </a:t>
                      </a:r>
                      <a:r>
                        <a:rPr lang="id-ID" sz="1600" noProof="0" dirty="0" err="1">
                          <a:solidFill>
                            <a:schemeClr val="tx1"/>
                          </a:solidFill>
                          <a:latin typeface="Source Code Pro"/>
                          <a:ea typeface="Source Code Pro"/>
                          <a:sym typeface="Source Code Pro"/>
                        </a:rPr>
                        <a:t>Mikrotik</a:t>
                      </a:r>
                      <a:r>
                        <a:rPr lang="id-ID" sz="1600" noProof="0" dirty="0">
                          <a:solidFill>
                            <a:schemeClr val="tx1"/>
                          </a:solidFill>
                          <a:latin typeface="Source Code Pro"/>
                          <a:ea typeface="Source Code Pro"/>
                          <a:sym typeface="Source Code Pro"/>
                        </a:rPr>
                        <a:t> </a:t>
                      </a:r>
                      <a:r>
                        <a:rPr lang="id-ID" sz="1600" noProof="0" dirty="0" err="1">
                          <a:solidFill>
                            <a:schemeClr val="tx1"/>
                          </a:solidFill>
                          <a:latin typeface="Source Code Pro"/>
                          <a:ea typeface="Source Code Pro"/>
                          <a:sym typeface="Source Code Pro"/>
                        </a:rPr>
                        <a:t>Router</a:t>
                      </a:r>
                      <a:r>
                        <a:rPr lang="id-ID" sz="1600" noProof="0" dirty="0">
                          <a:solidFill>
                            <a:schemeClr val="tx1"/>
                          </a:solidFill>
                          <a:latin typeface="Source Code Pro"/>
                          <a:ea typeface="Source Code Pro"/>
                          <a:sym typeface="Source Code Pro"/>
                        </a:rPr>
                        <a:t> Pada Infrastruktur Jaringan Di SMA Budi Mulia Jakarta. : Infrastruktur jaringan yang berjalan pada SMA Budi Mulia belum memiliki sistem pembagian internet yang memudahkan dan mempercepat efisiensi dan </a:t>
                      </a:r>
                      <a:r>
                        <a:rPr lang="id-ID" sz="1600" noProof="0" dirty="0" err="1">
                          <a:solidFill>
                            <a:schemeClr val="tx1"/>
                          </a:solidFill>
                          <a:latin typeface="Source Code Pro"/>
                          <a:ea typeface="Source Code Pro"/>
                          <a:sym typeface="Source Code Pro"/>
                        </a:rPr>
                        <a:t>efektifitas</a:t>
                      </a:r>
                      <a:r>
                        <a:rPr lang="id-ID" sz="1600" noProof="0" dirty="0">
                          <a:solidFill>
                            <a:schemeClr val="tx1"/>
                          </a:solidFill>
                          <a:latin typeface="Source Code Pro"/>
                          <a:ea typeface="Source Code Pro"/>
                          <a:sym typeface="Source Code Pro"/>
                        </a:rPr>
                        <a:t> kerja yang sesuai. Penerapan sistem manajemen </a:t>
                      </a:r>
                      <a:r>
                        <a:rPr lang="id-ID" sz="1600" noProof="0" dirty="0" err="1">
                          <a:solidFill>
                            <a:schemeClr val="tx1"/>
                          </a:solidFill>
                          <a:latin typeface="Source Code Pro"/>
                          <a:ea typeface="Source Code Pro"/>
                          <a:sym typeface="Source Code Pro"/>
                        </a:rPr>
                        <a:t>bandwidth</a:t>
                      </a:r>
                      <a:r>
                        <a:rPr lang="id-ID" sz="1600" noProof="0" dirty="0">
                          <a:solidFill>
                            <a:schemeClr val="tx1"/>
                          </a:solidFill>
                          <a:latin typeface="Source Code Pro"/>
                          <a:ea typeface="Source Code Pro"/>
                          <a:sym typeface="Source Code Pro"/>
                        </a:rPr>
                        <a:t> dan </a:t>
                      </a:r>
                      <a:r>
                        <a:rPr lang="id-ID" sz="1600" noProof="0" dirty="0" err="1">
                          <a:solidFill>
                            <a:schemeClr val="tx1"/>
                          </a:solidFill>
                          <a:latin typeface="Source Code Pro"/>
                          <a:ea typeface="Source Code Pro"/>
                          <a:sym typeface="Source Code Pro"/>
                        </a:rPr>
                        <a:t>firewall</a:t>
                      </a:r>
                      <a:r>
                        <a:rPr lang="id-ID" sz="1600" noProof="0" dirty="0">
                          <a:solidFill>
                            <a:schemeClr val="tx1"/>
                          </a:solidFill>
                          <a:latin typeface="Source Code Pro"/>
                          <a:ea typeface="Source Code Pro"/>
                          <a:sym typeface="Source Code Pro"/>
                        </a:rPr>
                        <a:t> menggunakan </a:t>
                      </a:r>
                      <a:r>
                        <a:rPr lang="id-ID" sz="1600" noProof="0" dirty="0" err="1">
                          <a:solidFill>
                            <a:schemeClr val="tx1"/>
                          </a:solidFill>
                          <a:latin typeface="Source Code Pro"/>
                          <a:ea typeface="Source Code Pro"/>
                          <a:sym typeface="Source Code Pro"/>
                        </a:rPr>
                        <a:t>Mikrotik</a:t>
                      </a:r>
                      <a:r>
                        <a:rPr lang="id-ID" sz="1600" noProof="0" dirty="0">
                          <a:solidFill>
                            <a:schemeClr val="tx1"/>
                          </a:solidFill>
                          <a:latin typeface="Source Code Pro"/>
                          <a:ea typeface="Source Code Pro"/>
                          <a:sym typeface="Source Code Pro"/>
                        </a:rPr>
                        <a:t> </a:t>
                      </a:r>
                      <a:r>
                        <a:rPr lang="id-ID" sz="1600" noProof="0" dirty="0" err="1">
                          <a:solidFill>
                            <a:schemeClr val="tx1"/>
                          </a:solidFill>
                          <a:latin typeface="Source Code Pro"/>
                          <a:ea typeface="Source Code Pro"/>
                          <a:sym typeface="Source Code Pro"/>
                        </a:rPr>
                        <a:t>Router</a:t>
                      </a:r>
                      <a:r>
                        <a:rPr lang="id-ID" sz="1600" noProof="0" dirty="0">
                          <a:solidFill>
                            <a:schemeClr val="tx1"/>
                          </a:solidFill>
                          <a:latin typeface="Source Code Pro"/>
                          <a:ea typeface="Source Code Pro"/>
                          <a:sym typeface="Source Code Pro"/>
                        </a:rPr>
                        <a:t> pada Infrastruktur Jaringan di SMA Budi Mulia mampu menyelesaikan permasalahan yang ada. </a:t>
                      </a:r>
                    </a:p>
                  </a:txBody>
                  <a:tcPr marL="91425" marR="91425" marT="68575" marB="6857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6"/>
                    </a:solidFill>
                  </a:tcPr>
                </a:tc>
                <a:extLst>
                  <a:ext uri="{0D108BD9-81ED-4DB2-BD59-A6C34878D82A}">
                    <a16:rowId xmlns:a16="http://schemas.microsoft.com/office/drawing/2014/main" val="10002"/>
                  </a:ext>
                </a:extLst>
              </a:tr>
            </a:tbl>
          </a:graphicData>
        </a:graphic>
      </p:graphicFrame>
      <p:sp>
        <p:nvSpPr>
          <p:cNvPr id="1307" name="Google Shape;1307;p61">
            <a:extLst>
              <a:ext uri="{FF2B5EF4-FFF2-40B4-BE49-F238E27FC236}">
                <a16:creationId xmlns:a16="http://schemas.microsoft.com/office/drawing/2014/main" id="{2F5CA4A6-B1ED-93D1-3CF9-6D38D309E134}"/>
              </a:ext>
            </a:extLst>
          </p:cNvPr>
          <p:cNvSpPr txBox="1"/>
          <p:nvPr/>
        </p:nvSpPr>
        <p:spPr>
          <a:xfrm>
            <a:off x="101288" y="1222863"/>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5"/>
                </a:solidFill>
                <a:latin typeface="Comfortaa"/>
                <a:ea typeface="Comfortaa"/>
                <a:cs typeface="Comfortaa"/>
                <a:sym typeface="Comfortaa"/>
              </a:rPr>
              <a:t>{</a:t>
            </a:r>
          </a:p>
        </p:txBody>
      </p:sp>
      <p:sp>
        <p:nvSpPr>
          <p:cNvPr id="1308" name="Google Shape;1308;p61">
            <a:extLst>
              <a:ext uri="{FF2B5EF4-FFF2-40B4-BE49-F238E27FC236}">
                <a16:creationId xmlns:a16="http://schemas.microsoft.com/office/drawing/2014/main" id="{58902C77-BF43-A96C-2D4C-383643A38112}"/>
              </a:ext>
            </a:extLst>
          </p:cNvPr>
          <p:cNvSpPr txBox="1"/>
          <p:nvPr/>
        </p:nvSpPr>
        <p:spPr>
          <a:xfrm>
            <a:off x="8495700" y="4063450"/>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2"/>
                </a:solidFill>
                <a:latin typeface="Comfortaa"/>
                <a:ea typeface="Comfortaa"/>
                <a:cs typeface="Comfortaa"/>
                <a:sym typeface="Comfortaa"/>
              </a:rPr>
              <a:t>}</a:t>
            </a:r>
          </a:p>
        </p:txBody>
      </p:sp>
    </p:spTree>
    <p:extLst>
      <p:ext uri="{BB962C8B-B14F-4D97-AF65-F5344CB8AC3E}">
        <p14:creationId xmlns:p14="http://schemas.microsoft.com/office/powerpoint/2010/main" val="1685500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Jaringan Komputer</a:t>
            </a:r>
            <a:endParaRPr lang="id-ID" noProof="0" dirty="0">
              <a:solidFill>
                <a:schemeClr val="accent5">
                  <a:lumMod val="50000"/>
                </a:schemeClr>
              </a:solidFill>
            </a:endParaRPr>
          </a:p>
        </p:txBody>
      </p:sp>
      <p:sp>
        <p:nvSpPr>
          <p:cNvPr id="433" name="Google Shape;433;p36"/>
          <p:cNvSpPr txBox="1">
            <a:spLocks noGrp="1"/>
          </p:cNvSpPr>
          <p:nvPr>
            <p:ph type="subTitle" idx="2"/>
          </p:nvPr>
        </p:nvSpPr>
        <p:spPr>
          <a:xfrm>
            <a:off x="643999" y="1883883"/>
            <a:ext cx="7905089" cy="1992241"/>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id-ID" sz="2000" noProof="0" dirty="0"/>
              <a:t>	Jaringan komputer adalah kumpulan dari beberapa komputer yang saling terhubung dengan perangkat jaringan seperti kabel atau nirkabel, dan dapat saling bertukar informasi dan sumber daya.</a:t>
            </a:r>
          </a:p>
        </p:txBody>
      </p:sp>
      <p:grpSp>
        <p:nvGrpSpPr>
          <p:cNvPr id="434" name="Google Shape;434;p36"/>
          <p:cNvGrpSpPr/>
          <p:nvPr/>
        </p:nvGrpSpPr>
        <p:grpSpPr>
          <a:xfrm>
            <a:off x="350039" y="3944000"/>
            <a:ext cx="2536147" cy="887325"/>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Tree>
    <p:extLst>
      <p:ext uri="{BB962C8B-B14F-4D97-AF65-F5344CB8AC3E}">
        <p14:creationId xmlns:p14="http://schemas.microsoft.com/office/powerpoint/2010/main" val="2080675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a:t>Virtual </a:t>
            </a:r>
            <a:r>
              <a:rPr lang="id-ID" sz="2800" noProof="0" dirty="0" err="1"/>
              <a:t>Local</a:t>
            </a:r>
            <a:r>
              <a:rPr lang="id-ID" sz="2800" noProof="0" dirty="0"/>
              <a:t> Area Network (VLAN)</a:t>
            </a:r>
            <a:endParaRPr lang="id-ID" sz="2800" noProof="0" dirty="0">
              <a:solidFill>
                <a:srgbClr val="0070C0"/>
              </a:solidFill>
            </a:endParaRPr>
          </a:p>
        </p:txBody>
      </p:sp>
      <p:sp>
        <p:nvSpPr>
          <p:cNvPr id="433" name="Google Shape;433;p36"/>
          <p:cNvSpPr txBox="1">
            <a:spLocks noGrp="1"/>
          </p:cNvSpPr>
          <p:nvPr>
            <p:ph type="subTitle" idx="2"/>
          </p:nvPr>
        </p:nvSpPr>
        <p:spPr>
          <a:xfrm>
            <a:off x="677639" y="1489036"/>
            <a:ext cx="7905089" cy="2372763"/>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id-ID" sz="1600" noProof="0" dirty="0"/>
              <a:t>	VLAN merupakan suatu model jaringan yang tidak terbatas pada lokasi fisik seperti LAN, hal ini mengakibatkan suatu </a:t>
            </a:r>
            <a:r>
              <a:rPr lang="id-ID" sz="1600" i="1" noProof="0" dirty="0" err="1"/>
              <a:t>network</a:t>
            </a:r>
            <a:r>
              <a:rPr lang="id-ID" sz="1600" noProof="0" dirty="0"/>
              <a:t> dapat dikonfigurasi secara virtual tanpa harus menuruti lokasi fisik peralatan. Penggunaan VLAN akan membuat pengaturan jaringan menjadi sangat fleksibel di mana dapat dibuat segmen yang bergantung pada organisasi atau departemen, tanpa bergantung pada lokasi </a:t>
            </a:r>
            <a:r>
              <a:rPr lang="id-ID" sz="1600" i="1" noProof="0" dirty="0" err="1"/>
              <a:t>workstation</a:t>
            </a:r>
            <a:r>
              <a:rPr lang="id-ID" sz="1600" noProof="0" dirty="0"/>
              <a:t>.</a:t>
            </a:r>
          </a:p>
        </p:txBody>
      </p:sp>
      <p:grpSp>
        <p:nvGrpSpPr>
          <p:cNvPr id="434" name="Google Shape;434;p36"/>
          <p:cNvGrpSpPr/>
          <p:nvPr/>
        </p:nvGrpSpPr>
        <p:grpSpPr>
          <a:xfrm>
            <a:off x="350039" y="3944000"/>
            <a:ext cx="2536147" cy="887325"/>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Tree>
    <p:extLst>
      <p:ext uri="{BB962C8B-B14F-4D97-AF65-F5344CB8AC3E}">
        <p14:creationId xmlns:p14="http://schemas.microsoft.com/office/powerpoint/2010/main" val="30927027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0">
          <a:extLst>
            <a:ext uri="{FF2B5EF4-FFF2-40B4-BE49-F238E27FC236}">
              <a16:creationId xmlns:a16="http://schemas.microsoft.com/office/drawing/2014/main" id="{F03F915A-ADBC-3934-D9DE-8DB019642325}"/>
            </a:ext>
          </a:extLst>
        </p:cNvPr>
        <p:cNvGrpSpPr/>
        <p:nvPr/>
      </p:nvGrpSpPr>
      <p:grpSpPr>
        <a:xfrm>
          <a:off x="0" y="0"/>
          <a:ext cx="0" cy="0"/>
          <a:chOff x="0" y="0"/>
          <a:chExt cx="0" cy="0"/>
        </a:xfrm>
      </p:grpSpPr>
      <p:sp>
        <p:nvSpPr>
          <p:cNvPr id="431" name="Google Shape;431;p36">
            <a:extLst>
              <a:ext uri="{FF2B5EF4-FFF2-40B4-BE49-F238E27FC236}">
                <a16:creationId xmlns:a16="http://schemas.microsoft.com/office/drawing/2014/main" id="{DFDEE790-43D6-94B6-3E6D-EC36CB647DBB}"/>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2800" noProof="0" dirty="0"/>
              <a:t>Manajemen </a:t>
            </a:r>
            <a:r>
              <a:rPr lang="id-ID" sz="2800" noProof="0" dirty="0" err="1"/>
              <a:t>Bandwidth</a:t>
            </a:r>
            <a:endParaRPr lang="id-ID" sz="2800" noProof="0" dirty="0">
              <a:solidFill>
                <a:srgbClr val="0070C0"/>
              </a:solidFill>
            </a:endParaRPr>
          </a:p>
        </p:txBody>
      </p:sp>
      <p:sp>
        <p:nvSpPr>
          <p:cNvPr id="433" name="Google Shape;433;p36">
            <a:extLst>
              <a:ext uri="{FF2B5EF4-FFF2-40B4-BE49-F238E27FC236}">
                <a16:creationId xmlns:a16="http://schemas.microsoft.com/office/drawing/2014/main" id="{9A301312-FA52-D0D3-877D-294C9E5BBBAD}"/>
              </a:ext>
            </a:extLst>
          </p:cNvPr>
          <p:cNvSpPr txBox="1">
            <a:spLocks noGrp="1"/>
          </p:cNvSpPr>
          <p:nvPr>
            <p:ph type="subTitle" idx="2"/>
          </p:nvPr>
        </p:nvSpPr>
        <p:spPr>
          <a:xfrm>
            <a:off x="677639" y="1489036"/>
            <a:ext cx="7905089" cy="2372763"/>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id-ID" sz="1600" noProof="0" dirty="0"/>
              <a:t>	Manajemen </a:t>
            </a:r>
            <a:r>
              <a:rPr lang="id-ID" sz="1600" noProof="0" dirty="0" err="1"/>
              <a:t>bandwidth</a:t>
            </a:r>
            <a:r>
              <a:rPr lang="id-ID" sz="1600" noProof="0" dirty="0"/>
              <a:t> adalah sebagai praktik pemantauan dan pengelolaan aliran data di jaringan komputer. Tujuan manajemen </a:t>
            </a:r>
            <a:r>
              <a:rPr lang="id-ID" sz="1600" noProof="0" dirty="0" err="1"/>
              <a:t>bandwidth</a:t>
            </a:r>
            <a:r>
              <a:rPr lang="id-ID" sz="1600" noProof="0" dirty="0"/>
              <a:t> dalam sistem jaringan internet adalah untuk memastikan bahwa setiap pengguna atau aplikasi memiliki akses yang merata dan optimal, dan ini melibatkan pelacakan dan pengendalian kapasitas jaringan yang dapat menghambat kinerja jaringan dan menyebabkan koneksi jaringan menjadi lambat.</a:t>
            </a:r>
          </a:p>
        </p:txBody>
      </p:sp>
      <p:grpSp>
        <p:nvGrpSpPr>
          <p:cNvPr id="434" name="Google Shape;434;p36">
            <a:extLst>
              <a:ext uri="{FF2B5EF4-FFF2-40B4-BE49-F238E27FC236}">
                <a16:creationId xmlns:a16="http://schemas.microsoft.com/office/drawing/2014/main" id="{58FFEA5E-C4B9-36A2-2945-47F8387F3513}"/>
              </a:ext>
            </a:extLst>
          </p:cNvPr>
          <p:cNvGrpSpPr/>
          <p:nvPr/>
        </p:nvGrpSpPr>
        <p:grpSpPr>
          <a:xfrm>
            <a:off x="350039" y="3944000"/>
            <a:ext cx="2536147" cy="887325"/>
            <a:chOff x="880714" y="3731738"/>
            <a:chExt cx="2536147" cy="887325"/>
          </a:xfrm>
        </p:grpSpPr>
        <p:sp>
          <p:nvSpPr>
            <p:cNvPr id="435" name="Google Shape;435;p36">
              <a:extLst>
                <a:ext uri="{FF2B5EF4-FFF2-40B4-BE49-F238E27FC236}">
                  <a16:creationId xmlns:a16="http://schemas.microsoft.com/office/drawing/2014/main" id="{1C6E1151-53D8-2AB2-62CB-6D308242CC07}"/>
                </a:ext>
              </a:extLst>
            </p:cNvPr>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a:extLst>
                <a:ext uri="{FF2B5EF4-FFF2-40B4-BE49-F238E27FC236}">
                  <a16:creationId xmlns:a16="http://schemas.microsoft.com/office/drawing/2014/main" id="{83884ED8-EBFB-E108-731E-5A58526CC736}"/>
                </a:ext>
              </a:extLst>
            </p:cNvPr>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a:extLst>
                <a:ext uri="{FF2B5EF4-FFF2-40B4-BE49-F238E27FC236}">
                  <a16:creationId xmlns:a16="http://schemas.microsoft.com/office/drawing/2014/main" id="{0FF944BB-835C-1B30-68CF-89AB4B9E663C}"/>
                </a:ext>
              </a:extLst>
            </p:cNvPr>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a:extLst>
                <a:ext uri="{FF2B5EF4-FFF2-40B4-BE49-F238E27FC236}">
                  <a16:creationId xmlns:a16="http://schemas.microsoft.com/office/drawing/2014/main" id="{E8BE6252-D5DD-0311-7395-5582EF74D425}"/>
                </a:ext>
              </a:extLst>
            </p:cNvPr>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a:extLst>
                <a:ext uri="{FF2B5EF4-FFF2-40B4-BE49-F238E27FC236}">
                  <a16:creationId xmlns:a16="http://schemas.microsoft.com/office/drawing/2014/main" id="{4ACDB910-C4D3-7D47-07BD-DF4725500D90}"/>
                </a:ext>
              </a:extLst>
            </p:cNvPr>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a:extLst>
                <a:ext uri="{FF2B5EF4-FFF2-40B4-BE49-F238E27FC236}">
                  <a16:creationId xmlns:a16="http://schemas.microsoft.com/office/drawing/2014/main" id="{E6011FE2-C640-E6C5-A18B-89E458E4122B}"/>
                </a:ext>
              </a:extLst>
            </p:cNvPr>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a:extLst>
                <a:ext uri="{FF2B5EF4-FFF2-40B4-BE49-F238E27FC236}">
                  <a16:creationId xmlns:a16="http://schemas.microsoft.com/office/drawing/2014/main" id="{B9A558AE-8A69-DB9E-CC64-DAC609B836A6}"/>
                </a:ext>
              </a:extLst>
            </p:cNvPr>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a:extLst>
                <a:ext uri="{FF2B5EF4-FFF2-40B4-BE49-F238E27FC236}">
                  <a16:creationId xmlns:a16="http://schemas.microsoft.com/office/drawing/2014/main" id="{4112DCFD-599C-EBEA-B2C9-C8575F873678}"/>
                </a:ext>
              </a:extLst>
            </p:cNvPr>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a:extLst>
                <a:ext uri="{FF2B5EF4-FFF2-40B4-BE49-F238E27FC236}">
                  <a16:creationId xmlns:a16="http://schemas.microsoft.com/office/drawing/2014/main" id="{55DAC1AE-CAFB-CBB1-0BFC-A6C374FD2E47}"/>
                </a:ext>
              </a:extLst>
            </p:cNvPr>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a:extLst>
                <a:ext uri="{FF2B5EF4-FFF2-40B4-BE49-F238E27FC236}">
                  <a16:creationId xmlns:a16="http://schemas.microsoft.com/office/drawing/2014/main" id="{EFE789BB-ABCD-85F6-1DC9-D69CFC1BC62C}"/>
                </a:ext>
              </a:extLst>
            </p:cNvPr>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a:extLst>
                <a:ext uri="{FF2B5EF4-FFF2-40B4-BE49-F238E27FC236}">
                  <a16:creationId xmlns:a16="http://schemas.microsoft.com/office/drawing/2014/main" id="{829C8974-9C1C-6772-DE33-B8A2FD08A180}"/>
                </a:ext>
              </a:extLst>
            </p:cNvPr>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a:extLst>
                <a:ext uri="{FF2B5EF4-FFF2-40B4-BE49-F238E27FC236}">
                  <a16:creationId xmlns:a16="http://schemas.microsoft.com/office/drawing/2014/main" id="{92F037DE-E3B3-15EF-9322-1C7EB274F865}"/>
                </a:ext>
              </a:extLst>
            </p:cNvPr>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a:extLst>
                <a:ext uri="{FF2B5EF4-FFF2-40B4-BE49-F238E27FC236}">
                  <a16:creationId xmlns:a16="http://schemas.microsoft.com/office/drawing/2014/main" id="{67E1D8DD-4357-49D0-6204-F65A3FC23A80}"/>
                </a:ext>
              </a:extLst>
            </p:cNvPr>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a:extLst>
              <a:ext uri="{FF2B5EF4-FFF2-40B4-BE49-F238E27FC236}">
                <a16:creationId xmlns:a16="http://schemas.microsoft.com/office/drawing/2014/main" id="{172B3AF7-1126-251A-2A66-03E12FD0E3FC}"/>
              </a:ext>
            </a:extLst>
          </p:cNvPr>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a:extLst>
              <a:ext uri="{FF2B5EF4-FFF2-40B4-BE49-F238E27FC236}">
                <a16:creationId xmlns:a16="http://schemas.microsoft.com/office/drawing/2014/main" id="{51B0B9F1-3F53-12DF-8A03-5D43BEB27AC3}"/>
              </a:ext>
            </a:extLst>
          </p:cNvPr>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Tree>
    <p:extLst>
      <p:ext uri="{BB962C8B-B14F-4D97-AF65-F5344CB8AC3E}">
        <p14:creationId xmlns:p14="http://schemas.microsoft.com/office/powerpoint/2010/main" val="2510371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44"/>
          <p:cNvSpPr txBox="1">
            <a:spLocks noGrp="1"/>
          </p:cNvSpPr>
          <p:nvPr>
            <p:ph type="title"/>
          </p:nvPr>
        </p:nvSpPr>
        <p:spPr>
          <a:xfrm>
            <a:off x="4355250" y="1307100"/>
            <a:ext cx="40755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sz="4800" noProof="0" dirty="0"/>
              <a:t>Metodologi </a:t>
            </a:r>
            <a:r>
              <a:rPr lang="id-ID" sz="4800" noProof="0" dirty="0">
                <a:solidFill>
                  <a:schemeClr val="accent4"/>
                </a:solidFill>
              </a:rPr>
              <a:t>penelitian</a:t>
            </a:r>
          </a:p>
        </p:txBody>
      </p:sp>
      <p:grpSp>
        <p:nvGrpSpPr>
          <p:cNvPr id="709" name="Google Shape;709;p44"/>
          <p:cNvGrpSpPr/>
          <p:nvPr/>
        </p:nvGrpSpPr>
        <p:grpSpPr>
          <a:xfrm>
            <a:off x="335642" y="696438"/>
            <a:ext cx="2932044" cy="3907563"/>
            <a:chOff x="335642" y="696438"/>
            <a:chExt cx="2932044" cy="3907563"/>
          </a:xfrm>
        </p:grpSpPr>
        <p:sp>
          <p:nvSpPr>
            <p:cNvPr id="710" name="Google Shape;710;p44"/>
            <p:cNvSpPr/>
            <p:nvPr/>
          </p:nvSpPr>
          <p:spPr>
            <a:xfrm>
              <a:off x="335642" y="70501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1" name="Google Shape;711;p44"/>
            <p:cNvSpPr/>
            <p:nvPr/>
          </p:nvSpPr>
          <p:spPr>
            <a:xfrm>
              <a:off x="821967" y="696438"/>
              <a:ext cx="354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2" name="Google Shape;712;p44"/>
            <p:cNvSpPr/>
            <p:nvPr/>
          </p:nvSpPr>
          <p:spPr>
            <a:xfrm>
              <a:off x="335642" y="101723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3" name="Google Shape;713;p44"/>
            <p:cNvSpPr/>
            <p:nvPr/>
          </p:nvSpPr>
          <p:spPr>
            <a:xfrm>
              <a:off x="335642" y="1343950"/>
              <a:ext cx="354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4" name="Google Shape;714;p44"/>
            <p:cNvSpPr/>
            <p:nvPr/>
          </p:nvSpPr>
          <p:spPr>
            <a:xfrm>
              <a:off x="335642" y="1670688"/>
              <a:ext cx="354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5" name="Google Shape;715;p44"/>
            <p:cNvSpPr/>
            <p:nvPr/>
          </p:nvSpPr>
          <p:spPr>
            <a:xfrm>
              <a:off x="770496" y="1670688"/>
              <a:ext cx="454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6" name="Google Shape;716;p44"/>
            <p:cNvSpPr/>
            <p:nvPr/>
          </p:nvSpPr>
          <p:spPr>
            <a:xfrm>
              <a:off x="1304877" y="167068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7" name="Google Shape;717;p44"/>
            <p:cNvSpPr/>
            <p:nvPr/>
          </p:nvSpPr>
          <p:spPr>
            <a:xfrm>
              <a:off x="335642" y="1981263"/>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8" name="Google Shape;718;p44"/>
            <p:cNvSpPr/>
            <p:nvPr/>
          </p:nvSpPr>
          <p:spPr>
            <a:xfrm>
              <a:off x="335642" y="2324113"/>
              <a:ext cx="327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9" name="Google Shape;719;p44"/>
            <p:cNvSpPr/>
            <p:nvPr/>
          </p:nvSpPr>
          <p:spPr>
            <a:xfrm>
              <a:off x="335642" y="26330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0" name="Google Shape;720;p44"/>
            <p:cNvSpPr/>
            <p:nvPr/>
          </p:nvSpPr>
          <p:spPr>
            <a:xfrm>
              <a:off x="335642" y="2941963"/>
              <a:ext cx="32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1" name="Google Shape;721;p44"/>
            <p:cNvSpPr/>
            <p:nvPr/>
          </p:nvSpPr>
          <p:spPr>
            <a:xfrm>
              <a:off x="349364" y="37229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2" name="Google Shape;722;p44"/>
            <p:cNvSpPr/>
            <p:nvPr/>
          </p:nvSpPr>
          <p:spPr>
            <a:xfrm>
              <a:off x="770496" y="1981263"/>
              <a:ext cx="3276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3" name="Google Shape;723;p44"/>
            <p:cNvSpPr/>
            <p:nvPr/>
          </p:nvSpPr>
          <p:spPr>
            <a:xfrm>
              <a:off x="731557" y="232411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4" name="Google Shape;724;p44"/>
            <p:cNvSpPr/>
            <p:nvPr/>
          </p:nvSpPr>
          <p:spPr>
            <a:xfrm>
              <a:off x="770496" y="2633038"/>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5" name="Google Shape;725;p44"/>
            <p:cNvSpPr/>
            <p:nvPr/>
          </p:nvSpPr>
          <p:spPr>
            <a:xfrm>
              <a:off x="770496" y="2958925"/>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6" name="Google Shape;726;p44"/>
            <p:cNvSpPr/>
            <p:nvPr/>
          </p:nvSpPr>
          <p:spPr>
            <a:xfrm>
              <a:off x="770496" y="3284813"/>
              <a:ext cx="3276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7" name="Google Shape;727;p44"/>
            <p:cNvSpPr/>
            <p:nvPr/>
          </p:nvSpPr>
          <p:spPr>
            <a:xfrm>
              <a:off x="1174186" y="1981263"/>
              <a:ext cx="6333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8" name="Google Shape;728;p44"/>
            <p:cNvSpPr/>
            <p:nvPr/>
          </p:nvSpPr>
          <p:spPr>
            <a:xfrm>
              <a:off x="1174186" y="2324113"/>
              <a:ext cx="884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9" name="Google Shape;729;p44"/>
            <p:cNvSpPr/>
            <p:nvPr/>
          </p:nvSpPr>
          <p:spPr>
            <a:xfrm>
              <a:off x="1205349" y="2633038"/>
              <a:ext cx="1029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0" name="Google Shape;730;p44"/>
            <p:cNvSpPr/>
            <p:nvPr/>
          </p:nvSpPr>
          <p:spPr>
            <a:xfrm>
              <a:off x="1205349" y="2977538"/>
              <a:ext cx="1029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1" name="Google Shape;731;p44"/>
            <p:cNvSpPr/>
            <p:nvPr/>
          </p:nvSpPr>
          <p:spPr>
            <a:xfrm>
              <a:off x="1205349" y="3284813"/>
              <a:ext cx="1029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2" name="Google Shape;732;p44"/>
            <p:cNvSpPr/>
            <p:nvPr/>
          </p:nvSpPr>
          <p:spPr>
            <a:xfrm>
              <a:off x="1883777" y="1981263"/>
              <a:ext cx="576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3" name="Google Shape;733;p44"/>
            <p:cNvSpPr/>
            <p:nvPr/>
          </p:nvSpPr>
          <p:spPr>
            <a:xfrm>
              <a:off x="2174096" y="2307150"/>
              <a:ext cx="576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4" name="Google Shape;734;p44"/>
            <p:cNvSpPr/>
            <p:nvPr/>
          </p:nvSpPr>
          <p:spPr>
            <a:xfrm>
              <a:off x="2342750" y="263306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5" name="Google Shape;735;p44"/>
            <p:cNvSpPr/>
            <p:nvPr/>
          </p:nvSpPr>
          <p:spPr>
            <a:xfrm>
              <a:off x="2342750" y="3284863"/>
              <a:ext cx="3549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6" name="Google Shape;736;p44"/>
            <p:cNvSpPr/>
            <p:nvPr/>
          </p:nvSpPr>
          <p:spPr>
            <a:xfrm>
              <a:off x="349364" y="396201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7" name="Google Shape;737;p44"/>
            <p:cNvSpPr/>
            <p:nvPr/>
          </p:nvSpPr>
          <p:spPr>
            <a:xfrm>
              <a:off x="731557" y="424551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8" name="Google Shape;738;p44"/>
            <p:cNvSpPr/>
            <p:nvPr/>
          </p:nvSpPr>
          <p:spPr>
            <a:xfrm>
              <a:off x="1224956" y="4245513"/>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9" name="Google Shape;739;p44"/>
            <p:cNvSpPr/>
            <p:nvPr/>
          </p:nvSpPr>
          <p:spPr>
            <a:xfrm>
              <a:off x="1883777" y="4245513"/>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0" name="Google Shape;740;p44"/>
            <p:cNvSpPr/>
            <p:nvPr/>
          </p:nvSpPr>
          <p:spPr>
            <a:xfrm>
              <a:off x="2634075" y="4245513"/>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1" name="Google Shape;741;p44"/>
            <p:cNvSpPr/>
            <p:nvPr/>
          </p:nvSpPr>
          <p:spPr>
            <a:xfrm>
              <a:off x="731557" y="4454038"/>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2" name="Google Shape;742;p44"/>
            <p:cNvSpPr/>
            <p:nvPr/>
          </p:nvSpPr>
          <p:spPr>
            <a:xfrm>
              <a:off x="1224956" y="4454038"/>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3" name="Google Shape;743;p44"/>
            <p:cNvSpPr/>
            <p:nvPr/>
          </p:nvSpPr>
          <p:spPr>
            <a:xfrm>
              <a:off x="2169156" y="4454038"/>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4" name="Google Shape;744;p44"/>
            <p:cNvSpPr/>
            <p:nvPr/>
          </p:nvSpPr>
          <p:spPr>
            <a:xfrm>
              <a:off x="1250486" y="7083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5" name="Google Shape;745;p44"/>
            <p:cNvSpPr/>
            <p:nvPr/>
          </p:nvSpPr>
          <p:spPr>
            <a:xfrm>
              <a:off x="821986" y="10172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6" name="Google Shape;746;p44"/>
            <p:cNvSpPr/>
            <p:nvPr/>
          </p:nvSpPr>
          <p:spPr>
            <a:xfrm>
              <a:off x="1555286" y="10131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7" name="Google Shape;747;p44"/>
            <p:cNvSpPr/>
            <p:nvPr/>
          </p:nvSpPr>
          <p:spPr>
            <a:xfrm>
              <a:off x="821979" y="134398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8" name="Google Shape;748;p44"/>
            <p:cNvSpPr/>
            <p:nvPr/>
          </p:nvSpPr>
          <p:spPr>
            <a:xfrm>
              <a:off x="1739729" y="1668625"/>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9" name="Google Shape;749;p44"/>
            <p:cNvSpPr/>
            <p:nvPr/>
          </p:nvSpPr>
          <p:spPr>
            <a:xfrm>
              <a:off x="2342754" y="297753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0" name="Google Shape;750;p44"/>
            <p:cNvSpPr/>
            <p:nvPr/>
          </p:nvSpPr>
          <p:spPr>
            <a:xfrm>
              <a:off x="2537025" y="1981263"/>
              <a:ext cx="327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1" name="Google Shape;751;p44"/>
            <p:cNvSpPr/>
            <p:nvPr/>
          </p:nvSpPr>
          <p:spPr>
            <a:xfrm>
              <a:off x="2805050" y="2633038"/>
              <a:ext cx="327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2" name="Google Shape;752;p44"/>
            <p:cNvSpPr/>
            <p:nvPr/>
          </p:nvSpPr>
          <p:spPr>
            <a:xfrm>
              <a:off x="2634386" y="44561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3" name="Google Shape;753;p44"/>
            <p:cNvSpPr/>
            <p:nvPr/>
          </p:nvSpPr>
          <p:spPr>
            <a:xfrm>
              <a:off x="770511" y="393657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4" name="Google Shape;754;p44"/>
            <p:cNvSpPr/>
            <p:nvPr/>
          </p:nvSpPr>
          <p:spPr>
            <a:xfrm>
              <a:off x="770511" y="370647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755" name="Google Shape;755;p44"/>
          <p:cNvSpPr txBox="1"/>
          <p:nvPr/>
        </p:nvSpPr>
        <p:spPr>
          <a:xfrm>
            <a:off x="4014788" y="24535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2"/>
                </a:solidFill>
                <a:latin typeface="Comfortaa"/>
                <a:ea typeface="Comfortaa"/>
                <a:cs typeface="Comfortaa"/>
                <a:sym typeface="Comfortaa"/>
              </a:rPr>
              <a:t>{</a:t>
            </a:r>
          </a:p>
        </p:txBody>
      </p:sp>
      <p:sp>
        <p:nvSpPr>
          <p:cNvPr id="756" name="Google Shape;756;p44"/>
          <p:cNvSpPr txBox="1"/>
          <p:nvPr/>
        </p:nvSpPr>
        <p:spPr>
          <a:xfrm>
            <a:off x="7313175" y="3836400"/>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757" name="Google Shape;757;p44"/>
          <p:cNvSpPr txBox="1"/>
          <p:nvPr/>
        </p:nvSpPr>
        <p:spPr>
          <a:xfrm>
            <a:off x="7778275" y="4049400"/>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
        <p:nvSpPr>
          <p:cNvPr id="758" name="Google Shape;758;p44"/>
          <p:cNvSpPr txBox="1"/>
          <p:nvPr/>
        </p:nvSpPr>
        <p:spPr>
          <a:xfrm>
            <a:off x="4459138" y="460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5"/>
                </a:solidFill>
                <a:latin typeface="Fira Code"/>
                <a:ea typeface="Fira Code"/>
                <a:cs typeface="Fira Code"/>
                <a:sym typeface="Fira Code"/>
              </a:rPr>
              <a:t>..</a:t>
            </a:r>
            <a:endParaRPr lang="id-ID" sz="5000" noProof="0" dirty="0">
              <a:solidFill>
                <a:schemeClr val="accent5"/>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Alur </a:t>
            </a:r>
            <a:r>
              <a:rPr lang="id-ID" noProof="0" dirty="0">
                <a:solidFill>
                  <a:schemeClr val="accent2">
                    <a:lumMod val="75000"/>
                  </a:schemeClr>
                </a:solidFill>
              </a:rPr>
              <a:t>Kerja Penelitian</a:t>
            </a:r>
          </a:p>
        </p:txBody>
      </p:sp>
      <p:grpSp>
        <p:nvGrpSpPr>
          <p:cNvPr id="434" name="Google Shape;434;p36"/>
          <p:cNvGrpSpPr/>
          <p:nvPr/>
        </p:nvGrpSpPr>
        <p:grpSpPr>
          <a:xfrm>
            <a:off x="350039" y="3944000"/>
            <a:ext cx="2536147" cy="887325"/>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pic>
        <p:nvPicPr>
          <p:cNvPr id="4" name="Picture 3">
            <a:extLst>
              <a:ext uri="{FF2B5EF4-FFF2-40B4-BE49-F238E27FC236}">
                <a16:creationId xmlns:a16="http://schemas.microsoft.com/office/drawing/2014/main" id="{8F103A64-FF2A-AB77-EE2A-154D88613BC4}"/>
              </a:ext>
            </a:extLst>
          </p:cNvPr>
          <p:cNvPicPr>
            <a:picLocks noChangeAspect="1"/>
          </p:cNvPicPr>
          <p:nvPr/>
        </p:nvPicPr>
        <p:blipFill>
          <a:blip r:embed="rId3"/>
          <a:stretch>
            <a:fillRect/>
          </a:stretch>
        </p:blipFill>
        <p:spPr>
          <a:xfrm>
            <a:off x="1988905" y="1510220"/>
            <a:ext cx="5039995" cy="2792730"/>
          </a:xfrm>
          <a:prstGeom prst="rect">
            <a:avLst/>
          </a:prstGeom>
        </p:spPr>
      </p:pic>
    </p:spTree>
    <p:extLst>
      <p:ext uri="{BB962C8B-B14F-4D97-AF65-F5344CB8AC3E}">
        <p14:creationId xmlns:p14="http://schemas.microsoft.com/office/powerpoint/2010/main" val="10213856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noProof="0" dirty="0"/>
              <a:t>Pengumpulan </a:t>
            </a:r>
            <a:r>
              <a:rPr lang="id-ID" noProof="0" dirty="0">
                <a:solidFill>
                  <a:schemeClr val="tx2"/>
                </a:solidFill>
              </a:rPr>
              <a:t>Data</a:t>
            </a:r>
          </a:p>
        </p:txBody>
      </p:sp>
      <p:sp>
        <p:nvSpPr>
          <p:cNvPr id="433" name="Google Shape;433;p36"/>
          <p:cNvSpPr txBox="1">
            <a:spLocks noGrp="1"/>
          </p:cNvSpPr>
          <p:nvPr>
            <p:ph type="subTitle" idx="2"/>
          </p:nvPr>
        </p:nvSpPr>
        <p:spPr>
          <a:xfrm>
            <a:off x="644000" y="2005069"/>
            <a:ext cx="7861022" cy="1871055"/>
          </a:xfrm>
          <a:prstGeom prst="rect">
            <a:avLst/>
          </a:prstGeom>
        </p:spPr>
        <p:txBody>
          <a:bodyPr spcFirstLastPara="1" wrap="square" lIns="91425" tIns="91425" rIns="91425" bIns="91425" anchor="t" anchorCtr="0">
            <a:noAutofit/>
          </a:bodyPr>
          <a:lstStyle/>
          <a:p>
            <a:pPr marL="342900" lvl="0" indent="-342900" algn="l" rtl="0">
              <a:spcBef>
                <a:spcPts val="0"/>
              </a:spcBef>
              <a:spcAft>
                <a:spcPts val="0"/>
              </a:spcAft>
              <a:buAutoNum type="arabicPeriod"/>
            </a:pPr>
            <a:r>
              <a:rPr lang="id-ID" sz="2800" noProof="0" dirty="0"/>
              <a:t>Studi Literatur</a:t>
            </a:r>
          </a:p>
          <a:p>
            <a:pPr marL="342900" lvl="0" indent="-342900" algn="l" rtl="0">
              <a:spcBef>
                <a:spcPts val="0"/>
              </a:spcBef>
              <a:spcAft>
                <a:spcPts val="0"/>
              </a:spcAft>
              <a:buAutoNum type="arabicPeriod"/>
            </a:pPr>
            <a:r>
              <a:rPr lang="id-ID" sz="2800" noProof="0" dirty="0"/>
              <a:t>Metode Observasi</a:t>
            </a:r>
          </a:p>
          <a:p>
            <a:pPr marL="342900" lvl="0" indent="-342900" algn="l" rtl="0">
              <a:spcBef>
                <a:spcPts val="0"/>
              </a:spcBef>
              <a:spcAft>
                <a:spcPts val="0"/>
              </a:spcAft>
              <a:buAutoNum type="arabicPeriod"/>
            </a:pPr>
            <a:r>
              <a:rPr lang="id-ID" sz="2800" noProof="0" dirty="0"/>
              <a:t>Metode Wawancara </a:t>
            </a:r>
          </a:p>
        </p:txBody>
      </p:sp>
      <p:grpSp>
        <p:nvGrpSpPr>
          <p:cNvPr id="434" name="Google Shape;434;p36"/>
          <p:cNvGrpSpPr/>
          <p:nvPr/>
        </p:nvGrpSpPr>
        <p:grpSpPr>
          <a:xfrm>
            <a:off x="350039" y="3944000"/>
            <a:ext cx="2536147" cy="887325"/>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448" name="Google Shape;448;p36"/>
          <p:cNvSpPr txBox="1"/>
          <p:nvPr/>
        </p:nvSpPr>
        <p:spPr>
          <a:xfrm>
            <a:off x="6717450" y="4008025"/>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449" name="Google Shape;449;p36"/>
          <p:cNvSpPr txBox="1"/>
          <p:nvPr/>
        </p:nvSpPr>
        <p:spPr>
          <a:xfrm>
            <a:off x="7407075" y="4221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Tree>
    <p:extLst>
      <p:ext uri="{BB962C8B-B14F-4D97-AF65-F5344CB8AC3E}">
        <p14:creationId xmlns:p14="http://schemas.microsoft.com/office/powerpoint/2010/main" val="2529074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7" name="Google Shape;1077;p55"/>
          <p:cNvSpPr txBox="1">
            <a:spLocks noGrp="1"/>
          </p:cNvSpPr>
          <p:nvPr>
            <p:ph type="title"/>
          </p:nvPr>
        </p:nvSpPr>
        <p:spPr>
          <a:xfrm>
            <a:off x="4837200" y="1501200"/>
            <a:ext cx="4178250" cy="1060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id-ID" noProof="0" dirty="0"/>
              <a:t>Rancangan </a:t>
            </a:r>
            <a:r>
              <a:rPr lang="en-US" noProof="0" dirty="0" err="1">
                <a:solidFill>
                  <a:schemeClr val="accent4"/>
                </a:solidFill>
              </a:rPr>
              <a:t>Implementasi</a:t>
            </a:r>
            <a:endParaRPr lang="id-ID" noProof="0" dirty="0">
              <a:solidFill>
                <a:schemeClr val="accent4"/>
              </a:solidFill>
            </a:endParaRPr>
          </a:p>
        </p:txBody>
      </p:sp>
      <p:sp>
        <p:nvSpPr>
          <p:cNvPr id="1078" name="Google Shape;1078;p55"/>
          <p:cNvSpPr txBox="1">
            <a:spLocks noGrp="1"/>
          </p:cNvSpPr>
          <p:nvPr>
            <p:ph type="subTitle" idx="1"/>
          </p:nvPr>
        </p:nvSpPr>
        <p:spPr>
          <a:xfrm>
            <a:off x="4837371" y="2562000"/>
            <a:ext cx="3593400" cy="1080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endParaRPr lang="id-ID" noProof="0" dirty="0"/>
          </a:p>
        </p:txBody>
      </p:sp>
      <p:grpSp>
        <p:nvGrpSpPr>
          <p:cNvPr id="1079" name="Google Shape;1079;p55"/>
          <p:cNvGrpSpPr/>
          <p:nvPr/>
        </p:nvGrpSpPr>
        <p:grpSpPr>
          <a:xfrm>
            <a:off x="713237" y="251356"/>
            <a:ext cx="486393" cy="125690"/>
            <a:chOff x="-890300" y="1406550"/>
            <a:chExt cx="806088" cy="208200"/>
          </a:xfrm>
        </p:grpSpPr>
        <p:sp>
          <p:nvSpPr>
            <p:cNvPr id="1080" name="Google Shape;1080;p55"/>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081" name="Google Shape;1081;p55"/>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082" name="Google Shape;1082;p55"/>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1083" name="Google Shape;1083;p55"/>
          <p:cNvSpPr txBox="1"/>
          <p:nvPr/>
        </p:nvSpPr>
        <p:spPr>
          <a:xfrm>
            <a:off x="5322200" y="150120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1084" name="Google Shape;1084;p55"/>
          <p:cNvSpPr txBox="1"/>
          <p:nvPr/>
        </p:nvSpPr>
        <p:spPr>
          <a:xfrm>
            <a:off x="8496150" y="3726375"/>
            <a:ext cx="519300" cy="75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id-ID" sz="5000" noProof="0" dirty="0">
                <a:solidFill>
                  <a:schemeClr val="accent4"/>
                </a:solidFill>
                <a:latin typeface="Comfortaa"/>
                <a:ea typeface="Comfortaa"/>
                <a:cs typeface="Comfortaa"/>
                <a:sym typeface="Comfortaa"/>
              </a:rPr>
              <a:t>}</a:t>
            </a:r>
          </a:p>
        </p:txBody>
      </p:sp>
      <p:sp>
        <p:nvSpPr>
          <p:cNvPr id="3" name="Google Shape;433;p36">
            <a:extLst>
              <a:ext uri="{FF2B5EF4-FFF2-40B4-BE49-F238E27FC236}">
                <a16:creationId xmlns:a16="http://schemas.microsoft.com/office/drawing/2014/main" id="{892667BC-95F4-3047-E253-E9E18488C883}"/>
              </a:ext>
            </a:extLst>
          </p:cNvPr>
          <p:cNvSpPr txBox="1">
            <a:spLocks/>
          </p:cNvSpPr>
          <p:nvPr/>
        </p:nvSpPr>
        <p:spPr>
          <a:xfrm>
            <a:off x="644000" y="2005069"/>
            <a:ext cx="4678029" cy="187105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Arial"/>
              <a:buAutoNum type="arabicPeriod"/>
            </a:pPr>
            <a:endParaRPr lang="id-ID" sz="2800" noProof="0" dirty="0"/>
          </a:p>
        </p:txBody>
      </p:sp>
      <p:sp>
        <p:nvSpPr>
          <p:cNvPr id="5" name="TextBox 4">
            <a:extLst>
              <a:ext uri="{FF2B5EF4-FFF2-40B4-BE49-F238E27FC236}">
                <a16:creationId xmlns:a16="http://schemas.microsoft.com/office/drawing/2014/main" id="{404F945A-ACEC-386D-809C-B01C6BB1362F}"/>
              </a:ext>
            </a:extLst>
          </p:cNvPr>
          <p:cNvSpPr txBox="1"/>
          <p:nvPr/>
        </p:nvSpPr>
        <p:spPr>
          <a:xfrm>
            <a:off x="318796" y="1160150"/>
            <a:ext cx="4606636" cy="2308324"/>
          </a:xfrm>
          <a:prstGeom prst="rect">
            <a:avLst/>
          </a:prstGeom>
          <a:noFill/>
        </p:spPr>
        <p:txBody>
          <a:bodyPr wrap="square">
            <a:spAutoFit/>
          </a:bodyPr>
          <a:lstStyle/>
          <a:p>
            <a:pPr algn="just"/>
            <a:r>
              <a:rPr lang="id-ID" sz="1800" noProof="0" dirty="0">
                <a:solidFill>
                  <a:srgbClr val="FFFFFF"/>
                </a:solidFill>
              </a:rPr>
              <a:t>1. Konfigurasi Awal</a:t>
            </a:r>
          </a:p>
          <a:p>
            <a:pPr algn="just"/>
            <a:r>
              <a:rPr lang="id-ID" sz="1800" noProof="0" dirty="0">
                <a:solidFill>
                  <a:srgbClr val="FFFFFF"/>
                </a:solidFill>
              </a:rPr>
              <a:t>Pada tahap implementasi perancangan jaringan dilakukan konfigurasi awal agar perangkat dapat terhubung ke internet, kemudian dilanjutkan dengan pembuatan dan pengaturan ID VLAN untuk memisahkan lalu lintas jaringan sesuai segmentasi yang telah dirancang.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2">
          <a:extLst>
            <a:ext uri="{FF2B5EF4-FFF2-40B4-BE49-F238E27FC236}">
              <a16:creationId xmlns:a16="http://schemas.microsoft.com/office/drawing/2014/main" id="{B9B9B586-CAB7-D583-8389-2252BA4EE4F4}"/>
            </a:ext>
          </a:extLst>
        </p:cNvPr>
        <p:cNvGrpSpPr/>
        <p:nvPr/>
      </p:nvGrpSpPr>
      <p:grpSpPr>
        <a:xfrm>
          <a:off x="0" y="0"/>
          <a:ext cx="0" cy="0"/>
          <a:chOff x="0" y="0"/>
          <a:chExt cx="0" cy="0"/>
        </a:xfrm>
      </p:grpSpPr>
      <p:sp>
        <p:nvSpPr>
          <p:cNvPr id="1078" name="Google Shape;1078;p55">
            <a:extLst>
              <a:ext uri="{FF2B5EF4-FFF2-40B4-BE49-F238E27FC236}">
                <a16:creationId xmlns:a16="http://schemas.microsoft.com/office/drawing/2014/main" id="{1EC3921A-B90D-9834-6112-B04EDE158555}"/>
              </a:ext>
            </a:extLst>
          </p:cNvPr>
          <p:cNvSpPr txBox="1">
            <a:spLocks noGrp="1"/>
          </p:cNvSpPr>
          <p:nvPr>
            <p:ph type="subTitle" idx="1"/>
          </p:nvPr>
        </p:nvSpPr>
        <p:spPr>
          <a:xfrm>
            <a:off x="4837371" y="2562000"/>
            <a:ext cx="3593400" cy="1080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endParaRPr lang="id-ID" noProof="0" dirty="0"/>
          </a:p>
        </p:txBody>
      </p:sp>
      <p:grpSp>
        <p:nvGrpSpPr>
          <p:cNvPr id="1079" name="Google Shape;1079;p55">
            <a:extLst>
              <a:ext uri="{FF2B5EF4-FFF2-40B4-BE49-F238E27FC236}">
                <a16:creationId xmlns:a16="http://schemas.microsoft.com/office/drawing/2014/main" id="{27BD10A6-451B-4798-B55B-BAEA221CAC61}"/>
              </a:ext>
            </a:extLst>
          </p:cNvPr>
          <p:cNvGrpSpPr/>
          <p:nvPr/>
        </p:nvGrpSpPr>
        <p:grpSpPr>
          <a:xfrm>
            <a:off x="713237" y="251356"/>
            <a:ext cx="486393" cy="125690"/>
            <a:chOff x="-890300" y="1406550"/>
            <a:chExt cx="806088" cy="208200"/>
          </a:xfrm>
        </p:grpSpPr>
        <p:sp>
          <p:nvSpPr>
            <p:cNvPr id="1080" name="Google Shape;1080;p55">
              <a:extLst>
                <a:ext uri="{FF2B5EF4-FFF2-40B4-BE49-F238E27FC236}">
                  <a16:creationId xmlns:a16="http://schemas.microsoft.com/office/drawing/2014/main" id="{59AB2FF9-1DC5-6C5B-4D0F-A7876E0D05F6}"/>
                </a:ext>
              </a:extLst>
            </p:cNvPr>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081" name="Google Shape;1081;p55">
              <a:extLst>
                <a:ext uri="{FF2B5EF4-FFF2-40B4-BE49-F238E27FC236}">
                  <a16:creationId xmlns:a16="http://schemas.microsoft.com/office/drawing/2014/main" id="{2F7C69AD-F101-0062-8E54-1B9DF89A6798}"/>
                </a:ext>
              </a:extLst>
            </p:cNvPr>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082" name="Google Shape;1082;p55">
              <a:extLst>
                <a:ext uri="{FF2B5EF4-FFF2-40B4-BE49-F238E27FC236}">
                  <a16:creationId xmlns:a16="http://schemas.microsoft.com/office/drawing/2014/main" id="{E353FA33-EADD-0B7A-E661-D3D7F9F25934}"/>
                </a:ext>
              </a:extLst>
            </p:cNvPr>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1083" name="Google Shape;1083;p55">
            <a:extLst>
              <a:ext uri="{FF2B5EF4-FFF2-40B4-BE49-F238E27FC236}">
                <a16:creationId xmlns:a16="http://schemas.microsoft.com/office/drawing/2014/main" id="{A82BE9DA-F478-1870-ED73-71F9DBB9695D}"/>
              </a:ext>
            </a:extLst>
          </p:cNvPr>
          <p:cNvSpPr txBox="1"/>
          <p:nvPr/>
        </p:nvSpPr>
        <p:spPr>
          <a:xfrm>
            <a:off x="5322200" y="150120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1084" name="Google Shape;1084;p55">
            <a:extLst>
              <a:ext uri="{FF2B5EF4-FFF2-40B4-BE49-F238E27FC236}">
                <a16:creationId xmlns:a16="http://schemas.microsoft.com/office/drawing/2014/main" id="{DE28CD81-2BBF-0D2D-41B5-7F3B5AFCC4D0}"/>
              </a:ext>
            </a:extLst>
          </p:cNvPr>
          <p:cNvSpPr txBox="1"/>
          <p:nvPr/>
        </p:nvSpPr>
        <p:spPr>
          <a:xfrm>
            <a:off x="8496150" y="3726375"/>
            <a:ext cx="519300" cy="75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id-ID" sz="5000" noProof="0" dirty="0">
                <a:solidFill>
                  <a:schemeClr val="accent4"/>
                </a:solidFill>
                <a:latin typeface="Comfortaa"/>
                <a:ea typeface="Comfortaa"/>
                <a:cs typeface="Comfortaa"/>
                <a:sym typeface="Comfortaa"/>
              </a:rPr>
              <a:t>}</a:t>
            </a:r>
          </a:p>
        </p:txBody>
      </p:sp>
      <p:sp>
        <p:nvSpPr>
          <p:cNvPr id="3" name="Google Shape;433;p36">
            <a:extLst>
              <a:ext uri="{FF2B5EF4-FFF2-40B4-BE49-F238E27FC236}">
                <a16:creationId xmlns:a16="http://schemas.microsoft.com/office/drawing/2014/main" id="{C42AB62C-C48E-7C57-CD93-C2670A9FF018}"/>
              </a:ext>
            </a:extLst>
          </p:cNvPr>
          <p:cNvSpPr txBox="1">
            <a:spLocks/>
          </p:cNvSpPr>
          <p:nvPr/>
        </p:nvSpPr>
        <p:spPr>
          <a:xfrm>
            <a:off x="644000" y="2005069"/>
            <a:ext cx="4678029" cy="187105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Arial"/>
              <a:buAutoNum type="arabicPeriod"/>
            </a:pPr>
            <a:endParaRPr lang="id-ID" sz="2800" noProof="0" dirty="0"/>
          </a:p>
        </p:txBody>
      </p:sp>
      <p:sp>
        <p:nvSpPr>
          <p:cNvPr id="5" name="TextBox 4">
            <a:extLst>
              <a:ext uri="{FF2B5EF4-FFF2-40B4-BE49-F238E27FC236}">
                <a16:creationId xmlns:a16="http://schemas.microsoft.com/office/drawing/2014/main" id="{9DF85CC5-A64B-5117-64A0-4D776A86A381}"/>
              </a:ext>
            </a:extLst>
          </p:cNvPr>
          <p:cNvSpPr txBox="1"/>
          <p:nvPr/>
        </p:nvSpPr>
        <p:spPr>
          <a:xfrm>
            <a:off x="318796" y="1160150"/>
            <a:ext cx="4606636" cy="3170099"/>
          </a:xfrm>
          <a:prstGeom prst="rect">
            <a:avLst/>
          </a:prstGeom>
          <a:noFill/>
        </p:spPr>
        <p:txBody>
          <a:bodyPr wrap="square">
            <a:spAutoFit/>
          </a:bodyPr>
          <a:lstStyle/>
          <a:p>
            <a:pPr algn="just"/>
            <a:r>
              <a:rPr lang="id-ID" sz="2000" noProof="0" dirty="0">
                <a:solidFill>
                  <a:srgbClr val="FFFFFF"/>
                </a:solidFill>
              </a:rPr>
              <a:t>2. Peran VLAN</a:t>
            </a:r>
          </a:p>
          <a:p>
            <a:pPr algn="just"/>
            <a:r>
              <a:rPr lang="id-ID" sz="2000" noProof="0" dirty="0">
                <a:solidFill>
                  <a:srgbClr val="FFFFFF"/>
                </a:solidFill>
              </a:rPr>
              <a:t>Penerapan VLAN difokuskan pada manajemen jaringan dengan mengatur prioritas lalu lintas data, baik melalui pemblokiran akses pada jaringan tertentu maupun dengan membatasi kecepatan koneksi pada penggunaan yang kurang diperlukan, sehingga kapasitas </a:t>
            </a:r>
            <a:r>
              <a:rPr lang="id-ID" sz="2000" i="1" noProof="0" dirty="0" err="1">
                <a:solidFill>
                  <a:srgbClr val="FFFFFF"/>
                </a:solidFill>
              </a:rPr>
              <a:t>bandwidth</a:t>
            </a:r>
            <a:r>
              <a:rPr lang="id-ID" sz="2000" noProof="0" dirty="0">
                <a:solidFill>
                  <a:srgbClr val="FFFFFF"/>
                </a:solidFill>
              </a:rPr>
              <a:t> dapat dimanfaatkan lebih optimal.</a:t>
            </a:r>
          </a:p>
        </p:txBody>
      </p:sp>
      <p:sp>
        <p:nvSpPr>
          <p:cNvPr id="8" name="Google Shape;1077;p55">
            <a:extLst>
              <a:ext uri="{FF2B5EF4-FFF2-40B4-BE49-F238E27FC236}">
                <a16:creationId xmlns:a16="http://schemas.microsoft.com/office/drawing/2014/main" id="{B5BAA1E1-B47E-C77A-F0BC-782F7D98F051}"/>
              </a:ext>
            </a:extLst>
          </p:cNvPr>
          <p:cNvSpPr txBox="1">
            <a:spLocks noGrp="1"/>
          </p:cNvSpPr>
          <p:nvPr>
            <p:ph type="title"/>
          </p:nvPr>
        </p:nvSpPr>
        <p:spPr>
          <a:xfrm>
            <a:off x="4837200" y="1501200"/>
            <a:ext cx="4178250" cy="1060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id-ID" noProof="0" dirty="0"/>
              <a:t>Rancangan </a:t>
            </a:r>
            <a:r>
              <a:rPr lang="en-US" noProof="0" dirty="0" err="1">
                <a:solidFill>
                  <a:schemeClr val="accent4"/>
                </a:solidFill>
              </a:rPr>
              <a:t>Implementasi</a:t>
            </a:r>
            <a:endParaRPr lang="id-ID" noProof="0" dirty="0">
              <a:solidFill>
                <a:schemeClr val="accent4"/>
              </a:solidFill>
            </a:endParaRPr>
          </a:p>
        </p:txBody>
      </p:sp>
    </p:spTree>
    <p:extLst>
      <p:ext uri="{BB962C8B-B14F-4D97-AF65-F5344CB8AC3E}">
        <p14:creationId xmlns:p14="http://schemas.microsoft.com/office/powerpoint/2010/main" val="1356849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2">
          <a:extLst>
            <a:ext uri="{FF2B5EF4-FFF2-40B4-BE49-F238E27FC236}">
              <a16:creationId xmlns:a16="http://schemas.microsoft.com/office/drawing/2014/main" id="{CC624AF2-73FA-E225-55D0-5A442D4E5B90}"/>
            </a:ext>
          </a:extLst>
        </p:cNvPr>
        <p:cNvGrpSpPr/>
        <p:nvPr/>
      </p:nvGrpSpPr>
      <p:grpSpPr>
        <a:xfrm>
          <a:off x="0" y="0"/>
          <a:ext cx="0" cy="0"/>
          <a:chOff x="0" y="0"/>
          <a:chExt cx="0" cy="0"/>
        </a:xfrm>
      </p:grpSpPr>
      <p:sp>
        <p:nvSpPr>
          <p:cNvPr id="1078" name="Google Shape;1078;p55">
            <a:extLst>
              <a:ext uri="{FF2B5EF4-FFF2-40B4-BE49-F238E27FC236}">
                <a16:creationId xmlns:a16="http://schemas.microsoft.com/office/drawing/2014/main" id="{2053C5CB-622B-F503-E56E-2D447B63AAC5}"/>
              </a:ext>
            </a:extLst>
          </p:cNvPr>
          <p:cNvSpPr txBox="1">
            <a:spLocks noGrp="1"/>
          </p:cNvSpPr>
          <p:nvPr>
            <p:ph type="subTitle" idx="1"/>
          </p:nvPr>
        </p:nvSpPr>
        <p:spPr>
          <a:xfrm>
            <a:off x="4837371" y="2562000"/>
            <a:ext cx="3593400" cy="1080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endParaRPr lang="id-ID" noProof="0" dirty="0"/>
          </a:p>
        </p:txBody>
      </p:sp>
      <p:grpSp>
        <p:nvGrpSpPr>
          <p:cNvPr id="1079" name="Google Shape;1079;p55">
            <a:extLst>
              <a:ext uri="{FF2B5EF4-FFF2-40B4-BE49-F238E27FC236}">
                <a16:creationId xmlns:a16="http://schemas.microsoft.com/office/drawing/2014/main" id="{834D1DCC-0769-2B26-CE6C-0A673B04D08B}"/>
              </a:ext>
            </a:extLst>
          </p:cNvPr>
          <p:cNvGrpSpPr/>
          <p:nvPr/>
        </p:nvGrpSpPr>
        <p:grpSpPr>
          <a:xfrm>
            <a:off x="713237" y="251356"/>
            <a:ext cx="486393" cy="125690"/>
            <a:chOff x="-890300" y="1406550"/>
            <a:chExt cx="806088" cy="208200"/>
          </a:xfrm>
        </p:grpSpPr>
        <p:sp>
          <p:nvSpPr>
            <p:cNvPr id="1080" name="Google Shape;1080;p55">
              <a:extLst>
                <a:ext uri="{FF2B5EF4-FFF2-40B4-BE49-F238E27FC236}">
                  <a16:creationId xmlns:a16="http://schemas.microsoft.com/office/drawing/2014/main" id="{2BCE3414-FE84-10AB-82A7-6B2361498949}"/>
                </a:ext>
              </a:extLst>
            </p:cNvPr>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081" name="Google Shape;1081;p55">
              <a:extLst>
                <a:ext uri="{FF2B5EF4-FFF2-40B4-BE49-F238E27FC236}">
                  <a16:creationId xmlns:a16="http://schemas.microsoft.com/office/drawing/2014/main" id="{985ACFA1-F4FE-D7B4-B89C-F0D1FADB4410}"/>
                </a:ext>
              </a:extLst>
            </p:cNvPr>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1082" name="Google Shape;1082;p55">
              <a:extLst>
                <a:ext uri="{FF2B5EF4-FFF2-40B4-BE49-F238E27FC236}">
                  <a16:creationId xmlns:a16="http://schemas.microsoft.com/office/drawing/2014/main" id="{BC31B67E-58DE-6517-9745-19BF2033C8B2}"/>
                </a:ext>
              </a:extLst>
            </p:cNvPr>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1083" name="Google Shape;1083;p55">
            <a:extLst>
              <a:ext uri="{FF2B5EF4-FFF2-40B4-BE49-F238E27FC236}">
                <a16:creationId xmlns:a16="http://schemas.microsoft.com/office/drawing/2014/main" id="{05DEE2BB-FBA7-7FA8-A311-BD2D418B09FE}"/>
              </a:ext>
            </a:extLst>
          </p:cNvPr>
          <p:cNvSpPr txBox="1"/>
          <p:nvPr/>
        </p:nvSpPr>
        <p:spPr>
          <a:xfrm>
            <a:off x="5322200" y="150120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1084" name="Google Shape;1084;p55">
            <a:extLst>
              <a:ext uri="{FF2B5EF4-FFF2-40B4-BE49-F238E27FC236}">
                <a16:creationId xmlns:a16="http://schemas.microsoft.com/office/drawing/2014/main" id="{E3219852-6BA0-1339-0B6C-9093F757FBD3}"/>
              </a:ext>
            </a:extLst>
          </p:cNvPr>
          <p:cNvSpPr txBox="1"/>
          <p:nvPr/>
        </p:nvSpPr>
        <p:spPr>
          <a:xfrm>
            <a:off x="8496150" y="3726375"/>
            <a:ext cx="519300" cy="75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id-ID" sz="5000" noProof="0" dirty="0">
                <a:solidFill>
                  <a:schemeClr val="accent4"/>
                </a:solidFill>
                <a:latin typeface="Comfortaa"/>
                <a:ea typeface="Comfortaa"/>
                <a:cs typeface="Comfortaa"/>
                <a:sym typeface="Comfortaa"/>
              </a:rPr>
              <a:t>}</a:t>
            </a:r>
          </a:p>
        </p:txBody>
      </p:sp>
      <p:sp>
        <p:nvSpPr>
          <p:cNvPr id="3" name="Google Shape;433;p36">
            <a:extLst>
              <a:ext uri="{FF2B5EF4-FFF2-40B4-BE49-F238E27FC236}">
                <a16:creationId xmlns:a16="http://schemas.microsoft.com/office/drawing/2014/main" id="{8AA4326E-1CA1-A60D-B38C-0AE7B8CF8523}"/>
              </a:ext>
            </a:extLst>
          </p:cNvPr>
          <p:cNvSpPr txBox="1">
            <a:spLocks/>
          </p:cNvSpPr>
          <p:nvPr/>
        </p:nvSpPr>
        <p:spPr>
          <a:xfrm>
            <a:off x="644000" y="2005069"/>
            <a:ext cx="4678029" cy="187105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Arial"/>
              <a:buAutoNum type="arabicPeriod"/>
            </a:pPr>
            <a:endParaRPr lang="id-ID" sz="2800" noProof="0" dirty="0"/>
          </a:p>
        </p:txBody>
      </p:sp>
      <p:sp>
        <p:nvSpPr>
          <p:cNvPr id="5" name="TextBox 4">
            <a:extLst>
              <a:ext uri="{FF2B5EF4-FFF2-40B4-BE49-F238E27FC236}">
                <a16:creationId xmlns:a16="http://schemas.microsoft.com/office/drawing/2014/main" id="{79FDA35C-5A5E-E12C-2433-38C38D3F0233}"/>
              </a:ext>
            </a:extLst>
          </p:cNvPr>
          <p:cNvSpPr txBox="1"/>
          <p:nvPr/>
        </p:nvSpPr>
        <p:spPr>
          <a:xfrm>
            <a:off x="318796" y="1160150"/>
            <a:ext cx="4606636" cy="3477875"/>
          </a:xfrm>
          <a:prstGeom prst="rect">
            <a:avLst/>
          </a:prstGeom>
          <a:noFill/>
        </p:spPr>
        <p:txBody>
          <a:bodyPr wrap="square">
            <a:spAutoFit/>
          </a:bodyPr>
          <a:lstStyle/>
          <a:p>
            <a:pPr algn="just"/>
            <a:r>
              <a:rPr lang="id-ID" sz="2000" noProof="0" dirty="0">
                <a:solidFill>
                  <a:srgbClr val="FFFFFF"/>
                </a:solidFill>
              </a:rPr>
              <a:t>3. Analisis</a:t>
            </a:r>
            <a:r>
              <a:rPr lang="en-US" sz="2000" noProof="0">
                <a:solidFill>
                  <a:srgbClr val="FFFFFF"/>
                </a:solidFill>
              </a:rPr>
              <a:t> Hasil</a:t>
            </a:r>
            <a:endParaRPr lang="id-ID" sz="2000" noProof="0" dirty="0">
              <a:solidFill>
                <a:srgbClr val="FFFFFF"/>
              </a:solidFill>
            </a:endParaRPr>
          </a:p>
          <a:p>
            <a:pPr algn="just"/>
            <a:r>
              <a:rPr lang="id-ID" sz="2000" noProof="0" dirty="0">
                <a:solidFill>
                  <a:srgbClr val="FFFFFF"/>
                </a:solidFill>
              </a:rPr>
              <a:t>Analisis hasil merupakan data yang telah di dapat melalui </a:t>
            </a:r>
            <a:r>
              <a:rPr lang="id-ID" sz="2000" i="1" noProof="0" dirty="0" err="1">
                <a:solidFill>
                  <a:srgbClr val="FFFFFF"/>
                </a:solidFill>
              </a:rPr>
              <a:t>WireShark</a:t>
            </a:r>
            <a:r>
              <a:rPr lang="id-ID" sz="2000" noProof="0" dirty="0">
                <a:solidFill>
                  <a:srgbClr val="FFFFFF"/>
                </a:solidFill>
              </a:rPr>
              <a:t> yang nantinya dihitung menggunakan </a:t>
            </a:r>
            <a:r>
              <a:rPr lang="id-ID" sz="2000" i="1" noProof="0" dirty="0" err="1">
                <a:solidFill>
                  <a:srgbClr val="FFFFFF"/>
                </a:solidFill>
              </a:rPr>
              <a:t>Quality</a:t>
            </a:r>
            <a:r>
              <a:rPr lang="id-ID" sz="2000" i="1" noProof="0" dirty="0">
                <a:solidFill>
                  <a:srgbClr val="FFFFFF"/>
                </a:solidFill>
              </a:rPr>
              <a:t> </a:t>
            </a:r>
            <a:r>
              <a:rPr lang="id-ID" sz="2000" i="1" noProof="0" dirty="0" err="1">
                <a:solidFill>
                  <a:srgbClr val="FFFFFF"/>
                </a:solidFill>
              </a:rPr>
              <a:t>of</a:t>
            </a:r>
            <a:r>
              <a:rPr lang="id-ID" sz="2000" i="1" noProof="0" dirty="0">
                <a:solidFill>
                  <a:srgbClr val="FFFFFF"/>
                </a:solidFill>
              </a:rPr>
              <a:t> Service (</a:t>
            </a:r>
            <a:r>
              <a:rPr lang="id-ID" sz="2000" i="1" noProof="0" dirty="0" err="1">
                <a:solidFill>
                  <a:srgbClr val="FFFFFF"/>
                </a:solidFill>
              </a:rPr>
              <a:t>QoS</a:t>
            </a:r>
            <a:r>
              <a:rPr lang="id-ID" sz="2000" i="1" noProof="0" dirty="0">
                <a:solidFill>
                  <a:srgbClr val="FFFFFF"/>
                </a:solidFill>
              </a:rPr>
              <a:t>) </a:t>
            </a:r>
            <a:r>
              <a:rPr lang="id-ID" sz="2000" noProof="0" dirty="0">
                <a:solidFill>
                  <a:srgbClr val="FFFFFF"/>
                </a:solidFill>
              </a:rPr>
              <a:t>dengan 4 parameter </a:t>
            </a:r>
            <a:r>
              <a:rPr lang="id-ID" sz="2000" i="1" noProof="0" dirty="0">
                <a:solidFill>
                  <a:srgbClr val="FFFFFF"/>
                </a:solidFill>
              </a:rPr>
              <a:t>yaitu </a:t>
            </a:r>
            <a:r>
              <a:rPr lang="id-ID" sz="2000" i="1" noProof="0" dirty="0" err="1">
                <a:solidFill>
                  <a:srgbClr val="FFFFFF"/>
                </a:solidFill>
              </a:rPr>
              <a:t>throughput</a:t>
            </a:r>
            <a:r>
              <a:rPr lang="id-ID" sz="2000" i="1" noProof="0" dirty="0">
                <a:solidFill>
                  <a:srgbClr val="FFFFFF"/>
                </a:solidFill>
              </a:rPr>
              <a:t>, </a:t>
            </a:r>
            <a:r>
              <a:rPr lang="id-ID" sz="2000" i="1" noProof="0" dirty="0" err="1">
                <a:solidFill>
                  <a:srgbClr val="FFFFFF"/>
                </a:solidFill>
              </a:rPr>
              <a:t>packet</a:t>
            </a:r>
            <a:r>
              <a:rPr lang="id-ID" sz="2000" i="1" noProof="0" dirty="0">
                <a:solidFill>
                  <a:srgbClr val="FFFFFF"/>
                </a:solidFill>
              </a:rPr>
              <a:t> </a:t>
            </a:r>
            <a:r>
              <a:rPr lang="id-ID" sz="2000" i="1" noProof="0" dirty="0" err="1">
                <a:solidFill>
                  <a:srgbClr val="FFFFFF"/>
                </a:solidFill>
              </a:rPr>
              <a:t>loss</a:t>
            </a:r>
            <a:r>
              <a:rPr lang="id-ID" sz="2000" i="1" noProof="0" dirty="0">
                <a:solidFill>
                  <a:srgbClr val="FFFFFF"/>
                </a:solidFill>
              </a:rPr>
              <a:t>, </a:t>
            </a:r>
            <a:r>
              <a:rPr lang="id-ID" sz="2000" i="1" noProof="0" dirty="0" err="1">
                <a:solidFill>
                  <a:srgbClr val="FFFFFF"/>
                </a:solidFill>
              </a:rPr>
              <a:t>delay</a:t>
            </a:r>
            <a:r>
              <a:rPr lang="id-ID" sz="2000" i="1" noProof="0" dirty="0">
                <a:solidFill>
                  <a:srgbClr val="FFFFFF"/>
                </a:solidFill>
              </a:rPr>
              <a:t> dan </a:t>
            </a:r>
            <a:r>
              <a:rPr lang="id-ID" sz="2000" i="1" noProof="0" dirty="0" err="1">
                <a:solidFill>
                  <a:srgbClr val="FFFFFF"/>
                </a:solidFill>
              </a:rPr>
              <a:t>jitter</a:t>
            </a:r>
            <a:r>
              <a:rPr lang="id-ID" sz="2000" i="1" noProof="0" dirty="0">
                <a:solidFill>
                  <a:srgbClr val="FFFFFF"/>
                </a:solidFill>
              </a:rPr>
              <a:t> </a:t>
            </a:r>
            <a:r>
              <a:rPr lang="id-ID" sz="2000" noProof="0" dirty="0">
                <a:solidFill>
                  <a:srgbClr val="FFFFFF"/>
                </a:solidFill>
              </a:rPr>
              <a:t>yang hasilnya dari 4 parameter memberikan Kesimpulan terhadap manajemen </a:t>
            </a:r>
            <a:r>
              <a:rPr lang="id-ID" sz="2000" i="1" noProof="0" dirty="0" err="1">
                <a:solidFill>
                  <a:srgbClr val="FFFFFF"/>
                </a:solidFill>
              </a:rPr>
              <a:t>bandwidth</a:t>
            </a:r>
            <a:r>
              <a:rPr lang="id-ID" sz="2000" noProof="0" dirty="0">
                <a:solidFill>
                  <a:srgbClr val="FFFFFF"/>
                </a:solidFill>
              </a:rPr>
              <a:t> yang digunakan baik dan sesuai harapan untuk MIN 3 Pontianak.</a:t>
            </a:r>
          </a:p>
        </p:txBody>
      </p:sp>
      <p:sp>
        <p:nvSpPr>
          <p:cNvPr id="6" name="Google Shape;1077;p55">
            <a:extLst>
              <a:ext uri="{FF2B5EF4-FFF2-40B4-BE49-F238E27FC236}">
                <a16:creationId xmlns:a16="http://schemas.microsoft.com/office/drawing/2014/main" id="{914C3A94-2FAC-45A3-98D7-3214D37B0E96}"/>
              </a:ext>
            </a:extLst>
          </p:cNvPr>
          <p:cNvSpPr txBox="1">
            <a:spLocks noGrp="1"/>
          </p:cNvSpPr>
          <p:nvPr>
            <p:ph type="title"/>
          </p:nvPr>
        </p:nvSpPr>
        <p:spPr>
          <a:xfrm>
            <a:off x="4837200" y="1501200"/>
            <a:ext cx="4178250" cy="1060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id-ID" noProof="0" dirty="0"/>
              <a:t>Rancangan </a:t>
            </a:r>
            <a:r>
              <a:rPr lang="en-US" noProof="0" dirty="0" err="1">
                <a:solidFill>
                  <a:schemeClr val="accent4"/>
                </a:solidFill>
              </a:rPr>
              <a:t>Implementasi</a:t>
            </a:r>
            <a:endParaRPr lang="id-ID" noProof="0" dirty="0">
              <a:solidFill>
                <a:schemeClr val="accent4"/>
              </a:solidFill>
            </a:endParaRPr>
          </a:p>
        </p:txBody>
      </p:sp>
    </p:spTree>
    <p:extLst>
      <p:ext uri="{BB962C8B-B14F-4D97-AF65-F5344CB8AC3E}">
        <p14:creationId xmlns:p14="http://schemas.microsoft.com/office/powerpoint/2010/main" val="3423589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44"/>
          <p:cNvSpPr txBox="1">
            <a:spLocks noGrp="1"/>
          </p:cNvSpPr>
          <p:nvPr>
            <p:ph type="title"/>
          </p:nvPr>
        </p:nvSpPr>
        <p:spPr>
          <a:xfrm>
            <a:off x="4355250" y="1307100"/>
            <a:ext cx="40755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id-ID" noProof="0" dirty="0">
                <a:solidFill>
                  <a:schemeClr val="accent4"/>
                </a:solidFill>
              </a:rPr>
              <a:t>Terima </a:t>
            </a:r>
            <a:r>
              <a:rPr lang="id-ID" noProof="0" dirty="0">
                <a:solidFill>
                  <a:schemeClr val="tx1"/>
                </a:solidFill>
              </a:rPr>
              <a:t>Kasih</a:t>
            </a:r>
          </a:p>
        </p:txBody>
      </p:sp>
      <p:grpSp>
        <p:nvGrpSpPr>
          <p:cNvPr id="709" name="Google Shape;709;p44"/>
          <p:cNvGrpSpPr/>
          <p:nvPr/>
        </p:nvGrpSpPr>
        <p:grpSpPr>
          <a:xfrm>
            <a:off x="335642" y="696438"/>
            <a:ext cx="2932044" cy="3907563"/>
            <a:chOff x="335642" y="696438"/>
            <a:chExt cx="2932044" cy="3907563"/>
          </a:xfrm>
        </p:grpSpPr>
        <p:sp>
          <p:nvSpPr>
            <p:cNvPr id="710" name="Google Shape;710;p44"/>
            <p:cNvSpPr/>
            <p:nvPr/>
          </p:nvSpPr>
          <p:spPr>
            <a:xfrm>
              <a:off x="335642" y="70501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1" name="Google Shape;711;p44"/>
            <p:cNvSpPr/>
            <p:nvPr/>
          </p:nvSpPr>
          <p:spPr>
            <a:xfrm>
              <a:off x="821967" y="696438"/>
              <a:ext cx="354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2" name="Google Shape;712;p44"/>
            <p:cNvSpPr/>
            <p:nvPr/>
          </p:nvSpPr>
          <p:spPr>
            <a:xfrm>
              <a:off x="335642" y="101723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3" name="Google Shape;713;p44"/>
            <p:cNvSpPr/>
            <p:nvPr/>
          </p:nvSpPr>
          <p:spPr>
            <a:xfrm>
              <a:off x="335642" y="1343950"/>
              <a:ext cx="354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4" name="Google Shape;714;p44"/>
            <p:cNvSpPr/>
            <p:nvPr/>
          </p:nvSpPr>
          <p:spPr>
            <a:xfrm>
              <a:off x="335642" y="1670688"/>
              <a:ext cx="354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5" name="Google Shape;715;p44"/>
            <p:cNvSpPr/>
            <p:nvPr/>
          </p:nvSpPr>
          <p:spPr>
            <a:xfrm>
              <a:off x="770496" y="1670688"/>
              <a:ext cx="4545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6" name="Google Shape;716;p44"/>
            <p:cNvSpPr/>
            <p:nvPr/>
          </p:nvSpPr>
          <p:spPr>
            <a:xfrm>
              <a:off x="1304877" y="1670688"/>
              <a:ext cx="3549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7" name="Google Shape;717;p44"/>
            <p:cNvSpPr/>
            <p:nvPr/>
          </p:nvSpPr>
          <p:spPr>
            <a:xfrm>
              <a:off x="335642" y="1981263"/>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8" name="Google Shape;718;p44"/>
            <p:cNvSpPr/>
            <p:nvPr/>
          </p:nvSpPr>
          <p:spPr>
            <a:xfrm>
              <a:off x="335642" y="2324113"/>
              <a:ext cx="3276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19" name="Google Shape;719;p44"/>
            <p:cNvSpPr/>
            <p:nvPr/>
          </p:nvSpPr>
          <p:spPr>
            <a:xfrm>
              <a:off x="335642" y="26330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0" name="Google Shape;720;p44"/>
            <p:cNvSpPr/>
            <p:nvPr/>
          </p:nvSpPr>
          <p:spPr>
            <a:xfrm>
              <a:off x="335642" y="2941963"/>
              <a:ext cx="3276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1" name="Google Shape;721;p44"/>
            <p:cNvSpPr/>
            <p:nvPr/>
          </p:nvSpPr>
          <p:spPr>
            <a:xfrm>
              <a:off x="349364" y="3722938"/>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2" name="Google Shape;722;p44"/>
            <p:cNvSpPr/>
            <p:nvPr/>
          </p:nvSpPr>
          <p:spPr>
            <a:xfrm>
              <a:off x="770496" y="1981263"/>
              <a:ext cx="3276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3" name="Google Shape;723;p44"/>
            <p:cNvSpPr/>
            <p:nvPr/>
          </p:nvSpPr>
          <p:spPr>
            <a:xfrm>
              <a:off x="731557" y="232411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4" name="Google Shape;724;p44"/>
            <p:cNvSpPr/>
            <p:nvPr/>
          </p:nvSpPr>
          <p:spPr>
            <a:xfrm>
              <a:off x="770496" y="2633038"/>
              <a:ext cx="3276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5" name="Google Shape;725;p44"/>
            <p:cNvSpPr/>
            <p:nvPr/>
          </p:nvSpPr>
          <p:spPr>
            <a:xfrm>
              <a:off x="770496" y="2958925"/>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6" name="Google Shape;726;p44"/>
            <p:cNvSpPr/>
            <p:nvPr/>
          </p:nvSpPr>
          <p:spPr>
            <a:xfrm>
              <a:off x="770496" y="3284813"/>
              <a:ext cx="3276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7" name="Google Shape;727;p44"/>
            <p:cNvSpPr/>
            <p:nvPr/>
          </p:nvSpPr>
          <p:spPr>
            <a:xfrm>
              <a:off x="1174186" y="1981263"/>
              <a:ext cx="6333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8" name="Google Shape;728;p44"/>
            <p:cNvSpPr/>
            <p:nvPr/>
          </p:nvSpPr>
          <p:spPr>
            <a:xfrm>
              <a:off x="1174186" y="2324113"/>
              <a:ext cx="8847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29" name="Google Shape;729;p44"/>
            <p:cNvSpPr/>
            <p:nvPr/>
          </p:nvSpPr>
          <p:spPr>
            <a:xfrm>
              <a:off x="1205349" y="2633038"/>
              <a:ext cx="1029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0" name="Google Shape;730;p44"/>
            <p:cNvSpPr/>
            <p:nvPr/>
          </p:nvSpPr>
          <p:spPr>
            <a:xfrm>
              <a:off x="1205349" y="2977538"/>
              <a:ext cx="10299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1" name="Google Shape;731;p44"/>
            <p:cNvSpPr/>
            <p:nvPr/>
          </p:nvSpPr>
          <p:spPr>
            <a:xfrm>
              <a:off x="1205349" y="3284813"/>
              <a:ext cx="10299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2" name="Google Shape;732;p44"/>
            <p:cNvSpPr/>
            <p:nvPr/>
          </p:nvSpPr>
          <p:spPr>
            <a:xfrm>
              <a:off x="1883777" y="1981263"/>
              <a:ext cx="5769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3" name="Google Shape;733;p44"/>
            <p:cNvSpPr/>
            <p:nvPr/>
          </p:nvSpPr>
          <p:spPr>
            <a:xfrm>
              <a:off x="2174096" y="2307150"/>
              <a:ext cx="5769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4" name="Google Shape;734;p44"/>
            <p:cNvSpPr/>
            <p:nvPr/>
          </p:nvSpPr>
          <p:spPr>
            <a:xfrm>
              <a:off x="2342750" y="2633063"/>
              <a:ext cx="3549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5" name="Google Shape;735;p44"/>
            <p:cNvSpPr/>
            <p:nvPr/>
          </p:nvSpPr>
          <p:spPr>
            <a:xfrm>
              <a:off x="2342750" y="3284863"/>
              <a:ext cx="3549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6" name="Google Shape;736;p44"/>
            <p:cNvSpPr/>
            <p:nvPr/>
          </p:nvSpPr>
          <p:spPr>
            <a:xfrm>
              <a:off x="349364" y="3962013"/>
              <a:ext cx="327600" cy="1479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7" name="Google Shape;737;p44"/>
            <p:cNvSpPr/>
            <p:nvPr/>
          </p:nvSpPr>
          <p:spPr>
            <a:xfrm>
              <a:off x="731557" y="4245513"/>
              <a:ext cx="327600" cy="1479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8" name="Google Shape;738;p44"/>
            <p:cNvSpPr/>
            <p:nvPr/>
          </p:nvSpPr>
          <p:spPr>
            <a:xfrm>
              <a:off x="1224956" y="4245513"/>
              <a:ext cx="524400" cy="1479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39" name="Google Shape;739;p44"/>
            <p:cNvSpPr/>
            <p:nvPr/>
          </p:nvSpPr>
          <p:spPr>
            <a:xfrm>
              <a:off x="1883777" y="4245513"/>
              <a:ext cx="661800" cy="1479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0" name="Google Shape;740;p44"/>
            <p:cNvSpPr/>
            <p:nvPr/>
          </p:nvSpPr>
          <p:spPr>
            <a:xfrm>
              <a:off x="2634075" y="4245513"/>
              <a:ext cx="241500" cy="1479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1" name="Google Shape;741;p44"/>
            <p:cNvSpPr/>
            <p:nvPr/>
          </p:nvSpPr>
          <p:spPr>
            <a:xfrm>
              <a:off x="731557" y="4454038"/>
              <a:ext cx="327600" cy="1479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2" name="Google Shape;742;p44"/>
            <p:cNvSpPr/>
            <p:nvPr/>
          </p:nvSpPr>
          <p:spPr>
            <a:xfrm>
              <a:off x="1224956" y="4454038"/>
              <a:ext cx="834000" cy="1479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3" name="Google Shape;743;p44"/>
            <p:cNvSpPr/>
            <p:nvPr/>
          </p:nvSpPr>
          <p:spPr>
            <a:xfrm>
              <a:off x="2169156" y="4454038"/>
              <a:ext cx="354900" cy="1479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4" name="Google Shape;744;p44"/>
            <p:cNvSpPr/>
            <p:nvPr/>
          </p:nvSpPr>
          <p:spPr>
            <a:xfrm>
              <a:off x="1250486" y="7083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5" name="Google Shape;745;p44"/>
            <p:cNvSpPr/>
            <p:nvPr/>
          </p:nvSpPr>
          <p:spPr>
            <a:xfrm>
              <a:off x="821986" y="1017263"/>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6" name="Google Shape;746;p44"/>
            <p:cNvSpPr/>
            <p:nvPr/>
          </p:nvSpPr>
          <p:spPr>
            <a:xfrm>
              <a:off x="1555286" y="1013138"/>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7" name="Google Shape;747;p44"/>
            <p:cNvSpPr/>
            <p:nvPr/>
          </p:nvSpPr>
          <p:spPr>
            <a:xfrm>
              <a:off x="821979" y="134398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8" name="Google Shape;748;p44"/>
            <p:cNvSpPr/>
            <p:nvPr/>
          </p:nvSpPr>
          <p:spPr>
            <a:xfrm>
              <a:off x="1739729" y="1668625"/>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49" name="Google Shape;749;p44"/>
            <p:cNvSpPr/>
            <p:nvPr/>
          </p:nvSpPr>
          <p:spPr>
            <a:xfrm>
              <a:off x="2342754" y="2977538"/>
              <a:ext cx="4029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0" name="Google Shape;750;p44"/>
            <p:cNvSpPr/>
            <p:nvPr/>
          </p:nvSpPr>
          <p:spPr>
            <a:xfrm>
              <a:off x="2537025" y="1981263"/>
              <a:ext cx="327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1" name="Google Shape;751;p44"/>
            <p:cNvSpPr/>
            <p:nvPr/>
          </p:nvSpPr>
          <p:spPr>
            <a:xfrm>
              <a:off x="2805050" y="2633038"/>
              <a:ext cx="3276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2" name="Google Shape;752;p44"/>
            <p:cNvSpPr/>
            <p:nvPr/>
          </p:nvSpPr>
          <p:spPr>
            <a:xfrm>
              <a:off x="2634386" y="4456100"/>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3" name="Google Shape;753;p44"/>
            <p:cNvSpPr/>
            <p:nvPr/>
          </p:nvSpPr>
          <p:spPr>
            <a:xfrm>
              <a:off x="770511" y="393657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sp>
          <p:nvSpPr>
            <p:cNvPr id="754" name="Google Shape;754;p44"/>
            <p:cNvSpPr/>
            <p:nvPr/>
          </p:nvSpPr>
          <p:spPr>
            <a:xfrm>
              <a:off x="770511" y="3706475"/>
              <a:ext cx="633300" cy="1479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id-ID" noProof="0" dirty="0"/>
            </a:p>
          </p:txBody>
        </p:sp>
      </p:grpSp>
      <p:sp>
        <p:nvSpPr>
          <p:cNvPr id="755" name="Google Shape;755;p44"/>
          <p:cNvSpPr txBox="1"/>
          <p:nvPr/>
        </p:nvSpPr>
        <p:spPr>
          <a:xfrm>
            <a:off x="4014788" y="245350"/>
            <a:ext cx="704700" cy="87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2"/>
                </a:solidFill>
                <a:latin typeface="Comfortaa"/>
                <a:ea typeface="Comfortaa"/>
                <a:cs typeface="Comfortaa"/>
                <a:sym typeface="Comfortaa"/>
              </a:rPr>
              <a:t>{</a:t>
            </a:r>
          </a:p>
        </p:txBody>
      </p:sp>
      <p:sp>
        <p:nvSpPr>
          <p:cNvPr id="756" name="Google Shape;756;p44"/>
          <p:cNvSpPr txBox="1"/>
          <p:nvPr/>
        </p:nvSpPr>
        <p:spPr>
          <a:xfrm>
            <a:off x="7313175" y="3836400"/>
            <a:ext cx="5193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d-ID" sz="5000" noProof="0" dirty="0">
                <a:solidFill>
                  <a:schemeClr val="accent3"/>
                </a:solidFill>
                <a:latin typeface="Comfortaa"/>
                <a:ea typeface="Comfortaa"/>
                <a:cs typeface="Comfortaa"/>
                <a:sym typeface="Comfortaa"/>
              </a:rPr>
              <a:t>}</a:t>
            </a:r>
          </a:p>
        </p:txBody>
      </p:sp>
      <p:sp>
        <p:nvSpPr>
          <p:cNvPr id="757" name="Google Shape;757;p44"/>
          <p:cNvSpPr txBox="1"/>
          <p:nvPr/>
        </p:nvSpPr>
        <p:spPr>
          <a:xfrm>
            <a:off x="7778275" y="4049400"/>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2"/>
                </a:solidFill>
                <a:latin typeface="Fira Code"/>
                <a:ea typeface="Fira Code"/>
                <a:cs typeface="Fira Code"/>
                <a:sym typeface="Fira Code"/>
              </a:rPr>
              <a:t>..</a:t>
            </a:r>
            <a:endParaRPr lang="id-ID" sz="5000" noProof="0" dirty="0">
              <a:solidFill>
                <a:schemeClr val="accent2"/>
              </a:solidFill>
            </a:endParaRPr>
          </a:p>
        </p:txBody>
      </p:sp>
      <p:sp>
        <p:nvSpPr>
          <p:cNvPr id="758" name="Google Shape;758;p44"/>
          <p:cNvSpPr txBox="1"/>
          <p:nvPr/>
        </p:nvSpPr>
        <p:spPr>
          <a:xfrm>
            <a:off x="4459138" y="460025"/>
            <a:ext cx="976200" cy="5463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id-ID" sz="5000" noProof="0" dirty="0">
                <a:solidFill>
                  <a:schemeClr val="accent5"/>
                </a:solidFill>
                <a:latin typeface="Fira Code"/>
                <a:ea typeface="Fira Code"/>
                <a:cs typeface="Fira Code"/>
                <a:sym typeface="Fira Code"/>
              </a:rPr>
              <a:t>..</a:t>
            </a:r>
            <a:endParaRPr lang="id-ID" sz="5000" noProof="0" dirty="0">
              <a:solidFill>
                <a:schemeClr val="accent5"/>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Introduction to Java Programming for High School by Slidesgo">
  <a:themeElements>
    <a:clrScheme name="Simple Light">
      <a:dk1>
        <a:srgbClr val="E7E7E7"/>
      </a:dk1>
      <a:lt1>
        <a:srgbClr val="10111A"/>
      </a:lt1>
      <a:dk2>
        <a:srgbClr val="FD4A4A"/>
      </a:dk2>
      <a:lt2>
        <a:srgbClr val="EC7955"/>
      </a:lt2>
      <a:accent1>
        <a:srgbClr val="E81A81"/>
      </a:accent1>
      <a:accent2>
        <a:srgbClr val="94EE6B"/>
      </a:accent2>
      <a:accent3>
        <a:srgbClr val="4CAE97"/>
      </a:accent3>
      <a:accent4>
        <a:srgbClr val="BD64B5"/>
      </a:accent4>
      <a:accent5>
        <a:srgbClr val="FFFF99"/>
      </a:accent5>
      <a:accent6>
        <a:srgbClr val="2C293A"/>
      </a:accent6>
      <a:hlink>
        <a:srgbClr val="F8F8F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922</TotalTime>
  <Words>1166</Words>
  <Application>Microsoft Office PowerPoint</Application>
  <PresentationFormat>On-screen Show (16:9)</PresentationFormat>
  <Paragraphs>125</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Source Code Pro</vt:lpstr>
      <vt:lpstr>Anaheim</vt:lpstr>
      <vt:lpstr>Fira Code</vt:lpstr>
      <vt:lpstr>Comfortaa</vt:lpstr>
      <vt:lpstr>Source Code Pro Medium</vt:lpstr>
      <vt:lpstr>Bebas Neue</vt:lpstr>
      <vt:lpstr>Arial</vt:lpstr>
      <vt:lpstr>Introduction to Java Programming for High School by Slidesgo</vt:lpstr>
      <vt:lpstr>IMPLEMENTASI VLAN PADA MIN 3 PONTIANAK</vt:lpstr>
      <vt:lpstr>PowerPoint Presentation</vt:lpstr>
      <vt:lpstr>Pendahuluan</vt:lpstr>
      <vt:lpstr>Latar belakang</vt:lpstr>
      <vt:lpstr>Latar belakang</vt:lpstr>
      <vt:lpstr>Latar belakang</vt:lpstr>
      <vt:lpstr>Latar belakang</vt:lpstr>
      <vt:lpstr>Rumusan masalah</vt:lpstr>
      <vt:lpstr>Batasan masalah</vt:lpstr>
      <vt:lpstr>Batasan masalah</vt:lpstr>
      <vt:lpstr>Tujuan Penelitian</vt:lpstr>
      <vt:lpstr>Manfaat Penelitian</vt:lpstr>
      <vt:lpstr>Landasan teori</vt:lpstr>
      <vt:lpstr>Tinjauan Pustaka</vt:lpstr>
      <vt:lpstr>Tinjauan Pustaka</vt:lpstr>
      <vt:lpstr>Jaringan Komputer</vt:lpstr>
      <vt:lpstr>Virtual Local Area Network (VLAN)</vt:lpstr>
      <vt:lpstr>Manajemen Bandwidth</vt:lpstr>
      <vt:lpstr>Metodologi penelitian</vt:lpstr>
      <vt:lpstr>Alur Kerja Penelitian</vt:lpstr>
      <vt:lpstr>Pengumpulan Data</vt:lpstr>
      <vt:lpstr>Rancangan Implementasi</vt:lpstr>
      <vt:lpstr>Rancangan Implementasi</vt:lpstr>
      <vt:lpstr>Rancangan Implementasi</vt:lpstr>
      <vt:lpstr>Terima 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 Informasi E-Learning Pada SMKN 1 Nangaroro Menggunakan Metode Unified Modelling Language (Uml)</dc:title>
  <dc:creator>Muhamad Rizal Saputra</dc:creator>
  <cp:lastModifiedBy>Imam Muktamarulhaq</cp:lastModifiedBy>
  <cp:revision>71</cp:revision>
  <cp:lastPrinted>2025-09-25T16:59:52Z</cp:lastPrinted>
  <dcterms:modified xsi:type="dcterms:W3CDTF">2025-09-25T17:02:38Z</dcterms:modified>
</cp:coreProperties>
</file>
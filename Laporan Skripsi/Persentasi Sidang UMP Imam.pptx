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72" r:id="rId3"/>
    <p:sldId id="295" r:id="rId4"/>
    <p:sldId id="296" r:id="rId5"/>
    <p:sldId id="258" r:id="rId6"/>
    <p:sldId id="273" r:id="rId7"/>
    <p:sldId id="297" r:id="rId8"/>
    <p:sldId id="284" r:id="rId9"/>
    <p:sldId id="274" r:id="rId10"/>
    <p:sldId id="276" r:id="rId11"/>
    <p:sldId id="298" r:id="rId12"/>
    <p:sldId id="299" r:id="rId13"/>
    <p:sldId id="277" r:id="rId14"/>
    <p:sldId id="285" r:id="rId15"/>
    <p:sldId id="280" r:id="rId16"/>
    <p:sldId id="306" r:id="rId17"/>
    <p:sldId id="307" r:id="rId18"/>
    <p:sldId id="286" r:id="rId19"/>
    <p:sldId id="300" r:id="rId20"/>
    <p:sldId id="301" r:id="rId21"/>
    <p:sldId id="302" r:id="rId22"/>
    <p:sldId id="290" r:id="rId23"/>
    <p:sldId id="303" r:id="rId24"/>
    <p:sldId id="304" r:id="rId25"/>
    <p:sldId id="305" r:id="rId26"/>
    <p:sldId id="292" r:id="rId27"/>
    <p:sldId id="293" r:id="rId28"/>
    <p:sldId id="270" r:id="rId29"/>
  </p:sldIdLst>
  <p:sldSz cx="18288000" cy="10287000"/>
  <p:notesSz cx="10020300" cy="6888163"/>
  <p:embeddedFontLst>
    <p:embeddedFont>
      <p:font typeface="Inter" panose="020B0604020202020204" charset="0"/>
      <p:regular r:id="rId31"/>
    </p:embeddedFont>
    <p:embeddedFont>
      <p:font typeface="Inter Bold" panose="020B0604020202020204" charset="0"/>
      <p:regular r:id="rId32"/>
    </p:embeddedFont>
    <p:embeddedFont>
      <p:font typeface="Lato Light" panose="020F0502020204030203"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D47B"/>
    <a:srgbClr val="146036"/>
    <a:srgbClr val="0F4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94622" autoAdjust="0"/>
  </p:normalViewPr>
  <p:slideViewPr>
    <p:cSldViewPr>
      <p:cViewPr varScale="1">
        <p:scale>
          <a:sx n="69" d="100"/>
          <a:sy n="69" d="100"/>
        </p:scale>
        <p:origin x="28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42130" cy="345604"/>
          </a:xfrm>
          <a:prstGeom prst="rect">
            <a:avLst/>
          </a:prstGeom>
        </p:spPr>
        <p:txBody>
          <a:bodyPr vert="horz" lIns="96616" tIns="48308" rIns="96616" bIns="48308" rtlCol="0"/>
          <a:lstStyle>
            <a:lvl1pPr algn="l">
              <a:defRPr sz="1300"/>
            </a:lvl1pPr>
          </a:lstStyle>
          <a:p>
            <a:endParaRPr lang="en-ID"/>
          </a:p>
        </p:txBody>
      </p:sp>
      <p:sp>
        <p:nvSpPr>
          <p:cNvPr id="3" name="Date Placeholder 2"/>
          <p:cNvSpPr>
            <a:spLocks noGrp="1"/>
          </p:cNvSpPr>
          <p:nvPr>
            <p:ph type="dt" idx="1"/>
          </p:nvPr>
        </p:nvSpPr>
        <p:spPr>
          <a:xfrm>
            <a:off x="5675851" y="1"/>
            <a:ext cx="4342130" cy="345604"/>
          </a:xfrm>
          <a:prstGeom prst="rect">
            <a:avLst/>
          </a:prstGeom>
        </p:spPr>
        <p:txBody>
          <a:bodyPr vert="horz" lIns="96616" tIns="48308" rIns="96616" bIns="48308" rtlCol="0"/>
          <a:lstStyle>
            <a:lvl1pPr algn="r">
              <a:defRPr sz="1300"/>
            </a:lvl1pPr>
          </a:lstStyle>
          <a:p>
            <a:fld id="{16D838FC-5ACD-441D-B394-1712A9A444EC}" type="datetimeFigureOut">
              <a:rPr lang="en-ID" smtClean="0"/>
              <a:t>28/01/2026</a:t>
            </a:fld>
            <a:endParaRPr lang="en-ID"/>
          </a:p>
        </p:txBody>
      </p:sp>
      <p:sp>
        <p:nvSpPr>
          <p:cNvPr id="4" name="Slide Image Placeholder 3"/>
          <p:cNvSpPr>
            <a:spLocks noGrp="1" noRot="1" noChangeAspect="1"/>
          </p:cNvSpPr>
          <p:nvPr>
            <p:ph type="sldImg" idx="2"/>
          </p:nvPr>
        </p:nvSpPr>
        <p:spPr>
          <a:xfrm>
            <a:off x="2943225" y="860425"/>
            <a:ext cx="4133850" cy="2325688"/>
          </a:xfrm>
          <a:prstGeom prst="rect">
            <a:avLst/>
          </a:prstGeom>
          <a:noFill/>
          <a:ln w="12700">
            <a:solidFill>
              <a:prstClr val="black"/>
            </a:solidFill>
          </a:ln>
        </p:spPr>
        <p:txBody>
          <a:bodyPr vert="horz" lIns="96616" tIns="48308" rIns="96616" bIns="48308" rtlCol="0" anchor="ctr"/>
          <a:lstStyle/>
          <a:p>
            <a:endParaRPr lang="en-ID"/>
          </a:p>
        </p:txBody>
      </p:sp>
      <p:sp>
        <p:nvSpPr>
          <p:cNvPr id="5" name="Notes Placeholder 4"/>
          <p:cNvSpPr>
            <a:spLocks noGrp="1"/>
          </p:cNvSpPr>
          <p:nvPr>
            <p:ph type="body" sz="quarter" idx="3"/>
          </p:nvPr>
        </p:nvSpPr>
        <p:spPr>
          <a:xfrm>
            <a:off x="1002030" y="3314928"/>
            <a:ext cx="8016240" cy="2712215"/>
          </a:xfrm>
          <a:prstGeom prst="rect">
            <a:avLst/>
          </a:prstGeom>
        </p:spPr>
        <p:txBody>
          <a:bodyPr vert="horz" lIns="96616" tIns="48308" rIns="96616" bIns="4830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6542560"/>
            <a:ext cx="4342130" cy="345603"/>
          </a:xfrm>
          <a:prstGeom prst="rect">
            <a:avLst/>
          </a:prstGeom>
        </p:spPr>
        <p:txBody>
          <a:bodyPr vert="horz" lIns="96616" tIns="48308" rIns="96616" bIns="48308" rtlCol="0" anchor="b"/>
          <a:lstStyle>
            <a:lvl1pPr algn="l">
              <a:defRPr sz="1300"/>
            </a:lvl1pPr>
          </a:lstStyle>
          <a:p>
            <a:endParaRPr lang="en-ID"/>
          </a:p>
        </p:txBody>
      </p:sp>
      <p:sp>
        <p:nvSpPr>
          <p:cNvPr id="7" name="Slide Number Placeholder 6"/>
          <p:cNvSpPr>
            <a:spLocks noGrp="1"/>
          </p:cNvSpPr>
          <p:nvPr>
            <p:ph type="sldNum" sz="quarter" idx="5"/>
          </p:nvPr>
        </p:nvSpPr>
        <p:spPr>
          <a:xfrm>
            <a:off x="5675851" y="6542560"/>
            <a:ext cx="4342130" cy="345603"/>
          </a:xfrm>
          <a:prstGeom prst="rect">
            <a:avLst/>
          </a:prstGeom>
        </p:spPr>
        <p:txBody>
          <a:bodyPr vert="horz" lIns="96616" tIns="48308" rIns="96616" bIns="48308" rtlCol="0" anchor="b"/>
          <a:lstStyle>
            <a:lvl1pPr algn="r">
              <a:defRPr sz="1300"/>
            </a:lvl1pPr>
          </a:lstStyle>
          <a:p>
            <a:fld id="{038D563C-D771-4F0E-882D-9B4749A7DA52}" type="slidenum">
              <a:rPr lang="en-ID" smtClean="0"/>
              <a:t>‹#›</a:t>
            </a:fld>
            <a:endParaRPr lang="en-ID"/>
          </a:p>
        </p:txBody>
      </p:sp>
    </p:spTree>
    <p:extLst>
      <p:ext uri="{BB962C8B-B14F-4D97-AF65-F5344CB8AC3E}">
        <p14:creationId xmlns:p14="http://schemas.microsoft.com/office/powerpoint/2010/main" val="161366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a:t>
            </a:fld>
            <a:endParaRPr lang="en-ID"/>
          </a:p>
        </p:txBody>
      </p:sp>
    </p:spTree>
    <p:extLst>
      <p:ext uri="{BB962C8B-B14F-4D97-AF65-F5344CB8AC3E}">
        <p14:creationId xmlns:p14="http://schemas.microsoft.com/office/powerpoint/2010/main" val="681680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a:t>
            </a:fld>
            <a:endParaRPr lang="en-ID"/>
          </a:p>
        </p:txBody>
      </p:sp>
    </p:spTree>
    <p:extLst>
      <p:ext uri="{BB962C8B-B14F-4D97-AF65-F5344CB8AC3E}">
        <p14:creationId xmlns:p14="http://schemas.microsoft.com/office/powerpoint/2010/main" val="2096321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3</a:t>
            </a:fld>
            <a:endParaRPr lang="en-ID"/>
          </a:p>
        </p:txBody>
      </p:sp>
    </p:spTree>
    <p:extLst>
      <p:ext uri="{BB962C8B-B14F-4D97-AF65-F5344CB8AC3E}">
        <p14:creationId xmlns:p14="http://schemas.microsoft.com/office/powerpoint/2010/main" val="90987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4</a:t>
            </a:fld>
            <a:endParaRPr lang="en-ID"/>
          </a:p>
        </p:txBody>
      </p:sp>
    </p:spTree>
    <p:extLst>
      <p:ext uri="{BB962C8B-B14F-4D97-AF65-F5344CB8AC3E}">
        <p14:creationId xmlns:p14="http://schemas.microsoft.com/office/powerpoint/2010/main" val="1744850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5</a:t>
            </a:fld>
            <a:endParaRPr lang="en-ID"/>
          </a:p>
        </p:txBody>
      </p:sp>
    </p:spTree>
    <p:extLst>
      <p:ext uri="{BB962C8B-B14F-4D97-AF65-F5344CB8AC3E}">
        <p14:creationId xmlns:p14="http://schemas.microsoft.com/office/powerpoint/2010/main" val="3548360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6</a:t>
            </a:fld>
            <a:endParaRPr lang="en-ID"/>
          </a:p>
        </p:txBody>
      </p:sp>
    </p:spTree>
    <p:extLst>
      <p:ext uri="{BB962C8B-B14F-4D97-AF65-F5344CB8AC3E}">
        <p14:creationId xmlns:p14="http://schemas.microsoft.com/office/powerpoint/2010/main" val="4193470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7</a:t>
            </a:fld>
            <a:endParaRPr lang="en-ID"/>
          </a:p>
        </p:txBody>
      </p:sp>
    </p:spTree>
    <p:extLst>
      <p:ext uri="{BB962C8B-B14F-4D97-AF65-F5344CB8AC3E}">
        <p14:creationId xmlns:p14="http://schemas.microsoft.com/office/powerpoint/2010/main" val="2955036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8</a:t>
            </a:fld>
            <a:endParaRPr lang="en-ID"/>
          </a:p>
        </p:txBody>
      </p:sp>
    </p:spTree>
    <p:extLst>
      <p:ext uri="{BB962C8B-B14F-4D97-AF65-F5344CB8AC3E}">
        <p14:creationId xmlns:p14="http://schemas.microsoft.com/office/powerpoint/2010/main" val="410492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9</a:t>
            </a:fld>
            <a:endParaRPr lang="en-ID"/>
          </a:p>
        </p:txBody>
      </p:sp>
    </p:spTree>
    <p:extLst>
      <p:ext uri="{BB962C8B-B14F-4D97-AF65-F5344CB8AC3E}">
        <p14:creationId xmlns:p14="http://schemas.microsoft.com/office/powerpoint/2010/main" val="223106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10</a:t>
            </a:fld>
            <a:endParaRPr lang="en-ID"/>
          </a:p>
        </p:txBody>
      </p:sp>
    </p:spTree>
    <p:extLst>
      <p:ext uri="{BB962C8B-B14F-4D97-AF65-F5344CB8AC3E}">
        <p14:creationId xmlns:p14="http://schemas.microsoft.com/office/powerpoint/2010/main" val="3283448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11</a:t>
            </a:fld>
            <a:endParaRPr lang="en-ID"/>
          </a:p>
        </p:txBody>
      </p:sp>
    </p:spTree>
    <p:extLst>
      <p:ext uri="{BB962C8B-B14F-4D97-AF65-F5344CB8AC3E}">
        <p14:creationId xmlns:p14="http://schemas.microsoft.com/office/powerpoint/2010/main" val="1202830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12</a:t>
            </a:fld>
            <a:endParaRPr lang="en-ID"/>
          </a:p>
        </p:txBody>
      </p:sp>
    </p:spTree>
    <p:extLst>
      <p:ext uri="{BB962C8B-B14F-4D97-AF65-F5344CB8AC3E}">
        <p14:creationId xmlns:p14="http://schemas.microsoft.com/office/powerpoint/2010/main" val="122907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13</a:t>
            </a:fld>
            <a:endParaRPr lang="en-ID"/>
          </a:p>
        </p:txBody>
      </p:sp>
    </p:spTree>
    <p:extLst>
      <p:ext uri="{BB962C8B-B14F-4D97-AF65-F5344CB8AC3E}">
        <p14:creationId xmlns:p14="http://schemas.microsoft.com/office/powerpoint/2010/main" val="2811228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14</a:t>
            </a:fld>
            <a:endParaRPr lang="en-ID"/>
          </a:p>
        </p:txBody>
      </p:sp>
    </p:spTree>
    <p:extLst>
      <p:ext uri="{BB962C8B-B14F-4D97-AF65-F5344CB8AC3E}">
        <p14:creationId xmlns:p14="http://schemas.microsoft.com/office/powerpoint/2010/main" val="1584299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15</a:t>
            </a:fld>
            <a:endParaRPr lang="en-ID"/>
          </a:p>
        </p:txBody>
      </p:sp>
    </p:spTree>
    <p:extLst>
      <p:ext uri="{BB962C8B-B14F-4D97-AF65-F5344CB8AC3E}">
        <p14:creationId xmlns:p14="http://schemas.microsoft.com/office/powerpoint/2010/main" val="3993052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16</a:t>
            </a:fld>
            <a:endParaRPr lang="en-ID"/>
          </a:p>
        </p:txBody>
      </p:sp>
    </p:spTree>
    <p:extLst>
      <p:ext uri="{BB962C8B-B14F-4D97-AF65-F5344CB8AC3E}">
        <p14:creationId xmlns:p14="http://schemas.microsoft.com/office/powerpoint/2010/main" val="180626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17</a:t>
            </a:fld>
            <a:endParaRPr lang="en-ID"/>
          </a:p>
        </p:txBody>
      </p:sp>
    </p:spTree>
    <p:extLst>
      <p:ext uri="{BB962C8B-B14F-4D97-AF65-F5344CB8AC3E}">
        <p14:creationId xmlns:p14="http://schemas.microsoft.com/office/powerpoint/2010/main" val="2756427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18</a:t>
            </a:fld>
            <a:endParaRPr lang="en-ID"/>
          </a:p>
        </p:txBody>
      </p:sp>
    </p:spTree>
    <p:extLst>
      <p:ext uri="{BB962C8B-B14F-4D97-AF65-F5344CB8AC3E}">
        <p14:creationId xmlns:p14="http://schemas.microsoft.com/office/powerpoint/2010/main" val="2561861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19</a:t>
            </a:fld>
            <a:endParaRPr lang="en-ID"/>
          </a:p>
        </p:txBody>
      </p:sp>
    </p:spTree>
    <p:extLst>
      <p:ext uri="{BB962C8B-B14F-4D97-AF65-F5344CB8AC3E}">
        <p14:creationId xmlns:p14="http://schemas.microsoft.com/office/powerpoint/2010/main" val="420462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20</a:t>
            </a:fld>
            <a:endParaRPr lang="en-ID"/>
          </a:p>
        </p:txBody>
      </p:sp>
    </p:spTree>
    <p:extLst>
      <p:ext uri="{BB962C8B-B14F-4D97-AF65-F5344CB8AC3E}">
        <p14:creationId xmlns:p14="http://schemas.microsoft.com/office/powerpoint/2010/main" val="4073784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21</a:t>
            </a:fld>
            <a:endParaRPr lang="en-ID"/>
          </a:p>
        </p:txBody>
      </p:sp>
    </p:spTree>
    <p:extLst>
      <p:ext uri="{BB962C8B-B14F-4D97-AF65-F5344CB8AC3E}">
        <p14:creationId xmlns:p14="http://schemas.microsoft.com/office/powerpoint/2010/main" val="2683198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22</a:t>
            </a:fld>
            <a:endParaRPr lang="en-ID"/>
          </a:p>
        </p:txBody>
      </p:sp>
    </p:spTree>
    <p:extLst>
      <p:ext uri="{BB962C8B-B14F-4D97-AF65-F5344CB8AC3E}">
        <p14:creationId xmlns:p14="http://schemas.microsoft.com/office/powerpoint/2010/main" val="2251868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23</a:t>
            </a:fld>
            <a:endParaRPr lang="en-ID"/>
          </a:p>
        </p:txBody>
      </p:sp>
    </p:spTree>
    <p:extLst>
      <p:ext uri="{BB962C8B-B14F-4D97-AF65-F5344CB8AC3E}">
        <p14:creationId xmlns:p14="http://schemas.microsoft.com/office/powerpoint/2010/main" val="168221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24</a:t>
            </a:fld>
            <a:endParaRPr lang="en-ID"/>
          </a:p>
        </p:txBody>
      </p:sp>
    </p:spTree>
    <p:extLst>
      <p:ext uri="{BB962C8B-B14F-4D97-AF65-F5344CB8AC3E}">
        <p14:creationId xmlns:p14="http://schemas.microsoft.com/office/powerpoint/2010/main" val="1353285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25</a:t>
            </a:fld>
            <a:endParaRPr lang="en-ID"/>
          </a:p>
        </p:txBody>
      </p:sp>
    </p:spTree>
    <p:extLst>
      <p:ext uri="{BB962C8B-B14F-4D97-AF65-F5344CB8AC3E}">
        <p14:creationId xmlns:p14="http://schemas.microsoft.com/office/powerpoint/2010/main" val="32312374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26</a:t>
            </a:fld>
            <a:endParaRPr lang="en-ID"/>
          </a:p>
        </p:txBody>
      </p:sp>
    </p:spTree>
    <p:extLst>
      <p:ext uri="{BB962C8B-B14F-4D97-AF65-F5344CB8AC3E}">
        <p14:creationId xmlns:p14="http://schemas.microsoft.com/office/powerpoint/2010/main" val="1598463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27</a:t>
            </a:fld>
            <a:endParaRPr lang="en-ID"/>
          </a:p>
        </p:txBody>
      </p:sp>
    </p:spTree>
    <p:extLst>
      <p:ext uri="{BB962C8B-B14F-4D97-AF65-F5344CB8AC3E}">
        <p14:creationId xmlns:p14="http://schemas.microsoft.com/office/powerpoint/2010/main" val="2618001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038D563C-D771-4F0E-882D-9B4749A7DA52}" type="slidenum">
              <a:rPr lang="en-ID" smtClean="0"/>
              <a:t>28</a:t>
            </a:fld>
            <a:endParaRPr lang="en-ID"/>
          </a:p>
        </p:txBody>
      </p:sp>
    </p:spTree>
    <p:extLst>
      <p:ext uri="{BB962C8B-B14F-4D97-AF65-F5344CB8AC3E}">
        <p14:creationId xmlns:p14="http://schemas.microsoft.com/office/powerpoint/2010/main" val="3567307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8" name="Group 8"/>
          <p:cNvGrpSpPr/>
          <p:nvPr/>
        </p:nvGrpSpPr>
        <p:grpSpPr>
          <a:xfrm>
            <a:off x="1028700" y="1448794"/>
            <a:ext cx="11391900" cy="2792956"/>
            <a:chOff x="0" y="161925"/>
            <a:chExt cx="15189200" cy="3723942"/>
          </a:xfrm>
        </p:grpSpPr>
        <p:sp>
          <p:nvSpPr>
            <p:cNvPr id="9" name="TextBox 9"/>
            <p:cNvSpPr txBox="1"/>
            <p:nvPr/>
          </p:nvSpPr>
          <p:spPr>
            <a:xfrm>
              <a:off x="0" y="161925"/>
              <a:ext cx="15189200" cy="1690378"/>
            </a:xfrm>
            <a:prstGeom prst="rect">
              <a:avLst/>
            </a:prstGeom>
          </p:spPr>
          <p:txBody>
            <a:bodyPr wrap="square" lIns="0" tIns="0" rIns="0" bIns="0" rtlCol="0" anchor="t">
              <a:spAutoFit/>
            </a:bodyPr>
            <a:lstStyle/>
            <a:p>
              <a:pPr>
                <a:lnSpc>
                  <a:spcPts val="11330"/>
                </a:lnSpc>
              </a:pPr>
              <a:r>
                <a:rPr lang="en-US" sz="6000" dirty="0" err="1">
                  <a:solidFill>
                    <a:schemeClr val="tx1">
                      <a:lumMod val="75000"/>
                      <a:lumOff val="25000"/>
                    </a:schemeClr>
                  </a:solidFill>
                  <a:latin typeface="Inter Bold"/>
                </a:rPr>
                <a:t>Sidang</a:t>
              </a:r>
              <a:r>
                <a:rPr lang="en-US" sz="6000" dirty="0">
                  <a:solidFill>
                    <a:schemeClr val="tx1">
                      <a:lumMod val="75000"/>
                      <a:lumOff val="25000"/>
                    </a:schemeClr>
                  </a:solidFill>
                  <a:latin typeface="Inter Bold"/>
                </a:rPr>
                <a:t> Akhir </a:t>
              </a:r>
              <a:r>
                <a:rPr lang="en-US" sz="6000" dirty="0" err="1">
                  <a:solidFill>
                    <a:schemeClr val="tx1">
                      <a:lumMod val="75000"/>
                      <a:lumOff val="25000"/>
                    </a:schemeClr>
                  </a:solidFill>
                  <a:latin typeface="Inter Bold"/>
                </a:rPr>
                <a:t>Skripsi</a:t>
              </a:r>
              <a:endParaRPr lang="en-US" sz="6000" dirty="0">
                <a:solidFill>
                  <a:schemeClr val="tx1">
                    <a:lumMod val="75000"/>
                    <a:lumOff val="25000"/>
                  </a:schemeClr>
                </a:solidFill>
                <a:latin typeface="Inter Bold"/>
              </a:endParaRPr>
            </a:p>
          </p:txBody>
        </p:sp>
        <p:sp>
          <p:nvSpPr>
            <p:cNvPr id="10" name="TextBox 10"/>
            <p:cNvSpPr txBox="1"/>
            <p:nvPr/>
          </p:nvSpPr>
          <p:spPr>
            <a:xfrm>
              <a:off x="61633" y="2141800"/>
              <a:ext cx="11774767" cy="1744067"/>
            </a:xfrm>
            <a:prstGeom prst="rect">
              <a:avLst/>
            </a:prstGeom>
          </p:spPr>
          <p:txBody>
            <a:bodyPr wrap="square" lIns="0" tIns="0" rIns="0" bIns="0" rtlCol="0" anchor="t">
              <a:spAutoFit/>
            </a:bodyPr>
            <a:lstStyle/>
            <a:p>
              <a:pPr>
                <a:lnSpc>
                  <a:spcPts val="3358"/>
                </a:lnSpc>
                <a:spcBef>
                  <a:spcPct val="0"/>
                </a:spcBef>
              </a:pPr>
              <a:r>
                <a:rPr lang="en-US" sz="3200">
                  <a:solidFill>
                    <a:schemeClr val="tx1">
                      <a:lumMod val="75000"/>
                      <a:lumOff val="25000"/>
                    </a:schemeClr>
                  </a:solidFill>
                  <a:effectLst/>
                  <a:latin typeface="Inter" panose="020B0604020202020204" charset="0"/>
                  <a:ea typeface="Inter" panose="020B0604020202020204" charset="0"/>
                </a:rPr>
                <a:t>IMPLEMENTASI QUEUE TREE </a:t>
              </a:r>
              <a:r>
                <a:rPr lang="en-US" sz="3200" dirty="0">
                  <a:solidFill>
                    <a:schemeClr val="tx1">
                      <a:lumMod val="75000"/>
                      <a:lumOff val="25000"/>
                    </a:schemeClr>
                  </a:solidFill>
                  <a:effectLst/>
                  <a:latin typeface="Inter" panose="020B0604020202020204" charset="0"/>
                  <a:ea typeface="Inter" panose="020B0604020202020204" charset="0"/>
                </a:rPr>
                <a:t>UNTUK OPTIMASI QUALITY OF SERVICE (QOS) JARINGAN PADA MIN 3 PONTIANAK</a:t>
              </a:r>
              <a:endParaRPr lang="en-US" sz="3200" i="1" dirty="0">
                <a:solidFill>
                  <a:schemeClr val="tx1">
                    <a:lumMod val="75000"/>
                    <a:lumOff val="25000"/>
                  </a:schemeClr>
                </a:solidFill>
                <a:effectLst/>
                <a:latin typeface="Inter" panose="020B0604020202020204" charset="0"/>
                <a:ea typeface="Inter" panose="020B0604020202020204" charset="0"/>
              </a:endParaRPr>
            </a:p>
          </p:txBody>
        </p:sp>
      </p:grpSp>
      <p:sp>
        <p:nvSpPr>
          <p:cNvPr id="13" name="AutoShape 13"/>
          <p:cNvSpPr/>
          <p:nvPr/>
        </p:nvSpPr>
        <p:spPr>
          <a:xfrm>
            <a:off x="-443075" y="9720640"/>
            <a:ext cx="18865925" cy="1140393"/>
          </a:xfrm>
          <a:prstGeom prst="rect">
            <a:avLst/>
          </a:prstGeom>
          <a:solidFill>
            <a:srgbClr val="2ED47B"/>
          </a:solidFill>
        </p:spPr>
      </p:sp>
      <p:pic>
        <p:nvPicPr>
          <p:cNvPr id="15" name="Picture 14">
            <a:extLst>
              <a:ext uri="{FF2B5EF4-FFF2-40B4-BE49-F238E27FC236}">
                <a16:creationId xmlns:a16="http://schemas.microsoft.com/office/drawing/2014/main" id="{DA1768EA-CCA8-44E4-81C4-53CE2F9A3694}"/>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p:blipFill>
        <p:spPr>
          <a:xfrm>
            <a:off x="12412610" y="233402"/>
            <a:ext cx="9329698" cy="9329698"/>
          </a:xfrm>
          <a:prstGeom prst="rect">
            <a:avLst/>
          </a:prstGeom>
        </p:spPr>
      </p:pic>
      <p:pic>
        <p:nvPicPr>
          <p:cNvPr id="17" name="Picture 16">
            <a:extLst>
              <a:ext uri="{FF2B5EF4-FFF2-40B4-BE49-F238E27FC236}">
                <a16:creationId xmlns:a16="http://schemas.microsoft.com/office/drawing/2014/main" id="{FFA92D33-4B52-477A-B03D-6E39A7D6ACD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74924" y="8561682"/>
            <a:ext cx="3344675" cy="797750"/>
          </a:xfrm>
          <a:prstGeom prst="rect">
            <a:avLst/>
          </a:prstGeom>
        </p:spPr>
      </p:pic>
      <p:sp>
        <p:nvSpPr>
          <p:cNvPr id="20" name="Google Shape;132;p1">
            <a:extLst>
              <a:ext uri="{FF2B5EF4-FFF2-40B4-BE49-F238E27FC236}">
                <a16:creationId xmlns:a16="http://schemas.microsoft.com/office/drawing/2014/main" id="{BA9D9AC0-633B-4C89-8A8F-FE752D9CA0BD}"/>
              </a:ext>
            </a:extLst>
          </p:cNvPr>
          <p:cNvSpPr txBox="1"/>
          <p:nvPr/>
        </p:nvSpPr>
        <p:spPr>
          <a:xfrm>
            <a:off x="1028700" y="6965470"/>
            <a:ext cx="7450130" cy="1073630"/>
          </a:xfrm>
          <a:prstGeom prst="rect">
            <a:avLst/>
          </a:prstGeom>
          <a:noFill/>
          <a:ln>
            <a:noFill/>
          </a:ln>
        </p:spPr>
        <p:txBody>
          <a:bodyPr spcFirstLastPara="1" wrap="square" lIns="108725" tIns="54350" rIns="108725" bIns="54350" anchor="t" anchorCtr="0">
            <a:normAutofit/>
          </a:bodyPr>
          <a:lstStyle/>
          <a:p>
            <a:pPr marL="0" marR="0" lvl="0" indent="0" rtl="0">
              <a:lnSpc>
                <a:spcPct val="120000"/>
              </a:lnSpc>
              <a:spcBef>
                <a:spcPts val="0"/>
              </a:spcBef>
              <a:spcAft>
                <a:spcPts val="0"/>
              </a:spcAft>
              <a:buClr>
                <a:schemeClr val="dk2"/>
              </a:buClr>
              <a:buSzPts val="1550"/>
              <a:buFont typeface="Arial"/>
              <a:buNone/>
            </a:pPr>
            <a:r>
              <a:rPr lang="en-US" sz="2400" b="0" i="0" u="none" strike="noStrike" cap="none" dirty="0" err="1">
                <a:solidFill>
                  <a:schemeClr val="tx1">
                    <a:lumMod val="75000"/>
                    <a:lumOff val="25000"/>
                  </a:schemeClr>
                </a:solidFill>
                <a:latin typeface="Lato Light"/>
                <a:ea typeface="Lato Light"/>
                <a:cs typeface="Lato Light"/>
                <a:sym typeface="Lato Light"/>
              </a:rPr>
              <a:t>Senin</a:t>
            </a:r>
            <a:r>
              <a:rPr lang="en-US" sz="2400" b="0" i="0" u="none" strike="noStrike" cap="none" dirty="0">
                <a:solidFill>
                  <a:schemeClr val="tx1">
                    <a:lumMod val="75000"/>
                    <a:lumOff val="25000"/>
                  </a:schemeClr>
                </a:solidFill>
                <a:latin typeface="Lato Light"/>
                <a:ea typeface="Lato Light"/>
                <a:cs typeface="Lato Light"/>
                <a:sym typeface="Lato Light"/>
              </a:rPr>
              <a:t>, </a:t>
            </a:r>
            <a:r>
              <a:rPr lang="en-US" sz="2400" dirty="0">
                <a:solidFill>
                  <a:schemeClr val="tx1">
                    <a:lumMod val="75000"/>
                    <a:lumOff val="25000"/>
                  </a:schemeClr>
                </a:solidFill>
                <a:latin typeface="Lato Light"/>
                <a:ea typeface="Lato Light"/>
                <a:cs typeface="Lato Light"/>
                <a:sym typeface="Lato Light"/>
              </a:rPr>
              <a:t>28</a:t>
            </a:r>
            <a:r>
              <a:rPr lang="en-US" sz="2400" b="0" i="0" u="none" strike="noStrike" cap="none" dirty="0">
                <a:solidFill>
                  <a:schemeClr val="tx1">
                    <a:lumMod val="75000"/>
                    <a:lumOff val="25000"/>
                  </a:schemeClr>
                </a:solidFill>
                <a:latin typeface="Lato Light"/>
                <a:ea typeface="Lato Light"/>
                <a:cs typeface="Lato Light"/>
                <a:sym typeface="Lato Light"/>
              </a:rPr>
              <a:t> </a:t>
            </a:r>
            <a:r>
              <a:rPr lang="en-US" sz="2400" b="0" i="0" u="none" strike="noStrike" cap="none" dirty="0" err="1">
                <a:solidFill>
                  <a:schemeClr val="tx1">
                    <a:lumMod val="75000"/>
                    <a:lumOff val="25000"/>
                  </a:schemeClr>
                </a:solidFill>
                <a:latin typeface="Lato Light"/>
                <a:ea typeface="Lato Light"/>
                <a:cs typeface="Lato Light"/>
                <a:sym typeface="Lato Light"/>
              </a:rPr>
              <a:t>Januari</a:t>
            </a:r>
            <a:r>
              <a:rPr lang="en-US" sz="2400" b="0" i="0" u="none" strike="noStrike" cap="none" dirty="0">
                <a:solidFill>
                  <a:schemeClr val="tx1">
                    <a:lumMod val="75000"/>
                    <a:lumOff val="25000"/>
                  </a:schemeClr>
                </a:solidFill>
                <a:latin typeface="Lato Light"/>
                <a:ea typeface="Lato Light"/>
                <a:cs typeface="Lato Light"/>
                <a:sym typeface="Lato Light"/>
              </a:rPr>
              <a:t> 2026</a:t>
            </a:r>
          </a:p>
          <a:p>
            <a:pPr>
              <a:lnSpc>
                <a:spcPct val="120000"/>
              </a:lnSpc>
              <a:buClr>
                <a:schemeClr val="dk2"/>
              </a:buClr>
              <a:buSzPts val="1550"/>
            </a:pPr>
            <a:r>
              <a:rPr lang="en-US" sz="2400" b="0" i="0" u="none" strike="noStrike" cap="none" dirty="0">
                <a:solidFill>
                  <a:schemeClr val="tx1">
                    <a:lumMod val="75000"/>
                    <a:lumOff val="25000"/>
                  </a:schemeClr>
                </a:solidFill>
                <a:latin typeface="Lato Light"/>
                <a:ea typeface="Lato Light"/>
                <a:cs typeface="Lato Light"/>
                <a:sym typeface="Lato Light"/>
              </a:rPr>
              <a:t>Ruang </a:t>
            </a:r>
            <a:r>
              <a:rPr lang="en-US" sz="2400" b="0" i="0" u="none" strike="noStrike" cap="none" dirty="0" err="1">
                <a:solidFill>
                  <a:schemeClr val="tx1">
                    <a:lumMod val="75000"/>
                    <a:lumOff val="25000"/>
                  </a:schemeClr>
                </a:solidFill>
                <a:latin typeface="Lato Light"/>
                <a:ea typeface="Lato Light"/>
                <a:cs typeface="Lato Light"/>
                <a:sym typeface="Lato Light"/>
              </a:rPr>
              <a:t>Rapat</a:t>
            </a:r>
            <a:r>
              <a:rPr lang="en-US" sz="2400" b="0" i="0" u="none" strike="noStrike" cap="none" dirty="0">
                <a:solidFill>
                  <a:schemeClr val="tx1">
                    <a:lumMod val="75000"/>
                    <a:lumOff val="25000"/>
                  </a:schemeClr>
                </a:solidFill>
                <a:latin typeface="Lato Light"/>
                <a:ea typeface="Lato Light"/>
                <a:cs typeface="Lato Light"/>
                <a:sym typeface="Lato Light"/>
              </a:rPr>
              <a:t> FTIK | 10</a:t>
            </a:r>
            <a:r>
              <a:rPr lang="en-US" sz="2400" dirty="0">
                <a:solidFill>
                  <a:schemeClr val="tx1">
                    <a:lumMod val="75000"/>
                    <a:lumOff val="25000"/>
                  </a:schemeClr>
                </a:solidFill>
                <a:latin typeface="Lato Light"/>
                <a:ea typeface="Lato Light"/>
                <a:cs typeface="Lato Light"/>
                <a:sym typeface="Lato Light"/>
              </a:rPr>
              <a:t>.00 – </a:t>
            </a:r>
            <a:r>
              <a:rPr lang="en-US" sz="2400" dirty="0" err="1">
                <a:solidFill>
                  <a:schemeClr val="tx1">
                    <a:lumMod val="75000"/>
                    <a:lumOff val="25000"/>
                  </a:schemeClr>
                </a:solidFill>
                <a:latin typeface="Lato Light"/>
                <a:ea typeface="Lato Light"/>
                <a:cs typeface="Lato Light"/>
                <a:sym typeface="Lato Light"/>
              </a:rPr>
              <a:t>Selesai</a:t>
            </a:r>
            <a:endParaRPr lang="en-US" sz="2400" dirty="0">
              <a:solidFill>
                <a:schemeClr val="tx1">
                  <a:lumMod val="75000"/>
                  <a:lumOff val="25000"/>
                </a:schemeClr>
              </a:solidFill>
              <a:latin typeface="Lato Light"/>
              <a:ea typeface="Lato Light"/>
              <a:cs typeface="Lato Light"/>
              <a:sym typeface="Lato Light"/>
            </a:endParaRPr>
          </a:p>
        </p:txBody>
      </p:sp>
      <p:sp>
        <p:nvSpPr>
          <p:cNvPr id="21" name="Google Shape;132;p1">
            <a:extLst>
              <a:ext uri="{FF2B5EF4-FFF2-40B4-BE49-F238E27FC236}">
                <a16:creationId xmlns:a16="http://schemas.microsoft.com/office/drawing/2014/main" id="{7CD26142-860B-44D0-99FB-C2F71F11C1E7}"/>
              </a:ext>
            </a:extLst>
          </p:cNvPr>
          <p:cNvSpPr txBox="1"/>
          <p:nvPr/>
        </p:nvSpPr>
        <p:spPr>
          <a:xfrm>
            <a:off x="1028700" y="5295900"/>
            <a:ext cx="7450130" cy="1073630"/>
          </a:xfrm>
          <a:prstGeom prst="rect">
            <a:avLst/>
          </a:prstGeom>
          <a:noFill/>
          <a:ln>
            <a:noFill/>
          </a:ln>
        </p:spPr>
        <p:txBody>
          <a:bodyPr spcFirstLastPara="1" wrap="square" lIns="108725" tIns="54350" rIns="108725" bIns="54350" anchor="t" anchorCtr="0">
            <a:normAutofit fontScale="92500" lnSpcReduction="20000"/>
          </a:bodyPr>
          <a:lstStyle/>
          <a:p>
            <a:pPr marL="0" marR="0" lvl="0" indent="0" rtl="0">
              <a:lnSpc>
                <a:spcPct val="120000"/>
              </a:lnSpc>
              <a:spcBef>
                <a:spcPts val="0"/>
              </a:spcBef>
              <a:spcAft>
                <a:spcPts val="0"/>
              </a:spcAft>
              <a:buClr>
                <a:schemeClr val="dk2"/>
              </a:buClr>
              <a:buSzPts val="1550"/>
              <a:buFont typeface="Arial"/>
              <a:buNone/>
            </a:pPr>
            <a:r>
              <a:rPr lang="en-US" sz="3200" b="1" i="0" u="none" strike="noStrike" cap="none" dirty="0">
                <a:solidFill>
                  <a:schemeClr val="tx1">
                    <a:lumMod val="75000"/>
                    <a:lumOff val="25000"/>
                  </a:schemeClr>
                </a:solidFill>
                <a:latin typeface="Lato Light"/>
                <a:ea typeface="Lato Light"/>
                <a:cs typeface="Lato Light"/>
                <a:sym typeface="Lato Light"/>
              </a:rPr>
              <a:t>Imam Muktamarulhaq</a:t>
            </a:r>
            <a:endParaRPr lang="en-US" sz="3200" b="1" dirty="0">
              <a:solidFill>
                <a:schemeClr val="tx1">
                  <a:lumMod val="75000"/>
                  <a:lumOff val="25000"/>
                </a:schemeClr>
              </a:solidFill>
              <a:latin typeface="Lato Light"/>
              <a:ea typeface="Lato Light"/>
              <a:cs typeface="Lato Light"/>
              <a:sym typeface="Lato Light"/>
            </a:endParaRPr>
          </a:p>
          <a:p>
            <a:pPr marL="0" marR="0" lvl="0" indent="0" rtl="0">
              <a:lnSpc>
                <a:spcPct val="120000"/>
              </a:lnSpc>
              <a:spcBef>
                <a:spcPts val="0"/>
              </a:spcBef>
              <a:spcAft>
                <a:spcPts val="0"/>
              </a:spcAft>
              <a:buClr>
                <a:schemeClr val="dk2"/>
              </a:buClr>
              <a:buSzPts val="1550"/>
              <a:buFont typeface="Arial"/>
              <a:buNone/>
            </a:pPr>
            <a:r>
              <a:rPr lang="en-US" sz="3200" dirty="0">
                <a:solidFill>
                  <a:schemeClr val="tx1">
                    <a:lumMod val="75000"/>
                    <a:lumOff val="25000"/>
                  </a:schemeClr>
                </a:solidFill>
                <a:latin typeface="Lato Light"/>
                <a:ea typeface="Lato Light"/>
                <a:cs typeface="Lato Light"/>
                <a:sym typeface="Lato Light"/>
              </a:rPr>
              <a:t>232220009</a:t>
            </a:r>
            <a:endParaRPr lang="en-US" sz="3200" b="0" i="0" u="none" strike="noStrike" cap="none" dirty="0">
              <a:solidFill>
                <a:schemeClr val="tx1">
                  <a:lumMod val="75000"/>
                  <a:lumOff val="25000"/>
                </a:schemeClr>
              </a:solidFill>
              <a:latin typeface="Lato Light"/>
              <a:ea typeface="Lato Light"/>
              <a:cs typeface="Lato Light"/>
              <a:sym typeface="Lato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accel="50000" decel="50000" fill="hold" nodeType="withEffect">
                                  <p:stCondLst>
                                    <p:cond delay="0"/>
                                  </p:stCondLst>
                                  <p:childTnLst>
                                    <p:animMotion origin="layout" path="M 0.36632 -0.02052 L -3.33333E-6 -3.7037E-7 " pathEditMode="relative" rAng="0" ptsTypes="AA">
                                      <p:cBhvr>
                                        <p:cTn id="9" dur="2000" fill="hold"/>
                                        <p:tgtEl>
                                          <p:spTgt spid="15"/>
                                        </p:tgtEl>
                                        <p:attrNameLst>
                                          <p:attrName>ppt_x</p:attrName>
                                          <p:attrName>ppt_y</p:attrName>
                                        </p:attrNameLst>
                                      </p:cBhvr>
                                      <p:rCtr x="-18342" y="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8700"/>
            <a:ext cx="8953500" cy="1228340"/>
          </a:xfrm>
          <a:prstGeom prst="rect">
            <a:avLst/>
          </a:prstGeom>
        </p:spPr>
        <p:txBody>
          <a:bodyPr wrap="square" lIns="0" tIns="0" rIns="0" bIns="0" rtlCol="0" anchor="t">
            <a:spAutoFit/>
          </a:bodyPr>
          <a:lstStyle/>
          <a:p>
            <a:pPr>
              <a:lnSpc>
                <a:spcPts val="9600"/>
              </a:lnSpc>
            </a:pPr>
            <a:r>
              <a:rPr lang="en-US" sz="8000" dirty="0" err="1">
                <a:solidFill>
                  <a:srgbClr val="242725"/>
                </a:solidFill>
                <a:latin typeface="Inter Bold"/>
              </a:rPr>
              <a:t>Latar</a:t>
            </a:r>
            <a:r>
              <a:rPr lang="en-US" sz="8000" dirty="0">
                <a:solidFill>
                  <a:srgbClr val="242725"/>
                </a:solidFill>
                <a:latin typeface="Inter Bold"/>
              </a:rPr>
              <a:t> </a:t>
            </a:r>
            <a:r>
              <a:rPr lang="en-US" sz="8000" dirty="0" err="1">
                <a:solidFill>
                  <a:srgbClr val="242725"/>
                </a:solidFill>
                <a:latin typeface="Inter Bold"/>
              </a:rPr>
              <a:t>Belakang</a:t>
            </a:r>
            <a:endParaRPr lang="en-US" sz="8000" dirty="0">
              <a:solidFill>
                <a:srgbClr val="242725"/>
              </a:solidFill>
              <a:latin typeface="Inter Bold"/>
            </a:endParaRPr>
          </a:p>
        </p:txBody>
      </p:sp>
      <p:grpSp>
        <p:nvGrpSpPr>
          <p:cNvPr id="3" name="Group 3"/>
          <p:cNvGrpSpPr/>
          <p:nvPr/>
        </p:nvGrpSpPr>
        <p:grpSpPr>
          <a:xfrm>
            <a:off x="1028700" y="2552700"/>
            <a:ext cx="10325100" cy="5282423"/>
            <a:chOff x="0" y="-1650511"/>
            <a:chExt cx="13214475" cy="7043231"/>
          </a:xfrm>
        </p:grpSpPr>
        <p:sp>
          <p:nvSpPr>
            <p:cNvPr id="5" name="TextBox 5"/>
            <p:cNvSpPr txBox="1"/>
            <p:nvPr/>
          </p:nvSpPr>
          <p:spPr>
            <a:xfrm>
              <a:off x="0" y="-1650511"/>
              <a:ext cx="13214475" cy="3790868"/>
            </a:xfrm>
            <a:prstGeom prst="rect">
              <a:avLst/>
            </a:prstGeom>
          </p:spPr>
          <p:txBody>
            <a:bodyPr lIns="0" tIns="0" rIns="0" bIns="0" rtlCol="0" anchor="t">
              <a:spAutoFit/>
            </a:bodyPr>
            <a:lstStyle/>
            <a:p>
              <a:pPr algn="just">
                <a:lnSpc>
                  <a:spcPts val="2800"/>
                </a:lnSpc>
                <a:spcBef>
                  <a:spcPct val="0"/>
                </a:spcBef>
              </a:pPr>
              <a:r>
                <a:rPr lang="en-US" sz="2000" dirty="0" err="1">
                  <a:solidFill>
                    <a:srgbClr val="242725"/>
                  </a:solidFill>
                  <a:latin typeface="Inter"/>
                </a:rPr>
                <a:t>Saat</a:t>
              </a:r>
              <a:r>
                <a:rPr lang="en-US" sz="2000" dirty="0">
                  <a:solidFill>
                    <a:srgbClr val="242725"/>
                  </a:solidFill>
                  <a:latin typeface="Inter"/>
                </a:rPr>
                <a:t> </a:t>
              </a:r>
              <a:r>
                <a:rPr lang="en-US" sz="2000" dirty="0" err="1">
                  <a:solidFill>
                    <a:srgbClr val="242725"/>
                  </a:solidFill>
                  <a:latin typeface="Inter"/>
                </a:rPr>
                <a:t>ini</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komputer</a:t>
              </a:r>
              <a:r>
                <a:rPr lang="en-US" sz="2000" dirty="0">
                  <a:solidFill>
                    <a:srgbClr val="242725"/>
                  </a:solidFill>
                  <a:latin typeface="Inter"/>
                </a:rPr>
                <a:t> </a:t>
              </a:r>
              <a:r>
                <a:rPr lang="en-US" sz="2000" dirty="0" err="1">
                  <a:solidFill>
                    <a:srgbClr val="242725"/>
                  </a:solidFill>
                  <a:latin typeface="Inter"/>
                </a:rPr>
                <a:t>mempunyai</a:t>
              </a:r>
              <a:r>
                <a:rPr lang="en-US" sz="2000" dirty="0">
                  <a:solidFill>
                    <a:srgbClr val="242725"/>
                  </a:solidFill>
                  <a:latin typeface="Inter"/>
                </a:rPr>
                <a:t> </a:t>
              </a:r>
              <a:r>
                <a:rPr lang="en-US" sz="2000" dirty="0" err="1">
                  <a:solidFill>
                    <a:srgbClr val="242725"/>
                  </a:solidFill>
                  <a:latin typeface="Inter"/>
                </a:rPr>
                <a:t>peranan</a:t>
              </a:r>
              <a:r>
                <a:rPr lang="en-US" sz="2000" dirty="0">
                  <a:solidFill>
                    <a:srgbClr val="242725"/>
                  </a:solidFill>
                  <a:latin typeface="Inter"/>
                </a:rPr>
                <a:t> </a:t>
              </a:r>
              <a:r>
                <a:rPr lang="en-US" sz="2000" dirty="0" err="1">
                  <a:solidFill>
                    <a:srgbClr val="242725"/>
                  </a:solidFill>
                  <a:latin typeface="Inter"/>
                </a:rPr>
                <a:t>penting</a:t>
              </a:r>
              <a:r>
                <a:rPr lang="en-US" sz="2000" dirty="0">
                  <a:solidFill>
                    <a:srgbClr val="242725"/>
                  </a:solidFill>
                  <a:latin typeface="Inter"/>
                </a:rPr>
                <a:t>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berbagai</a:t>
              </a:r>
              <a:r>
                <a:rPr lang="en-US" sz="2000" dirty="0">
                  <a:solidFill>
                    <a:srgbClr val="242725"/>
                  </a:solidFill>
                  <a:latin typeface="Inter"/>
                </a:rPr>
                <a:t> </a:t>
              </a:r>
              <a:r>
                <a:rPr lang="en-US" sz="2000" dirty="0" err="1">
                  <a:solidFill>
                    <a:srgbClr val="242725"/>
                  </a:solidFill>
                  <a:latin typeface="Inter"/>
                </a:rPr>
                <a:t>sektor</a:t>
              </a:r>
              <a:r>
                <a:rPr lang="en-US" sz="2000" dirty="0">
                  <a:solidFill>
                    <a:srgbClr val="242725"/>
                  </a:solidFill>
                  <a:latin typeface="Inter"/>
                </a:rPr>
                <a:t>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kehidupan</a:t>
              </a:r>
              <a:r>
                <a:rPr lang="en-US" sz="2000" dirty="0">
                  <a:solidFill>
                    <a:srgbClr val="242725"/>
                  </a:solidFill>
                  <a:latin typeface="Inter"/>
                </a:rPr>
                <a:t>, </a:t>
              </a:r>
              <a:r>
                <a:rPr lang="en-US" sz="2000" dirty="0" err="1">
                  <a:solidFill>
                    <a:srgbClr val="242725"/>
                  </a:solidFill>
                  <a:latin typeface="Inter"/>
                </a:rPr>
                <a:t>terutama</a:t>
              </a:r>
              <a:r>
                <a:rPr lang="en-US" sz="2000" dirty="0">
                  <a:solidFill>
                    <a:srgbClr val="242725"/>
                  </a:solidFill>
                  <a:latin typeface="Inter"/>
                </a:rPr>
                <a:t> </a:t>
              </a:r>
              <a:r>
                <a:rPr lang="en-US" sz="2000" dirty="0" err="1">
                  <a:solidFill>
                    <a:srgbClr val="242725"/>
                  </a:solidFill>
                  <a:latin typeface="Inter"/>
                </a:rPr>
                <a:t>untuk</a:t>
              </a:r>
              <a:r>
                <a:rPr lang="en-US" sz="2000" dirty="0">
                  <a:solidFill>
                    <a:srgbClr val="242725"/>
                  </a:solidFill>
                  <a:latin typeface="Inter"/>
                </a:rPr>
                <a:t> </a:t>
              </a:r>
              <a:r>
                <a:rPr lang="en-US" sz="2000" dirty="0" err="1">
                  <a:solidFill>
                    <a:srgbClr val="242725"/>
                  </a:solidFill>
                  <a:latin typeface="Inter"/>
                </a:rPr>
                <a:t>mendukung</a:t>
              </a:r>
              <a:r>
                <a:rPr lang="en-US" sz="2000" dirty="0">
                  <a:solidFill>
                    <a:srgbClr val="242725"/>
                  </a:solidFill>
                  <a:latin typeface="Inter"/>
                </a:rPr>
                <a:t> </a:t>
              </a:r>
              <a:r>
                <a:rPr lang="en-US" sz="2000" dirty="0" err="1">
                  <a:solidFill>
                    <a:srgbClr val="242725"/>
                  </a:solidFill>
                  <a:latin typeface="Inter"/>
                </a:rPr>
                <a:t>komunikasi</a:t>
              </a:r>
              <a:r>
                <a:rPr lang="en-US" sz="2000" dirty="0">
                  <a:solidFill>
                    <a:srgbClr val="242725"/>
                  </a:solidFill>
                  <a:latin typeface="Inter"/>
                </a:rPr>
                <a:t> global, </a:t>
              </a:r>
              <a:r>
                <a:rPr lang="en-US" sz="2000" dirty="0" err="1">
                  <a:solidFill>
                    <a:srgbClr val="242725"/>
                  </a:solidFill>
                  <a:latin typeface="Inter"/>
                </a:rPr>
                <a:t>pengelolaan</a:t>
              </a:r>
              <a:r>
                <a:rPr lang="en-US" sz="2000" dirty="0">
                  <a:solidFill>
                    <a:srgbClr val="242725"/>
                  </a:solidFill>
                  <a:latin typeface="Inter"/>
                </a:rPr>
                <a:t> data, dan </a:t>
              </a:r>
              <a:r>
                <a:rPr lang="en-US" sz="2000" dirty="0" err="1">
                  <a:solidFill>
                    <a:srgbClr val="242725"/>
                  </a:solidFill>
                  <a:latin typeface="Inter"/>
                </a:rPr>
                <a:t>automasi</a:t>
              </a:r>
              <a:r>
                <a:rPr lang="en-US" sz="2000" dirty="0">
                  <a:solidFill>
                    <a:srgbClr val="242725"/>
                  </a:solidFill>
                  <a:latin typeface="Inter"/>
                </a:rPr>
                <a:t>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berbagai</a:t>
              </a:r>
              <a:r>
                <a:rPr lang="en-US" sz="2000" dirty="0">
                  <a:solidFill>
                    <a:srgbClr val="242725"/>
                  </a:solidFill>
                  <a:latin typeface="Inter"/>
                </a:rPr>
                <a:t> </a:t>
              </a:r>
              <a:r>
                <a:rPr lang="en-US" sz="2000" dirty="0" err="1">
                  <a:solidFill>
                    <a:srgbClr val="242725"/>
                  </a:solidFill>
                  <a:latin typeface="Inter"/>
                </a:rPr>
                <a:t>bidang</a:t>
              </a:r>
              <a:r>
                <a:rPr lang="en-US" sz="2000" dirty="0">
                  <a:solidFill>
                    <a:srgbClr val="242725"/>
                  </a:solidFill>
                  <a:latin typeface="Inter"/>
                </a:rPr>
                <a:t> (Rahman, Dasuki and </a:t>
              </a:r>
              <a:r>
                <a:rPr lang="en-US" sz="2000" dirty="0" err="1">
                  <a:solidFill>
                    <a:srgbClr val="242725"/>
                  </a:solidFill>
                  <a:latin typeface="Inter"/>
                </a:rPr>
                <a:t>Oktavianto</a:t>
              </a:r>
              <a:r>
                <a:rPr lang="en-US" sz="2000" dirty="0">
                  <a:solidFill>
                    <a:srgbClr val="242725"/>
                  </a:solidFill>
                  <a:latin typeface="Inter"/>
                </a:rPr>
                <a:t>, 2024). [1]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bidang</a:t>
              </a:r>
              <a:r>
                <a:rPr lang="en-US" sz="2000" dirty="0">
                  <a:solidFill>
                    <a:srgbClr val="242725"/>
                  </a:solidFill>
                  <a:latin typeface="Inter"/>
                </a:rPr>
                <a:t> </a:t>
              </a:r>
              <a:r>
                <a:rPr lang="en-US" sz="2000" dirty="0" err="1">
                  <a:solidFill>
                    <a:srgbClr val="242725"/>
                  </a:solidFill>
                  <a:latin typeface="Inter"/>
                </a:rPr>
                <a:t>pendidikan</a:t>
              </a:r>
              <a:r>
                <a:rPr lang="en-US" sz="2000" dirty="0">
                  <a:solidFill>
                    <a:srgbClr val="242725"/>
                  </a:solidFill>
                  <a:latin typeface="Inter"/>
                </a:rPr>
                <a:t>, </a:t>
              </a:r>
              <a:r>
                <a:rPr lang="en-US" sz="2000" dirty="0" err="1">
                  <a:solidFill>
                    <a:srgbClr val="242725"/>
                  </a:solidFill>
                  <a:latin typeface="Inter"/>
                </a:rPr>
                <a:t>pemanfaatan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internet </a:t>
              </a:r>
              <a:r>
                <a:rPr lang="en-US" sz="2000" dirty="0" err="1">
                  <a:solidFill>
                    <a:srgbClr val="242725"/>
                  </a:solidFill>
                  <a:latin typeface="Inter"/>
                </a:rPr>
                <a:t>menjadi</a:t>
              </a:r>
              <a:r>
                <a:rPr lang="en-US" sz="2000" dirty="0">
                  <a:solidFill>
                    <a:srgbClr val="242725"/>
                  </a:solidFill>
                  <a:latin typeface="Inter"/>
                </a:rPr>
                <a:t> </a:t>
              </a:r>
              <a:r>
                <a:rPr lang="en-US" sz="2000" dirty="0" err="1">
                  <a:solidFill>
                    <a:srgbClr val="242725"/>
                  </a:solidFill>
                  <a:latin typeface="Inter"/>
                </a:rPr>
                <a:t>kebutuhan</a:t>
              </a:r>
              <a:r>
                <a:rPr lang="en-US" sz="2000" dirty="0">
                  <a:solidFill>
                    <a:srgbClr val="242725"/>
                  </a:solidFill>
                  <a:latin typeface="Inter"/>
                </a:rPr>
                <a:t> </a:t>
              </a:r>
              <a:r>
                <a:rPr lang="en-US" sz="2000" dirty="0" err="1">
                  <a:solidFill>
                    <a:srgbClr val="242725"/>
                  </a:solidFill>
                  <a:latin typeface="Inter"/>
                </a:rPr>
                <a:t>utama</a:t>
              </a:r>
              <a:r>
                <a:rPr lang="en-US" sz="2000" dirty="0">
                  <a:solidFill>
                    <a:srgbClr val="242725"/>
                  </a:solidFill>
                  <a:latin typeface="Inter"/>
                </a:rPr>
                <a:t> </a:t>
              </a:r>
              <a:r>
                <a:rPr lang="en-US" sz="2000" dirty="0" err="1">
                  <a:solidFill>
                    <a:srgbClr val="242725"/>
                  </a:solidFill>
                  <a:latin typeface="Inter"/>
                </a:rPr>
                <a:t>guna</a:t>
              </a:r>
              <a:r>
                <a:rPr lang="en-US" sz="2000" dirty="0">
                  <a:solidFill>
                    <a:srgbClr val="242725"/>
                  </a:solidFill>
                  <a:latin typeface="Inter"/>
                </a:rPr>
                <a:t> </a:t>
              </a:r>
              <a:r>
                <a:rPr lang="en-US" sz="2000" dirty="0" err="1">
                  <a:solidFill>
                    <a:srgbClr val="242725"/>
                  </a:solidFill>
                  <a:latin typeface="Inter"/>
                </a:rPr>
                <a:t>menunjang</a:t>
              </a:r>
              <a:r>
                <a:rPr lang="en-US" sz="2000" dirty="0">
                  <a:solidFill>
                    <a:srgbClr val="242725"/>
                  </a:solidFill>
                  <a:latin typeface="Inter"/>
                </a:rPr>
                <a:t> proses </a:t>
              </a:r>
              <a:r>
                <a:rPr lang="en-US" sz="2000" dirty="0" err="1">
                  <a:solidFill>
                    <a:srgbClr val="242725"/>
                  </a:solidFill>
                  <a:latin typeface="Inter"/>
                </a:rPr>
                <a:t>pembelajaran</a:t>
              </a:r>
              <a:r>
                <a:rPr lang="en-US" sz="2000" dirty="0">
                  <a:solidFill>
                    <a:srgbClr val="242725"/>
                  </a:solidFill>
                  <a:latin typeface="Inter"/>
                </a:rPr>
                <a:t> </a:t>
              </a:r>
              <a:r>
                <a:rPr lang="en-US" sz="2000" dirty="0" err="1">
                  <a:solidFill>
                    <a:srgbClr val="242725"/>
                  </a:solidFill>
                  <a:latin typeface="Inter"/>
                </a:rPr>
                <a:t>serta</a:t>
              </a:r>
              <a:r>
                <a:rPr lang="en-US" sz="2000" dirty="0">
                  <a:solidFill>
                    <a:srgbClr val="242725"/>
                  </a:solidFill>
                  <a:latin typeface="Inter"/>
                </a:rPr>
                <a:t> </a:t>
              </a:r>
              <a:r>
                <a:rPr lang="en-US" sz="2000" dirty="0" err="1">
                  <a:solidFill>
                    <a:srgbClr val="242725"/>
                  </a:solidFill>
                  <a:latin typeface="Inter"/>
                </a:rPr>
                <a:t>kegiatan</a:t>
              </a:r>
              <a:r>
                <a:rPr lang="en-US" sz="2000" dirty="0">
                  <a:solidFill>
                    <a:srgbClr val="242725"/>
                  </a:solidFill>
                  <a:latin typeface="Inter"/>
                </a:rPr>
                <a:t> </a:t>
              </a:r>
              <a:r>
                <a:rPr lang="en-US" sz="2000" dirty="0" err="1">
                  <a:solidFill>
                    <a:srgbClr val="242725"/>
                  </a:solidFill>
                  <a:latin typeface="Inter"/>
                </a:rPr>
                <a:t>administrasi</a:t>
              </a:r>
              <a:r>
                <a:rPr lang="en-US" sz="2000" dirty="0">
                  <a:solidFill>
                    <a:srgbClr val="242725"/>
                  </a:solidFill>
                  <a:latin typeface="Inter"/>
                </a:rPr>
                <a:t>. </a:t>
              </a:r>
              <a:r>
                <a:rPr lang="en-US" sz="2000" dirty="0" err="1">
                  <a:solidFill>
                    <a:srgbClr val="242725"/>
                  </a:solidFill>
                  <a:latin typeface="Inter"/>
                </a:rPr>
                <a:t>Ketersediaan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yang </a:t>
              </a:r>
              <a:r>
                <a:rPr lang="en-US" sz="2000" dirty="0" err="1">
                  <a:solidFill>
                    <a:srgbClr val="242725"/>
                  </a:solidFill>
                  <a:latin typeface="Inter"/>
                </a:rPr>
                <a:t>stabil</a:t>
              </a:r>
              <a:r>
                <a:rPr lang="en-US" sz="2000" dirty="0">
                  <a:solidFill>
                    <a:srgbClr val="242725"/>
                  </a:solidFill>
                  <a:latin typeface="Inter"/>
                </a:rPr>
                <a:t> dan </a:t>
              </a:r>
              <a:r>
                <a:rPr lang="en-US" sz="2000" dirty="0" err="1">
                  <a:solidFill>
                    <a:srgbClr val="242725"/>
                  </a:solidFill>
                  <a:latin typeface="Inter"/>
                </a:rPr>
                <a:t>terkelola</a:t>
              </a:r>
              <a:r>
                <a:rPr lang="en-US" sz="2000" dirty="0">
                  <a:solidFill>
                    <a:srgbClr val="242725"/>
                  </a:solidFill>
                  <a:latin typeface="Inter"/>
                </a:rPr>
                <a:t> </a:t>
              </a:r>
              <a:r>
                <a:rPr lang="en-US" sz="2000" dirty="0" err="1">
                  <a:solidFill>
                    <a:srgbClr val="242725"/>
                  </a:solidFill>
                  <a:latin typeface="Inter"/>
                </a:rPr>
                <a:t>dengan</a:t>
              </a:r>
              <a:r>
                <a:rPr lang="en-US" sz="2000" dirty="0">
                  <a:solidFill>
                    <a:srgbClr val="242725"/>
                  </a:solidFill>
                  <a:latin typeface="Inter"/>
                </a:rPr>
                <a:t> </a:t>
              </a:r>
              <a:r>
                <a:rPr lang="en-US" sz="2000" dirty="0" err="1">
                  <a:solidFill>
                    <a:srgbClr val="242725"/>
                  </a:solidFill>
                  <a:latin typeface="Inter"/>
                </a:rPr>
                <a:t>baik</a:t>
              </a:r>
              <a:r>
                <a:rPr lang="en-US" sz="2000" dirty="0">
                  <a:solidFill>
                    <a:srgbClr val="242725"/>
                  </a:solidFill>
                  <a:latin typeface="Inter"/>
                </a:rPr>
                <a:t> sangat </a:t>
              </a:r>
              <a:r>
                <a:rPr lang="en-US" sz="2000" dirty="0" err="1">
                  <a:solidFill>
                    <a:srgbClr val="242725"/>
                  </a:solidFill>
                  <a:latin typeface="Inter"/>
                </a:rPr>
                <a:t>dibutuhkan</a:t>
              </a:r>
              <a:r>
                <a:rPr lang="en-US" sz="2000" dirty="0">
                  <a:solidFill>
                    <a:srgbClr val="242725"/>
                  </a:solidFill>
                  <a:latin typeface="Inter"/>
                </a:rPr>
                <a:t>, </a:t>
              </a:r>
              <a:r>
                <a:rPr lang="en-US" sz="2000" dirty="0" err="1">
                  <a:solidFill>
                    <a:srgbClr val="242725"/>
                  </a:solidFill>
                  <a:latin typeface="Inter"/>
                </a:rPr>
                <a:t>terutama</a:t>
              </a:r>
              <a:r>
                <a:rPr lang="en-US" sz="2000" dirty="0">
                  <a:solidFill>
                    <a:srgbClr val="242725"/>
                  </a:solidFill>
                  <a:latin typeface="Inter"/>
                </a:rPr>
                <a:t> pada </a:t>
              </a:r>
              <a:r>
                <a:rPr lang="en-US" sz="2000" dirty="0" err="1">
                  <a:solidFill>
                    <a:srgbClr val="242725"/>
                  </a:solidFill>
                  <a:latin typeface="Inter"/>
                </a:rPr>
                <a:t>kegiatan</a:t>
              </a:r>
              <a:r>
                <a:rPr lang="en-US" sz="2000" dirty="0">
                  <a:solidFill>
                    <a:srgbClr val="242725"/>
                  </a:solidFill>
                  <a:latin typeface="Inter"/>
                </a:rPr>
                <a:t> </a:t>
              </a:r>
              <a:r>
                <a:rPr lang="en-US" sz="2000" dirty="0" err="1">
                  <a:solidFill>
                    <a:srgbClr val="242725"/>
                  </a:solidFill>
                  <a:latin typeface="Inter"/>
                </a:rPr>
                <a:t>krusial</a:t>
              </a:r>
              <a:r>
                <a:rPr lang="en-US" sz="2000" dirty="0">
                  <a:solidFill>
                    <a:srgbClr val="242725"/>
                  </a:solidFill>
                  <a:latin typeface="Inter"/>
                </a:rPr>
                <a:t> </a:t>
              </a:r>
              <a:r>
                <a:rPr lang="en-US" sz="2000" dirty="0" err="1">
                  <a:solidFill>
                    <a:srgbClr val="242725"/>
                  </a:solidFill>
                  <a:latin typeface="Inter"/>
                </a:rPr>
                <a:t>seperti</a:t>
              </a:r>
              <a:r>
                <a:rPr lang="en-US" sz="2000" dirty="0">
                  <a:solidFill>
                    <a:srgbClr val="242725"/>
                  </a:solidFill>
                  <a:latin typeface="Inter"/>
                </a:rPr>
                <a:t> </a:t>
              </a:r>
              <a:r>
                <a:rPr lang="en-US" sz="2000" dirty="0" err="1">
                  <a:solidFill>
                    <a:srgbClr val="242725"/>
                  </a:solidFill>
                  <a:latin typeface="Inter"/>
                </a:rPr>
                <a:t>Asesmen</a:t>
              </a:r>
              <a:r>
                <a:rPr lang="en-US" sz="2000" dirty="0">
                  <a:solidFill>
                    <a:srgbClr val="242725"/>
                  </a:solidFill>
                  <a:latin typeface="Inter"/>
                </a:rPr>
                <a:t> Nasional </a:t>
              </a:r>
              <a:r>
                <a:rPr lang="en-US" sz="2000" dirty="0" err="1">
                  <a:solidFill>
                    <a:srgbClr val="242725"/>
                  </a:solidFill>
                  <a:latin typeface="Inter"/>
                </a:rPr>
                <a:t>Berbasis</a:t>
              </a:r>
              <a:r>
                <a:rPr lang="en-US" sz="2000" dirty="0">
                  <a:solidFill>
                    <a:srgbClr val="242725"/>
                  </a:solidFill>
                  <a:latin typeface="Inter"/>
                </a:rPr>
                <a:t> </a:t>
              </a:r>
              <a:r>
                <a:rPr lang="en-US" sz="2000" dirty="0" err="1">
                  <a:solidFill>
                    <a:srgbClr val="242725"/>
                  </a:solidFill>
                  <a:latin typeface="Inter"/>
                </a:rPr>
                <a:t>Komputer</a:t>
              </a:r>
              <a:r>
                <a:rPr lang="en-US" sz="2000" dirty="0">
                  <a:solidFill>
                    <a:srgbClr val="242725"/>
                  </a:solidFill>
                  <a:latin typeface="Inter"/>
                </a:rPr>
                <a:t> (ANBK) yang </a:t>
              </a:r>
              <a:r>
                <a:rPr lang="en-US" sz="2000" dirty="0" err="1">
                  <a:solidFill>
                    <a:srgbClr val="242725"/>
                  </a:solidFill>
                  <a:latin typeface="Inter"/>
                </a:rPr>
                <a:t>memerlukan</a:t>
              </a:r>
              <a:r>
                <a:rPr lang="en-US" sz="2000" dirty="0">
                  <a:solidFill>
                    <a:srgbClr val="242725"/>
                  </a:solidFill>
                  <a:latin typeface="Inter"/>
                </a:rPr>
                <a:t> </a:t>
              </a:r>
              <a:r>
                <a:rPr lang="en-US" sz="2000" dirty="0" err="1">
                  <a:solidFill>
                    <a:srgbClr val="242725"/>
                  </a:solidFill>
                  <a:latin typeface="Inter"/>
                </a:rPr>
                <a:t>koneksi</a:t>
              </a:r>
              <a:r>
                <a:rPr lang="en-US" sz="2000" dirty="0">
                  <a:solidFill>
                    <a:srgbClr val="242725"/>
                  </a:solidFill>
                  <a:latin typeface="Inter"/>
                </a:rPr>
                <a:t> internet yang </a:t>
              </a:r>
              <a:r>
                <a:rPr lang="en-US" sz="2000" dirty="0" err="1">
                  <a:solidFill>
                    <a:srgbClr val="242725"/>
                  </a:solidFill>
                  <a:latin typeface="Inter"/>
                </a:rPr>
                <a:t>stabil</a:t>
              </a:r>
              <a:r>
                <a:rPr lang="en-US" sz="2000" dirty="0">
                  <a:solidFill>
                    <a:srgbClr val="242725"/>
                  </a:solidFill>
                  <a:latin typeface="Inter"/>
                </a:rPr>
                <a:t>.</a:t>
              </a:r>
            </a:p>
          </p:txBody>
        </p:sp>
        <p:sp>
          <p:nvSpPr>
            <p:cNvPr id="7" name="TextBox 7"/>
            <p:cNvSpPr txBox="1"/>
            <p:nvPr/>
          </p:nvSpPr>
          <p:spPr>
            <a:xfrm>
              <a:off x="0" y="2559380"/>
              <a:ext cx="13214475" cy="2833340"/>
            </a:xfrm>
            <a:prstGeom prst="rect">
              <a:avLst/>
            </a:prstGeom>
          </p:spPr>
          <p:txBody>
            <a:bodyPr lIns="0" tIns="0" rIns="0" bIns="0" rtlCol="0" anchor="t">
              <a:spAutoFit/>
            </a:bodyPr>
            <a:lstStyle/>
            <a:p>
              <a:pPr algn="just">
                <a:lnSpc>
                  <a:spcPts val="2800"/>
                </a:lnSpc>
                <a:spcBef>
                  <a:spcPct val="0"/>
                </a:spcBef>
              </a:pPr>
              <a:r>
                <a:rPr lang="en-US" sz="2000" dirty="0" err="1">
                  <a:solidFill>
                    <a:srgbClr val="242725"/>
                  </a:solidFill>
                  <a:latin typeface="Inter"/>
                </a:rPr>
                <a:t>Berdasarkan</a:t>
              </a:r>
              <a:r>
                <a:rPr lang="en-US" sz="2000" dirty="0">
                  <a:solidFill>
                    <a:srgbClr val="242725"/>
                  </a:solidFill>
                  <a:latin typeface="Inter"/>
                </a:rPr>
                <a:t> </a:t>
              </a:r>
              <a:r>
                <a:rPr lang="en-US" sz="2000" dirty="0" err="1">
                  <a:solidFill>
                    <a:srgbClr val="242725"/>
                  </a:solidFill>
                  <a:latin typeface="Inter"/>
                </a:rPr>
                <a:t>hasil</a:t>
              </a:r>
              <a:r>
                <a:rPr lang="en-US" sz="2000" dirty="0">
                  <a:solidFill>
                    <a:srgbClr val="242725"/>
                  </a:solidFill>
                  <a:latin typeface="Inter"/>
                </a:rPr>
                <a:t> </a:t>
              </a:r>
              <a:r>
                <a:rPr lang="en-US" sz="2000" dirty="0" err="1">
                  <a:solidFill>
                    <a:srgbClr val="242725"/>
                  </a:solidFill>
                  <a:latin typeface="Inter"/>
                </a:rPr>
                <a:t>wawancara</a:t>
              </a:r>
              <a:r>
                <a:rPr lang="en-US" sz="2000" dirty="0">
                  <a:solidFill>
                    <a:srgbClr val="242725"/>
                  </a:solidFill>
                  <a:latin typeface="Inter"/>
                </a:rPr>
                <a:t> </a:t>
              </a:r>
              <a:r>
                <a:rPr lang="en-US" sz="2000" dirty="0" err="1">
                  <a:solidFill>
                    <a:srgbClr val="242725"/>
                  </a:solidFill>
                  <a:latin typeface="Inter"/>
                </a:rPr>
                <a:t>dengan</a:t>
              </a:r>
              <a:r>
                <a:rPr lang="en-US" sz="2000" dirty="0">
                  <a:solidFill>
                    <a:srgbClr val="242725"/>
                  </a:solidFill>
                  <a:latin typeface="Inter"/>
                </a:rPr>
                <a:t> </a:t>
              </a:r>
              <a:r>
                <a:rPr lang="en-US" sz="2000" dirty="0" err="1">
                  <a:solidFill>
                    <a:srgbClr val="242725"/>
                  </a:solidFill>
                  <a:latin typeface="Inter"/>
                </a:rPr>
                <a:t>Kepala</a:t>
              </a:r>
              <a:r>
                <a:rPr lang="en-US" sz="2000" dirty="0">
                  <a:solidFill>
                    <a:srgbClr val="242725"/>
                  </a:solidFill>
                  <a:latin typeface="Inter"/>
                </a:rPr>
                <a:t> Madrasah, </a:t>
              </a:r>
              <a:r>
                <a:rPr lang="en-US" sz="2000" dirty="0" err="1">
                  <a:solidFill>
                    <a:srgbClr val="242725"/>
                  </a:solidFill>
                  <a:latin typeface="Inter"/>
                </a:rPr>
                <a:t>diketahui</a:t>
              </a:r>
              <a:r>
                <a:rPr lang="en-US" sz="2000" dirty="0">
                  <a:solidFill>
                    <a:srgbClr val="242725"/>
                  </a:solidFill>
                  <a:latin typeface="Inter"/>
                </a:rPr>
                <a:t> </a:t>
              </a:r>
              <a:r>
                <a:rPr lang="en-US" sz="2000" dirty="0" err="1">
                  <a:solidFill>
                    <a:srgbClr val="242725"/>
                  </a:solidFill>
                  <a:latin typeface="Inter"/>
                </a:rPr>
                <a:t>bahwa</a:t>
              </a:r>
              <a:r>
                <a:rPr lang="en-US" sz="2000" dirty="0">
                  <a:solidFill>
                    <a:srgbClr val="242725"/>
                  </a:solidFill>
                  <a:latin typeface="Inter"/>
                </a:rPr>
                <a:t> </a:t>
              </a:r>
              <a:r>
                <a:rPr lang="en-US" sz="2000" dirty="0" err="1">
                  <a:solidFill>
                    <a:srgbClr val="242725"/>
                  </a:solidFill>
                  <a:latin typeface="Inter"/>
                </a:rPr>
                <a:t>infrastruktur</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yang </a:t>
              </a:r>
              <a:r>
                <a:rPr lang="en-US" sz="2000" dirty="0" err="1">
                  <a:solidFill>
                    <a:srgbClr val="242725"/>
                  </a:solidFill>
                  <a:latin typeface="Inter"/>
                </a:rPr>
                <a:t>digunakan</a:t>
              </a:r>
              <a:r>
                <a:rPr lang="en-US" sz="2000" dirty="0">
                  <a:solidFill>
                    <a:srgbClr val="242725"/>
                  </a:solidFill>
                  <a:latin typeface="Inter"/>
                </a:rPr>
                <a:t> </a:t>
              </a:r>
              <a:r>
                <a:rPr lang="en-US" sz="2000" dirty="0" err="1">
                  <a:solidFill>
                    <a:srgbClr val="242725"/>
                  </a:solidFill>
                  <a:latin typeface="Inter"/>
                </a:rPr>
                <a:t>masih</a:t>
              </a:r>
              <a:r>
                <a:rPr lang="en-US" sz="2000" dirty="0">
                  <a:solidFill>
                    <a:srgbClr val="242725"/>
                  </a:solidFill>
                  <a:latin typeface="Inter"/>
                </a:rPr>
                <a:t> </a:t>
              </a:r>
              <a:r>
                <a:rPr lang="en-US" sz="2000" dirty="0" err="1">
                  <a:solidFill>
                    <a:srgbClr val="242725"/>
                  </a:solidFill>
                  <a:latin typeface="Inter"/>
                </a:rPr>
                <a:t>tergolong</a:t>
              </a:r>
              <a:r>
                <a:rPr lang="en-US" sz="2000" dirty="0">
                  <a:solidFill>
                    <a:srgbClr val="242725"/>
                  </a:solidFill>
                  <a:latin typeface="Inter"/>
                </a:rPr>
                <a:t> </a:t>
              </a:r>
              <a:r>
                <a:rPr lang="en-US" sz="2000" dirty="0" err="1">
                  <a:solidFill>
                    <a:srgbClr val="242725"/>
                  </a:solidFill>
                  <a:latin typeface="Inter"/>
                </a:rPr>
                <a:t>sederhana</a:t>
              </a:r>
              <a:r>
                <a:rPr lang="en-US" sz="2000" dirty="0">
                  <a:solidFill>
                    <a:srgbClr val="242725"/>
                  </a:solidFill>
                  <a:latin typeface="Inter"/>
                </a:rPr>
                <a:t>, </a:t>
              </a:r>
              <a:r>
                <a:rPr lang="en-US" sz="2000" dirty="0" err="1">
                  <a:solidFill>
                    <a:srgbClr val="242725"/>
                  </a:solidFill>
                  <a:latin typeface="Inter"/>
                </a:rPr>
                <a:t>hanya</a:t>
              </a:r>
              <a:r>
                <a:rPr lang="en-US" sz="2000" dirty="0">
                  <a:solidFill>
                    <a:srgbClr val="242725"/>
                  </a:solidFill>
                  <a:latin typeface="Inter"/>
                </a:rPr>
                <a:t> </a:t>
              </a:r>
              <a:r>
                <a:rPr lang="en-US" sz="2000" dirty="0" err="1">
                  <a:solidFill>
                    <a:srgbClr val="242725"/>
                  </a:solidFill>
                  <a:latin typeface="Inter"/>
                </a:rPr>
                <a:t>terdiri</a:t>
              </a:r>
              <a:r>
                <a:rPr lang="en-US" sz="2000" dirty="0">
                  <a:solidFill>
                    <a:srgbClr val="242725"/>
                  </a:solidFill>
                  <a:latin typeface="Inter"/>
                </a:rPr>
                <a:t> </a:t>
              </a:r>
              <a:r>
                <a:rPr lang="en-US" sz="2000" dirty="0" err="1">
                  <a:solidFill>
                    <a:srgbClr val="242725"/>
                  </a:solidFill>
                  <a:latin typeface="Inter"/>
                </a:rPr>
                <a:t>dari</a:t>
              </a:r>
              <a:r>
                <a:rPr lang="en-US" sz="2000" dirty="0">
                  <a:solidFill>
                    <a:srgbClr val="242725"/>
                  </a:solidFill>
                  <a:latin typeface="Inter"/>
                </a:rPr>
                <a:t> </a:t>
              </a:r>
              <a:r>
                <a:rPr lang="en-US" sz="2000" dirty="0" err="1">
                  <a:solidFill>
                    <a:srgbClr val="242725"/>
                  </a:solidFill>
                  <a:latin typeface="Inter"/>
                </a:rPr>
                <a:t>sebuah</a:t>
              </a:r>
              <a:r>
                <a:rPr lang="en-US" sz="2000" dirty="0">
                  <a:solidFill>
                    <a:srgbClr val="242725"/>
                  </a:solidFill>
                  <a:latin typeface="Inter"/>
                </a:rPr>
                <a:t> modem. </a:t>
              </a:r>
              <a:r>
                <a:rPr lang="en-US" sz="2000" dirty="0" err="1">
                  <a:solidFill>
                    <a:srgbClr val="242725"/>
                  </a:solidFill>
                  <a:latin typeface="Inter"/>
                </a:rPr>
                <a:t>Seluruh</a:t>
              </a:r>
              <a:r>
                <a:rPr lang="en-US" sz="2000" dirty="0">
                  <a:solidFill>
                    <a:srgbClr val="242725"/>
                  </a:solidFill>
                  <a:latin typeface="Inter"/>
                </a:rPr>
                <a:t> </a:t>
              </a:r>
              <a:r>
                <a:rPr lang="en-US" sz="2000" dirty="0" err="1">
                  <a:solidFill>
                    <a:srgbClr val="242725"/>
                  </a:solidFill>
                  <a:latin typeface="Inter"/>
                </a:rPr>
                <a:t>perangkat</a:t>
              </a:r>
              <a:r>
                <a:rPr lang="en-US" sz="2000" dirty="0">
                  <a:solidFill>
                    <a:srgbClr val="242725"/>
                  </a:solidFill>
                  <a:latin typeface="Inter"/>
                </a:rPr>
                <a:t> </a:t>
              </a:r>
              <a:r>
                <a:rPr lang="en-US" sz="2000" dirty="0" err="1">
                  <a:solidFill>
                    <a:srgbClr val="242725"/>
                  </a:solidFill>
                  <a:latin typeface="Inter"/>
                </a:rPr>
                <a:t>terhubung</a:t>
              </a:r>
              <a:r>
                <a:rPr lang="en-US" sz="2000" dirty="0">
                  <a:solidFill>
                    <a:srgbClr val="242725"/>
                  </a:solidFill>
                  <a:latin typeface="Inter"/>
                </a:rPr>
                <a:t>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satu</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tanpa</a:t>
              </a:r>
              <a:r>
                <a:rPr lang="en-US" sz="2000" dirty="0">
                  <a:solidFill>
                    <a:srgbClr val="242725"/>
                  </a:solidFill>
                  <a:latin typeface="Inter"/>
                </a:rPr>
                <a:t> </a:t>
              </a:r>
              <a:r>
                <a:rPr lang="en-US" sz="2000" dirty="0" err="1">
                  <a:solidFill>
                    <a:srgbClr val="242725"/>
                  </a:solidFill>
                  <a:latin typeface="Inter"/>
                </a:rPr>
                <a:t>adanya</a:t>
              </a:r>
              <a:r>
                <a:rPr lang="en-US" sz="2000" dirty="0">
                  <a:solidFill>
                    <a:srgbClr val="242725"/>
                  </a:solidFill>
                  <a:latin typeface="Inter"/>
                </a:rPr>
                <a:t> </a:t>
              </a:r>
              <a:r>
                <a:rPr lang="en-US" sz="2000" dirty="0" err="1">
                  <a:solidFill>
                    <a:srgbClr val="242725"/>
                  </a:solidFill>
                  <a:latin typeface="Inter"/>
                </a:rPr>
                <a:t>pemisahan</a:t>
              </a:r>
              <a:r>
                <a:rPr lang="en-US" sz="2000" dirty="0">
                  <a:solidFill>
                    <a:srgbClr val="242725"/>
                  </a:solidFill>
                  <a:latin typeface="Inter"/>
                </a:rPr>
                <a:t> </a:t>
              </a:r>
              <a:r>
                <a:rPr lang="en-US" sz="2000" dirty="0" err="1">
                  <a:solidFill>
                    <a:srgbClr val="242725"/>
                  </a:solidFill>
                  <a:latin typeface="Inter"/>
                </a:rPr>
                <a:t>segmen</a:t>
              </a:r>
              <a:r>
                <a:rPr lang="en-US" sz="2000" dirty="0">
                  <a:solidFill>
                    <a:srgbClr val="242725"/>
                  </a:solidFill>
                  <a:latin typeface="Inter"/>
                </a:rPr>
                <a:t>, </a:t>
              </a:r>
              <a:r>
                <a:rPr lang="en-US" sz="2000" dirty="0" err="1">
                  <a:solidFill>
                    <a:srgbClr val="242725"/>
                  </a:solidFill>
                  <a:latin typeface="Inter"/>
                </a:rPr>
                <a:t>sehingga</a:t>
              </a:r>
              <a:r>
                <a:rPr lang="en-US" sz="2000" dirty="0">
                  <a:solidFill>
                    <a:srgbClr val="242725"/>
                  </a:solidFill>
                  <a:latin typeface="Inter"/>
                </a:rPr>
                <a:t> </a:t>
              </a:r>
              <a:r>
                <a:rPr lang="en-US" sz="2000" dirty="0" err="1">
                  <a:solidFill>
                    <a:srgbClr val="242725"/>
                  </a:solidFill>
                  <a:latin typeface="Inter"/>
                </a:rPr>
                <a:t>berada</a:t>
              </a:r>
              <a:r>
                <a:rPr lang="en-US" sz="2000" dirty="0">
                  <a:solidFill>
                    <a:srgbClr val="242725"/>
                  </a:solidFill>
                  <a:latin typeface="Inter"/>
                </a:rPr>
                <a:t> pada </a:t>
              </a:r>
              <a:r>
                <a:rPr lang="en-US" sz="2000" dirty="0" err="1">
                  <a:solidFill>
                    <a:srgbClr val="242725"/>
                  </a:solidFill>
                  <a:latin typeface="Inter"/>
                </a:rPr>
                <a:t>satu</a:t>
              </a:r>
              <a:r>
                <a:rPr lang="en-US" sz="2000" dirty="0">
                  <a:solidFill>
                    <a:srgbClr val="242725"/>
                  </a:solidFill>
                  <a:latin typeface="Inter"/>
                </a:rPr>
                <a:t> domain broadcast. </a:t>
              </a:r>
              <a:r>
                <a:rPr lang="en-US" sz="2000" dirty="0" err="1">
                  <a:solidFill>
                    <a:srgbClr val="242725"/>
                  </a:solidFill>
                  <a:latin typeface="Inter"/>
                </a:rPr>
                <a:t>Kondisi</a:t>
              </a:r>
              <a:r>
                <a:rPr lang="en-US" sz="2000" dirty="0">
                  <a:solidFill>
                    <a:srgbClr val="242725"/>
                  </a:solidFill>
                  <a:latin typeface="Inter"/>
                </a:rPr>
                <a:t> </a:t>
              </a:r>
              <a:r>
                <a:rPr lang="en-US" sz="2000" dirty="0" err="1">
                  <a:solidFill>
                    <a:srgbClr val="242725"/>
                  </a:solidFill>
                  <a:latin typeface="Inter"/>
                </a:rPr>
                <a:t>ini</a:t>
              </a:r>
              <a:r>
                <a:rPr lang="en-US" sz="2000" dirty="0">
                  <a:solidFill>
                    <a:srgbClr val="242725"/>
                  </a:solidFill>
                  <a:latin typeface="Inter"/>
                </a:rPr>
                <a:t> </a:t>
              </a:r>
              <a:r>
                <a:rPr lang="en-US" sz="2000" dirty="0" err="1">
                  <a:solidFill>
                    <a:srgbClr val="242725"/>
                  </a:solidFill>
                  <a:latin typeface="Inter"/>
                </a:rPr>
                <a:t>berpotensi</a:t>
              </a:r>
              <a:r>
                <a:rPr lang="en-US" sz="2000" dirty="0">
                  <a:solidFill>
                    <a:srgbClr val="242725"/>
                  </a:solidFill>
                  <a:latin typeface="Inter"/>
                </a:rPr>
                <a:t> </a:t>
              </a:r>
              <a:r>
                <a:rPr lang="en-US" sz="2000" dirty="0" err="1">
                  <a:solidFill>
                    <a:srgbClr val="242725"/>
                  </a:solidFill>
                  <a:latin typeface="Inter"/>
                </a:rPr>
                <a:t>menimbulkan</a:t>
              </a:r>
              <a:r>
                <a:rPr lang="en-US" sz="2000" dirty="0">
                  <a:solidFill>
                    <a:srgbClr val="242725"/>
                  </a:solidFill>
                  <a:latin typeface="Inter"/>
                </a:rPr>
                <a:t> </a:t>
              </a:r>
              <a:r>
                <a:rPr lang="en-US" sz="2000" dirty="0" err="1">
                  <a:solidFill>
                    <a:srgbClr val="242725"/>
                  </a:solidFill>
                  <a:latin typeface="Inter"/>
                </a:rPr>
                <a:t>kelebihan</a:t>
              </a:r>
              <a:r>
                <a:rPr lang="en-US" sz="2000" dirty="0">
                  <a:solidFill>
                    <a:srgbClr val="242725"/>
                  </a:solidFill>
                  <a:latin typeface="Inter"/>
                </a:rPr>
                <a:t> </a:t>
              </a:r>
              <a:r>
                <a:rPr lang="en-US" sz="2000" dirty="0" err="1">
                  <a:solidFill>
                    <a:srgbClr val="242725"/>
                  </a:solidFill>
                  <a:latin typeface="Inter"/>
                </a:rPr>
                <a:t>beban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ketika</a:t>
              </a:r>
              <a:r>
                <a:rPr lang="en-US" sz="2000" dirty="0">
                  <a:solidFill>
                    <a:srgbClr val="242725"/>
                  </a:solidFill>
                  <a:latin typeface="Inter"/>
                </a:rPr>
                <a:t> </a:t>
              </a:r>
              <a:r>
                <a:rPr lang="en-US" sz="2000" dirty="0" err="1">
                  <a:solidFill>
                    <a:srgbClr val="242725"/>
                  </a:solidFill>
                  <a:latin typeface="Inter"/>
                </a:rPr>
                <a:t>banyak</a:t>
              </a:r>
              <a:r>
                <a:rPr lang="en-US" sz="2000" dirty="0">
                  <a:solidFill>
                    <a:srgbClr val="242725"/>
                  </a:solidFill>
                  <a:latin typeface="Inter"/>
                </a:rPr>
                <a:t> </a:t>
              </a:r>
              <a:r>
                <a:rPr lang="en-US" sz="2000" dirty="0" err="1">
                  <a:solidFill>
                    <a:srgbClr val="242725"/>
                  </a:solidFill>
                  <a:latin typeface="Inter"/>
                </a:rPr>
                <a:t>perangkat</a:t>
              </a:r>
              <a:r>
                <a:rPr lang="en-US" sz="2000" dirty="0">
                  <a:solidFill>
                    <a:srgbClr val="242725"/>
                  </a:solidFill>
                  <a:latin typeface="Inter"/>
                </a:rPr>
                <a:t> </a:t>
              </a:r>
              <a:r>
                <a:rPr lang="en-US" sz="2000" dirty="0" err="1">
                  <a:solidFill>
                    <a:srgbClr val="242725"/>
                  </a:solidFill>
                  <a:latin typeface="Inter"/>
                </a:rPr>
                <a:t>aktif</a:t>
              </a:r>
              <a:r>
                <a:rPr lang="en-US" sz="2000" dirty="0">
                  <a:solidFill>
                    <a:srgbClr val="242725"/>
                  </a:solidFill>
                  <a:latin typeface="Inter"/>
                </a:rPr>
                <a:t> </a:t>
              </a:r>
              <a:r>
                <a:rPr lang="en-US" sz="2000" dirty="0" err="1">
                  <a:solidFill>
                    <a:srgbClr val="242725"/>
                  </a:solidFill>
                  <a:latin typeface="Inter"/>
                </a:rPr>
                <a:t>secara</a:t>
              </a:r>
              <a:r>
                <a:rPr lang="en-US" sz="2000" dirty="0">
                  <a:solidFill>
                    <a:srgbClr val="242725"/>
                  </a:solidFill>
                  <a:latin typeface="Inter"/>
                </a:rPr>
                <a:t> </a:t>
              </a:r>
              <a:r>
                <a:rPr lang="en-US" sz="2000" dirty="0" err="1">
                  <a:solidFill>
                    <a:srgbClr val="242725"/>
                  </a:solidFill>
                  <a:latin typeface="Inter"/>
                </a:rPr>
                <a:t>bersamaan</a:t>
              </a:r>
              <a:r>
                <a:rPr lang="en-US" sz="2000" dirty="0">
                  <a:solidFill>
                    <a:srgbClr val="242725"/>
                  </a:solidFill>
                  <a:latin typeface="Inter"/>
                </a:rPr>
                <a:t>, yang </a:t>
              </a:r>
              <a:r>
                <a:rPr lang="en-US" sz="2000" dirty="0" err="1">
                  <a:solidFill>
                    <a:srgbClr val="242725"/>
                  </a:solidFill>
                  <a:latin typeface="Inter"/>
                </a:rPr>
                <a:t>berdampak</a:t>
              </a:r>
              <a:r>
                <a:rPr lang="en-US" sz="2000" dirty="0">
                  <a:solidFill>
                    <a:srgbClr val="242725"/>
                  </a:solidFill>
                  <a:latin typeface="Inter"/>
                </a:rPr>
                <a:t> pada </a:t>
              </a:r>
              <a:r>
                <a:rPr lang="en-US" sz="2000" dirty="0" err="1">
                  <a:solidFill>
                    <a:srgbClr val="242725"/>
                  </a:solidFill>
                  <a:latin typeface="Inter"/>
                </a:rPr>
                <a:t>penurunan</a:t>
              </a:r>
              <a:r>
                <a:rPr lang="en-US" sz="2000" dirty="0">
                  <a:solidFill>
                    <a:srgbClr val="242725"/>
                  </a:solidFill>
                  <a:latin typeface="Inter"/>
                </a:rPr>
                <a:t> </a:t>
              </a:r>
              <a:r>
                <a:rPr lang="en-US" sz="2000" dirty="0" err="1">
                  <a:solidFill>
                    <a:srgbClr val="242725"/>
                  </a:solidFill>
                  <a:latin typeface="Inter"/>
                </a:rPr>
                <a:t>performa</a:t>
              </a:r>
              <a:r>
                <a:rPr lang="en-US" sz="2000" dirty="0">
                  <a:solidFill>
                    <a:srgbClr val="242725"/>
                  </a:solidFill>
                  <a:latin typeface="Inter"/>
                </a:rPr>
                <a:t> </a:t>
              </a:r>
              <a:r>
                <a:rPr lang="en-US" sz="2000" dirty="0" err="1">
                  <a:solidFill>
                    <a:srgbClr val="242725"/>
                  </a:solidFill>
                  <a:latin typeface="Inter"/>
                </a:rPr>
                <a:t>koneksi</a:t>
              </a:r>
              <a:r>
                <a:rPr lang="en-US" sz="2000" dirty="0">
                  <a:solidFill>
                    <a:srgbClr val="242725"/>
                  </a:solidFill>
                  <a:latin typeface="Inter"/>
                </a:rPr>
                <a:t> internet.</a:t>
              </a:r>
            </a:p>
          </p:txBody>
        </p:sp>
      </p:grpSp>
      <p:grpSp>
        <p:nvGrpSpPr>
          <p:cNvPr id="10" name="Group 10"/>
          <p:cNvGrpSpPr/>
          <p:nvPr/>
        </p:nvGrpSpPr>
        <p:grpSpPr>
          <a:xfrm>
            <a:off x="15181507" y="3398790"/>
            <a:ext cx="2912577" cy="2839113"/>
            <a:chOff x="0" y="0"/>
            <a:chExt cx="4589780" cy="4578350"/>
          </a:xfrm>
        </p:grpSpPr>
        <p:sp>
          <p:nvSpPr>
            <p:cNvPr id="11" name="Freeform 11"/>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2" name="Freeform 12"/>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3" name="Group 13"/>
          <p:cNvGrpSpPr/>
          <p:nvPr/>
        </p:nvGrpSpPr>
        <p:grpSpPr>
          <a:xfrm>
            <a:off x="11838228" y="3790583"/>
            <a:ext cx="5262429" cy="5262429"/>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2632815" y="4818347"/>
            <a:ext cx="4626485" cy="4651859"/>
          </a:xfrm>
          <a:prstGeom prst="rect">
            <a:avLst/>
          </a:prstGeom>
        </p:spPr>
      </p:pic>
      <p:sp>
        <p:nvSpPr>
          <p:cNvPr id="16" name="AutoShape 16"/>
          <p:cNvSpPr/>
          <p:nvPr/>
        </p:nvSpPr>
        <p:spPr>
          <a:xfrm>
            <a:off x="-443075" y="9720640"/>
            <a:ext cx="18865925" cy="566360"/>
          </a:xfrm>
          <a:prstGeom prst="rect">
            <a:avLst/>
          </a:prstGeom>
          <a:solidFill>
            <a:srgbClr val="2ED47B"/>
          </a:solidFill>
        </p:spPr>
      </p:sp>
      <p:sp>
        <p:nvSpPr>
          <p:cNvPr id="18" name="TextBox 6">
            <a:extLst>
              <a:ext uri="{FF2B5EF4-FFF2-40B4-BE49-F238E27FC236}">
                <a16:creationId xmlns:a16="http://schemas.microsoft.com/office/drawing/2014/main" id="{90557877-E9F3-4ACA-9680-A2D8FCBA38DE}"/>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03</a:t>
            </a:r>
          </a:p>
        </p:txBody>
      </p:sp>
    </p:spTree>
    <p:extLst>
      <p:ext uri="{BB962C8B-B14F-4D97-AF65-F5344CB8AC3E}">
        <p14:creationId xmlns:p14="http://schemas.microsoft.com/office/powerpoint/2010/main" val="2498103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8700"/>
            <a:ext cx="8953500" cy="1228340"/>
          </a:xfrm>
          <a:prstGeom prst="rect">
            <a:avLst/>
          </a:prstGeom>
        </p:spPr>
        <p:txBody>
          <a:bodyPr wrap="square" lIns="0" tIns="0" rIns="0" bIns="0" rtlCol="0" anchor="t">
            <a:spAutoFit/>
          </a:bodyPr>
          <a:lstStyle/>
          <a:p>
            <a:pPr>
              <a:lnSpc>
                <a:spcPts val="9600"/>
              </a:lnSpc>
            </a:pPr>
            <a:r>
              <a:rPr lang="en-US" sz="8000" dirty="0" err="1">
                <a:solidFill>
                  <a:srgbClr val="242725"/>
                </a:solidFill>
                <a:latin typeface="Inter Bold"/>
              </a:rPr>
              <a:t>Latar</a:t>
            </a:r>
            <a:r>
              <a:rPr lang="en-US" sz="8000" dirty="0">
                <a:solidFill>
                  <a:srgbClr val="242725"/>
                </a:solidFill>
                <a:latin typeface="Inter Bold"/>
              </a:rPr>
              <a:t> </a:t>
            </a:r>
            <a:r>
              <a:rPr lang="en-US" sz="8000" dirty="0" err="1">
                <a:solidFill>
                  <a:srgbClr val="242725"/>
                </a:solidFill>
                <a:latin typeface="Inter Bold"/>
              </a:rPr>
              <a:t>Belakang</a:t>
            </a:r>
            <a:endParaRPr lang="en-US" sz="8000" dirty="0">
              <a:solidFill>
                <a:srgbClr val="242725"/>
              </a:solidFill>
              <a:latin typeface="Inter Bold"/>
            </a:endParaRPr>
          </a:p>
        </p:txBody>
      </p:sp>
      <p:grpSp>
        <p:nvGrpSpPr>
          <p:cNvPr id="3" name="Group 3"/>
          <p:cNvGrpSpPr/>
          <p:nvPr/>
        </p:nvGrpSpPr>
        <p:grpSpPr>
          <a:xfrm>
            <a:off x="1028700" y="2552700"/>
            <a:ext cx="10325100" cy="5181600"/>
            <a:chOff x="0" y="-1650511"/>
            <a:chExt cx="13214475" cy="6908800"/>
          </a:xfrm>
        </p:grpSpPr>
        <p:sp>
          <p:nvSpPr>
            <p:cNvPr id="5" name="TextBox 5"/>
            <p:cNvSpPr txBox="1"/>
            <p:nvPr/>
          </p:nvSpPr>
          <p:spPr>
            <a:xfrm>
              <a:off x="0" y="-1650511"/>
              <a:ext cx="13214475" cy="2354577"/>
            </a:xfrm>
            <a:prstGeom prst="rect">
              <a:avLst/>
            </a:prstGeom>
          </p:spPr>
          <p:txBody>
            <a:bodyPr lIns="0" tIns="0" rIns="0" bIns="0" rtlCol="0" anchor="t">
              <a:spAutoFit/>
            </a:bodyPr>
            <a:lstStyle/>
            <a:p>
              <a:pPr algn="just">
                <a:lnSpc>
                  <a:spcPts val="2800"/>
                </a:lnSpc>
                <a:spcBef>
                  <a:spcPct val="0"/>
                </a:spcBef>
              </a:pPr>
              <a:r>
                <a:rPr lang="en-US" sz="2000" dirty="0">
                  <a:solidFill>
                    <a:srgbClr val="242725"/>
                  </a:solidFill>
                  <a:latin typeface="Inter"/>
                </a:rPr>
                <a:t>Hasil </a:t>
              </a:r>
              <a:r>
                <a:rPr lang="en-US" sz="2000" dirty="0" err="1">
                  <a:solidFill>
                    <a:srgbClr val="242725"/>
                  </a:solidFill>
                  <a:latin typeface="Inter"/>
                </a:rPr>
                <a:t>observasi</a:t>
              </a:r>
              <a:r>
                <a:rPr lang="en-US" sz="2000" dirty="0">
                  <a:solidFill>
                    <a:srgbClr val="242725"/>
                  </a:solidFill>
                  <a:latin typeface="Inter"/>
                </a:rPr>
                <a:t> di MIN 3 Pontianak </a:t>
              </a:r>
              <a:r>
                <a:rPr lang="en-US" sz="2000" dirty="0" err="1">
                  <a:solidFill>
                    <a:srgbClr val="242725"/>
                  </a:solidFill>
                  <a:latin typeface="Inter"/>
                </a:rPr>
                <a:t>menunjukkan</a:t>
              </a:r>
              <a:r>
                <a:rPr lang="en-US" sz="2000" dirty="0">
                  <a:solidFill>
                    <a:srgbClr val="242725"/>
                  </a:solidFill>
                  <a:latin typeface="Inter"/>
                </a:rPr>
                <a:t> </a:t>
              </a:r>
              <a:r>
                <a:rPr lang="en-US" sz="2000" dirty="0" err="1">
                  <a:solidFill>
                    <a:srgbClr val="242725"/>
                  </a:solidFill>
                  <a:latin typeface="Inter"/>
                </a:rPr>
                <a:t>bahwa</a:t>
              </a:r>
              <a:r>
                <a:rPr lang="en-US" sz="2000" dirty="0">
                  <a:solidFill>
                    <a:srgbClr val="242725"/>
                  </a:solidFill>
                  <a:latin typeface="Inter"/>
                </a:rPr>
                <a:t> </a:t>
              </a:r>
              <a:r>
                <a:rPr lang="en-US" sz="2000" dirty="0" err="1">
                  <a:solidFill>
                    <a:srgbClr val="242725"/>
                  </a:solidFill>
                  <a:latin typeface="Inter"/>
                </a:rPr>
                <a:t>saat</a:t>
              </a:r>
              <a:r>
                <a:rPr lang="en-US" sz="2000" dirty="0">
                  <a:solidFill>
                    <a:srgbClr val="242725"/>
                  </a:solidFill>
                  <a:latin typeface="Inter"/>
                </a:rPr>
                <a:t> </a:t>
              </a:r>
              <a:r>
                <a:rPr lang="en-US" sz="2000" dirty="0" err="1">
                  <a:solidFill>
                    <a:srgbClr val="242725"/>
                  </a:solidFill>
                  <a:latin typeface="Inter"/>
                </a:rPr>
                <a:t>ini</a:t>
              </a:r>
              <a:r>
                <a:rPr lang="en-US" sz="2000" dirty="0">
                  <a:solidFill>
                    <a:srgbClr val="242725"/>
                  </a:solidFill>
                  <a:latin typeface="Inter"/>
                </a:rPr>
                <a:t> madrasah </a:t>
              </a:r>
              <a:r>
                <a:rPr lang="en-US" sz="2000" dirty="0" err="1">
                  <a:solidFill>
                    <a:srgbClr val="242725"/>
                  </a:solidFill>
                  <a:latin typeface="Inter"/>
                </a:rPr>
                <a:t>masih</a:t>
              </a:r>
              <a:r>
                <a:rPr lang="en-US" sz="2000" dirty="0">
                  <a:solidFill>
                    <a:srgbClr val="242725"/>
                  </a:solidFill>
                  <a:latin typeface="Inter"/>
                </a:rPr>
                <a:t> </a:t>
              </a:r>
              <a:r>
                <a:rPr lang="en-US" sz="2000" dirty="0" err="1">
                  <a:solidFill>
                    <a:srgbClr val="242725"/>
                  </a:solidFill>
                  <a:latin typeface="Inter"/>
                </a:rPr>
                <a:t>mengoperasikan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internet </a:t>
              </a:r>
              <a:r>
                <a:rPr lang="en-US" sz="2000" dirty="0" err="1">
                  <a:solidFill>
                    <a:srgbClr val="242725"/>
                  </a:solidFill>
                  <a:latin typeface="Inter"/>
                </a:rPr>
                <a:t>dalam</a:t>
              </a:r>
              <a:r>
                <a:rPr lang="en-US" sz="2000" dirty="0">
                  <a:solidFill>
                    <a:srgbClr val="242725"/>
                  </a:solidFill>
                  <a:latin typeface="Inter"/>
                </a:rPr>
                <a:t> </a:t>
              </a:r>
              <a:r>
                <a:rPr lang="en-US" sz="2000" dirty="0" err="1">
                  <a:solidFill>
                    <a:srgbClr val="242725"/>
                  </a:solidFill>
                  <a:latin typeface="Inter"/>
                </a:rPr>
                <a:t>satu</a:t>
              </a:r>
              <a:r>
                <a:rPr lang="en-US" sz="2000" dirty="0">
                  <a:solidFill>
                    <a:srgbClr val="242725"/>
                  </a:solidFill>
                  <a:latin typeface="Inter"/>
                </a:rPr>
                <a:t> domain broadcast </a:t>
              </a:r>
              <a:r>
                <a:rPr lang="en-US" sz="2000" dirty="0" err="1">
                  <a:solidFill>
                    <a:srgbClr val="242725"/>
                  </a:solidFill>
                  <a:latin typeface="Inter"/>
                </a:rPr>
                <a:t>tanpa</a:t>
              </a:r>
              <a:r>
                <a:rPr lang="en-US" sz="2000" dirty="0">
                  <a:solidFill>
                    <a:srgbClr val="242725"/>
                  </a:solidFill>
                  <a:latin typeface="Inter"/>
                </a:rPr>
                <a:t> </a:t>
              </a:r>
              <a:r>
                <a:rPr lang="en-US" sz="2000" dirty="0" err="1">
                  <a:solidFill>
                    <a:srgbClr val="242725"/>
                  </a:solidFill>
                  <a:latin typeface="Inter"/>
                </a:rPr>
                <a:t>segmentasi</a:t>
              </a:r>
              <a:r>
                <a:rPr lang="en-US" sz="2000" dirty="0">
                  <a:solidFill>
                    <a:srgbClr val="242725"/>
                  </a:solidFill>
                  <a:latin typeface="Inter"/>
                </a:rPr>
                <a:t> VLAN. </a:t>
              </a:r>
              <a:r>
                <a:rPr lang="en-US" sz="2000" dirty="0" err="1">
                  <a:solidFill>
                    <a:srgbClr val="242725"/>
                  </a:solidFill>
                  <a:latin typeface="Inter"/>
                </a:rPr>
                <a:t>Kondisi</a:t>
              </a:r>
              <a:r>
                <a:rPr lang="en-US" sz="2000" dirty="0">
                  <a:solidFill>
                    <a:srgbClr val="242725"/>
                  </a:solidFill>
                  <a:latin typeface="Inter"/>
                </a:rPr>
                <a:t> </a:t>
              </a:r>
              <a:r>
                <a:rPr lang="en-US" sz="2000" dirty="0" err="1">
                  <a:solidFill>
                    <a:srgbClr val="242725"/>
                  </a:solidFill>
                  <a:latin typeface="Inter"/>
                </a:rPr>
                <a:t>tanpa</a:t>
              </a:r>
              <a:r>
                <a:rPr lang="en-US" sz="2000" dirty="0">
                  <a:solidFill>
                    <a:srgbClr val="242725"/>
                  </a:solidFill>
                  <a:latin typeface="Inter"/>
                </a:rPr>
                <a:t> </a:t>
              </a:r>
              <a:r>
                <a:rPr lang="en-US" sz="2000" dirty="0" err="1">
                  <a:solidFill>
                    <a:srgbClr val="242725"/>
                  </a:solidFill>
                  <a:latin typeface="Inter"/>
                </a:rPr>
                <a:t>adanya</a:t>
              </a:r>
              <a:r>
                <a:rPr lang="en-US" sz="2000" dirty="0">
                  <a:solidFill>
                    <a:srgbClr val="242725"/>
                  </a:solidFill>
                  <a:latin typeface="Inter"/>
                </a:rPr>
                <a:t> </a:t>
              </a:r>
              <a:r>
                <a:rPr lang="en-US" sz="2000" dirty="0" err="1">
                  <a:solidFill>
                    <a:srgbClr val="242725"/>
                  </a:solidFill>
                  <a:latin typeface="Inter"/>
                </a:rPr>
                <a:t>segmentasi</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ini</a:t>
              </a:r>
              <a:r>
                <a:rPr lang="en-US" sz="2000" dirty="0">
                  <a:solidFill>
                    <a:srgbClr val="242725"/>
                  </a:solidFill>
                  <a:latin typeface="Inter"/>
                </a:rPr>
                <a:t> </a:t>
              </a:r>
              <a:r>
                <a:rPr lang="en-US" sz="2000" dirty="0" err="1">
                  <a:solidFill>
                    <a:srgbClr val="242725"/>
                  </a:solidFill>
                  <a:latin typeface="Inter"/>
                </a:rPr>
                <a:t>rentan</a:t>
              </a:r>
              <a:r>
                <a:rPr lang="en-US" sz="2000" dirty="0">
                  <a:solidFill>
                    <a:srgbClr val="242725"/>
                  </a:solidFill>
                  <a:latin typeface="Inter"/>
                </a:rPr>
                <a:t> </a:t>
              </a:r>
              <a:r>
                <a:rPr lang="en-US" sz="2000" dirty="0" err="1">
                  <a:solidFill>
                    <a:srgbClr val="242725"/>
                  </a:solidFill>
                  <a:latin typeface="Inter"/>
                </a:rPr>
                <a:t>menimbulkan</a:t>
              </a:r>
              <a:r>
                <a:rPr lang="en-US" sz="2000" dirty="0">
                  <a:solidFill>
                    <a:srgbClr val="242725"/>
                  </a:solidFill>
                  <a:latin typeface="Inter"/>
                </a:rPr>
                <a:t> </a:t>
              </a:r>
              <a:r>
                <a:rPr lang="en-US" sz="2000" dirty="0" err="1">
                  <a:solidFill>
                    <a:srgbClr val="242725"/>
                  </a:solidFill>
                  <a:latin typeface="Inter"/>
                </a:rPr>
                <a:t>masalah</a:t>
              </a:r>
              <a:r>
                <a:rPr lang="en-US" sz="2000" dirty="0">
                  <a:solidFill>
                    <a:srgbClr val="242725"/>
                  </a:solidFill>
                  <a:latin typeface="Inter"/>
                </a:rPr>
                <a:t> </a:t>
              </a:r>
              <a:r>
                <a:rPr lang="en-US" sz="2000" dirty="0" err="1">
                  <a:solidFill>
                    <a:srgbClr val="242725"/>
                  </a:solidFill>
                  <a:latin typeface="Inter"/>
                </a:rPr>
                <a:t>kinerja</a:t>
              </a:r>
              <a:r>
                <a:rPr lang="en-US" sz="2000" dirty="0">
                  <a:solidFill>
                    <a:srgbClr val="242725"/>
                  </a:solidFill>
                  <a:latin typeface="Inter"/>
                </a:rPr>
                <a:t>, </a:t>
              </a:r>
              <a:r>
                <a:rPr lang="en-US" sz="2000" dirty="0" err="1">
                  <a:solidFill>
                    <a:srgbClr val="242725"/>
                  </a:solidFill>
                  <a:latin typeface="Inter"/>
                </a:rPr>
                <a:t>seperti</a:t>
              </a:r>
              <a:r>
                <a:rPr lang="en-US" sz="2000" dirty="0">
                  <a:solidFill>
                    <a:srgbClr val="242725"/>
                  </a:solidFill>
                  <a:latin typeface="Inter"/>
                </a:rPr>
                <a:t> </a:t>
              </a:r>
              <a:r>
                <a:rPr lang="en-US" sz="2000" dirty="0" err="1">
                  <a:solidFill>
                    <a:srgbClr val="242725"/>
                  </a:solidFill>
                  <a:latin typeface="Inter"/>
                </a:rPr>
                <a:t>kelebihan</a:t>
              </a:r>
              <a:r>
                <a:rPr lang="en-US" sz="2000" dirty="0">
                  <a:solidFill>
                    <a:srgbClr val="242725"/>
                  </a:solidFill>
                  <a:latin typeface="Inter"/>
                </a:rPr>
                <a:t> </a:t>
              </a:r>
              <a:r>
                <a:rPr lang="en-US" sz="2000" dirty="0" err="1">
                  <a:solidFill>
                    <a:srgbClr val="242725"/>
                  </a:solidFill>
                  <a:latin typeface="Inter"/>
                </a:rPr>
                <a:t>beban</a:t>
              </a:r>
              <a:r>
                <a:rPr lang="en-US" sz="2000" dirty="0">
                  <a:solidFill>
                    <a:srgbClr val="242725"/>
                  </a:solidFill>
                  <a:latin typeface="Inter"/>
                </a:rPr>
                <a:t> (overload) </a:t>
              </a:r>
              <a:r>
                <a:rPr lang="en-US" sz="2000" dirty="0" err="1">
                  <a:solidFill>
                    <a:srgbClr val="242725"/>
                  </a:solidFill>
                  <a:latin typeface="Inter"/>
                </a:rPr>
                <a:t>akibat</a:t>
              </a:r>
              <a:r>
                <a:rPr lang="en-US" sz="2000" dirty="0">
                  <a:solidFill>
                    <a:srgbClr val="242725"/>
                  </a:solidFill>
                  <a:latin typeface="Inter"/>
                </a:rPr>
                <a:t> </a:t>
              </a:r>
              <a:r>
                <a:rPr lang="en-US" sz="2000" dirty="0" err="1">
                  <a:solidFill>
                    <a:srgbClr val="242725"/>
                  </a:solidFill>
                  <a:latin typeface="Inter"/>
                </a:rPr>
                <a:t>terlalu</a:t>
              </a:r>
              <a:r>
                <a:rPr lang="en-US" sz="2000" dirty="0">
                  <a:solidFill>
                    <a:srgbClr val="242725"/>
                  </a:solidFill>
                  <a:latin typeface="Inter"/>
                </a:rPr>
                <a:t> </a:t>
              </a:r>
              <a:r>
                <a:rPr lang="en-US" sz="2000" dirty="0" err="1">
                  <a:solidFill>
                    <a:srgbClr val="242725"/>
                  </a:solidFill>
                  <a:latin typeface="Inter"/>
                </a:rPr>
                <a:t>banyak</a:t>
              </a:r>
              <a:r>
                <a:rPr lang="en-US" sz="2000" dirty="0">
                  <a:solidFill>
                    <a:srgbClr val="242725"/>
                  </a:solidFill>
                  <a:latin typeface="Inter"/>
                </a:rPr>
                <a:t> </a:t>
              </a:r>
              <a:r>
                <a:rPr lang="en-US" sz="2000" dirty="0" err="1">
                  <a:solidFill>
                    <a:srgbClr val="242725"/>
                  </a:solidFill>
                  <a:latin typeface="Inter"/>
                </a:rPr>
                <a:t>perangkat</a:t>
              </a:r>
              <a:r>
                <a:rPr lang="en-US" sz="2000" dirty="0">
                  <a:solidFill>
                    <a:srgbClr val="242725"/>
                  </a:solidFill>
                  <a:latin typeface="Inter"/>
                </a:rPr>
                <a:t> yang </a:t>
              </a:r>
              <a:r>
                <a:rPr lang="en-US" sz="2000" dirty="0" err="1">
                  <a:solidFill>
                    <a:srgbClr val="242725"/>
                  </a:solidFill>
                  <a:latin typeface="Inter"/>
                </a:rPr>
                <a:t>tersambung</a:t>
              </a:r>
              <a:r>
                <a:rPr lang="en-US" sz="2000" dirty="0">
                  <a:solidFill>
                    <a:srgbClr val="242725"/>
                  </a:solidFill>
                  <a:latin typeface="Inter"/>
                </a:rPr>
                <a:t> </a:t>
              </a:r>
              <a:r>
                <a:rPr lang="en-US" sz="2000" dirty="0" err="1">
                  <a:solidFill>
                    <a:srgbClr val="242725"/>
                  </a:solidFill>
                  <a:latin typeface="Inter"/>
                </a:rPr>
                <a:t>secara</a:t>
              </a:r>
              <a:r>
                <a:rPr lang="en-US" sz="2000" dirty="0">
                  <a:solidFill>
                    <a:srgbClr val="242725"/>
                  </a:solidFill>
                  <a:latin typeface="Inter"/>
                </a:rPr>
                <a:t> </a:t>
              </a:r>
              <a:r>
                <a:rPr lang="en-US" sz="2000" dirty="0" err="1">
                  <a:solidFill>
                    <a:srgbClr val="242725"/>
                  </a:solidFill>
                  <a:latin typeface="Inter"/>
                </a:rPr>
                <a:t>bersamaan</a:t>
              </a:r>
              <a:r>
                <a:rPr lang="en-US" sz="2000" dirty="0">
                  <a:solidFill>
                    <a:srgbClr val="242725"/>
                  </a:solidFill>
                  <a:latin typeface="Inter"/>
                </a:rPr>
                <a:t>. </a:t>
              </a:r>
            </a:p>
          </p:txBody>
        </p:sp>
        <p:sp>
          <p:nvSpPr>
            <p:cNvPr id="7" name="TextBox 7"/>
            <p:cNvSpPr txBox="1"/>
            <p:nvPr/>
          </p:nvSpPr>
          <p:spPr>
            <a:xfrm>
              <a:off x="0" y="988658"/>
              <a:ext cx="13214475" cy="4269631"/>
            </a:xfrm>
            <a:prstGeom prst="rect">
              <a:avLst/>
            </a:prstGeom>
          </p:spPr>
          <p:txBody>
            <a:bodyPr lIns="0" tIns="0" rIns="0" bIns="0" rtlCol="0" anchor="t">
              <a:spAutoFit/>
            </a:bodyPr>
            <a:lstStyle/>
            <a:p>
              <a:pPr algn="just">
                <a:lnSpc>
                  <a:spcPts val="2800"/>
                </a:lnSpc>
                <a:spcBef>
                  <a:spcPct val="0"/>
                </a:spcBef>
              </a:pPr>
              <a:r>
                <a:rPr lang="en-US" sz="2000" dirty="0" err="1">
                  <a:solidFill>
                    <a:srgbClr val="242725"/>
                  </a:solidFill>
                  <a:latin typeface="Inter"/>
                </a:rPr>
                <a:t>Berdasarkan</a:t>
              </a:r>
              <a:r>
                <a:rPr lang="en-US" sz="2000" dirty="0">
                  <a:solidFill>
                    <a:srgbClr val="242725"/>
                  </a:solidFill>
                  <a:latin typeface="Inter"/>
                </a:rPr>
                <a:t> </a:t>
              </a:r>
              <a:r>
                <a:rPr lang="en-US" sz="2000" dirty="0" err="1">
                  <a:solidFill>
                    <a:srgbClr val="242725"/>
                  </a:solidFill>
                  <a:latin typeface="Inter"/>
                </a:rPr>
                <a:t>penelitian</a:t>
              </a:r>
              <a:r>
                <a:rPr lang="en-US" sz="2000" dirty="0">
                  <a:solidFill>
                    <a:srgbClr val="242725"/>
                  </a:solidFill>
                  <a:latin typeface="Inter"/>
                </a:rPr>
                <a:t> </a:t>
              </a:r>
              <a:r>
                <a:rPr lang="en-US" sz="2000" dirty="0" err="1">
                  <a:solidFill>
                    <a:srgbClr val="242725"/>
                  </a:solidFill>
                  <a:latin typeface="Inter"/>
                </a:rPr>
                <a:t>terdahulu</a:t>
              </a:r>
              <a:r>
                <a:rPr lang="en-US" sz="2000" dirty="0">
                  <a:solidFill>
                    <a:srgbClr val="242725"/>
                  </a:solidFill>
                  <a:latin typeface="Inter"/>
                </a:rPr>
                <a:t> yang </a:t>
              </a:r>
              <a:r>
                <a:rPr lang="en-US" sz="2000" dirty="0" err="1">
                  <a:solidFill>
                    <a:srgbClr val="242725"/>
                  </a:solidFill>
                  <a:latin typeface="Inter"/>
                </a:rPr>
                <a:t>dilakukan</a:t>
              </a:r>
              <a:r>
                <a:rPr lang="en-US" sz="2000" dirty="0">
                  <a:solidFill>
                    <a:srgbClr val="242725"/>
                  </a:solidFill>
                  <a:latin typeface="Inter"/>
                </a:rPr>
                <a:t> oleh Bayu, </a:t>
              </a:r>
              <a:r>
                <a:rPr lang="en-US" sz="2000" dirty="0" err="1">
                  <a:solidFill>
                    <a:srgbClr val="242725"/>
                  </a:solidFill>
                  <a:latin typeface="Inter"/>
                </a:rPr>
                <a:t>Nurcahyo</a:t>
              </a:r>
              <a:r>
                <a:rPr lang="en-US" sz="2000" dirty="0">
                  <a:solidFill>
                    <a:srgbClr val="242725"/>
                  </a:solidFill>
                  <a:latin typeface="Inter"/>
                </a:rPr>
                <a:t>, dan </a:t>
              </a:r>
              <a:r>
                <a:rPr lang="en-US" sz="2000" dirty="0" err="1">
                  <a:solidFill>
                    <a:srgbClr val="242725"/>
                  </a:solidFill>
                  <a:latin typeface="Inter"/>
                </a:rPr>
                <a:t>Prihanto</a:t>
              </a:r>
              <a:r>
                <a:rPr lang="en-US" sz="2000" dirty="0">
                  <a:solidFill>
                    <a:srgbClr val="242725"/>
                  </a:solidFill>
                  <a:latin typeface="Inter"/>
                </a:rPr>
                <a:t> (2021), </a:t>
              </a:r>
              <a:r>
                <a:rPr lang="en-US" sz="2000" dirty="0" err="1">
                  <a:solidFill>
                    <a:srgbClr val="242725"/>
                  </a:solidFill>
                  <a:latin typeface="Inter"/>
                </a:rPr>
                <a:t>penerapan</a:t>
              </a:r>
              <a:r>
                <a:rPr lang="en-US" sz="2000" dirty="0">
                  <a:solidFill>
                    <a:srgbClr val="242725"/>
                  </a:solidFill>
                  <a:latin typeface="Inter"/>
                </a:rPr>
                <a:t> Virtual Local Area Network (VLAN) </a:t>
              </a:r>
              <a:r>
                <a:rPr lang="en-US" sz="2000" dirty="0" err="1">
                  <a:solidFill>
                    <a:srgbClr val="242725"/>
                  </a:solidFill>
                  <a:latin typeface="Inter"/>
                </a:rPr>
                <a:t>terbukti</a:t>
              </a:r>
              <a:r>
                <a:rPr lang="en-US" sz="2000" dirty="0">
                  <a:solidFill>
                    <a:srgbClr val="242725"/>
                  </a:solidFill>
                  <a:latin typeface="Inter"/>
                </a:rPr>
                <a:t> </a:t>
              </a:r>
              <a:r>
                <a:rPr lang="en-US" sz="2000" dirty="0" err="1">
                  <a:solidFill>
                    <a:srgbClr val="242725"/>
                  </a:solidFill>
                  <a:latin typeface="Inter"/>
                </a:rPr>
                <a:t>mampu</a:t>
              </a:r>
              <a:r>
                <a:rPr lang="en-US" sz="2000" dirty="0">
                  <a:solidFill>
                    <a:srgbClr val="242725"/>
                  </a:solidFill>
                  <a:latin typeface="Inter"/>
                </a:rPr>
                <a:t> </a:t>
              </a:r>
              <a:r>
                <a:rPr lang="en-US" sz="2000" dirty="0" err="1">
                  <a:solidFill>
                    <a:srgbClr val="242725"/>
                  </a:solidFill>
                  <a:latin typeface="Inter"/>
                </a:rPr>
                <a:t>meningkatkan</a:t>
              </a:r>
              <a:r>
                <a:rPr lang="en-US" sz="2000" dirty="0">
                  <a:solidFill>
                    <a:srgbClr val="242725"/>
                  </a:solidFill>
                  <a:latin typeface="Inter"/>
                </a:rPr>
                <a:t> </a:t>
              </a:r>
              <a:r>
                <a:rPr lang="en-US" sz="2000" dirty="0" err="1">
                  <a:solidFill>
                    <a:srgbClr val="242725"/>
                  </a:solidFill>
                  <a:latin typeface="Inter"/>
                </a:rPr>
                <a:t>kualitas</a:t>
              </a:r>
              <a:r>
                <a:rPr lang="en-US" sz="2000" dirty="0">
                  <a:solidFill>
                    <a:srgbClr val="242725"/>
                  </a:solidFill>
                  <a:latin typeface="Inter"/>
                </a:rPr>
                <a:t> </a:t>
              </a:r>
              <a:r>
                <a:rPr lang="en-US" sz="2000" dirty="0" err="1">
                  <a:solidFill>
                    <a:srgbClr val="242725"/>
                  </a:solidFill>
                  <a:latin typeface="Inter"/>
                </a:rPr>
                <a:t>layanan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(Quality of Service/QoS) </a:t>
              </a:r>
              <a:r>
                <a:rPr lang="en-US" sz="2000" dirty="0" err="1">
                  <a:solidFill>
                    <a:srgbClr val="242725"/>
                  </a:solidFill>
                  <a:latin typeface="Inter"/>
                </a:rPr>
                <a:t>dengan</a:t>
              </a:r>
              <a:r>
                <a:rPr lang="en-US" sz="2000" dirty="0">
                  <a:solidFill>
                    <a:srgbClr val="242725"/>
                  </a:solidFill>
                  <a:latin typeface="Inter"/>
                </a:rPr>
                <a:t> </a:t>
              </a:r>
              <a:r>
                <a:rPr lang="en-US" sz="2000" dirty="0" err="1">
                  <a:solidFill>
                    <a:srgbClr val="242725"/>
                  </a:solidFill>
                  <a:latin typeface="Inter"/>
                </a:rPr>
                <a:t>mengurangi</a:t>
              </a:r>
              <a:r>
                <a:rPr lang="en-US" sz="2000" dirty="0">
                  <a:solidFill>
                    <a:srgbClr val="242725"/>
                  </a:solidFill>
                  <a:latin typeface="Inter"/>
                </a:rPr>
                <a:t> </a:t>
              </a:r>
              <a:r>
                <a:rPr lang="en-US" sz="2000" dirty="0" err="1">
                  <a:solidFill>
                    <a:srgbClr val="242725"/>
                  </a:solidFill>
                  <a:latin typeface="Inter"/>
                </a:rPr>
                <a:t>lalu</a:t>
              </a:r>
              <a:r>
                <a:rPr lang="en-US" sz="2000" dirty="0">
                  <a:solidFill>
                    <a:srgbClr val="242725"/>
                  </a:solidFill>
                  <a:latin typeface="Inter"/>
                </a:rPr>
                <a:t> </a:t>
              </a:r>
              <a:r>
                <a:rPr lang="en-US" sz="2000" dirty="0" err="1">
                  <a:solidFill>
                    <a:srgbClr val="242725"/>
                  </a:solidFill>
                  <a:latin typeface="Inter"/>
                </a:rPr>
                <a:t>lintas</a:t>
              </a:r>
              <a:r>
                <a:rPr lang="en-US" sz="2000" dirty="0">
                  <a:solidFill>
                    <a:srgbClr val="242725"/>
                  </a:solidFill>
                  <a:latin typeface="Inter"/>
                </a:rPr>
                <a:t> broadcast </a:t>
              </a:r>
              <a:r>
                <a:rPr lang="en-US" sz="2000" dirty="0" err="1">
                  <a:solidFill>
                    <a:srgbClr val="242725"/>
                  </a:solidFill>
                  <a:latin typeface="Inter"/>
                </a:rPr>
                <a:t>serta</a:t>
              </a:r>
              <a:r>
                <a:rPr lang="en-US" sz="2000" dirty="0">
                  <a:solidFill>
                    <a:srgbClr val="242725"/>
                  </a:solidFill>
                  <a:latin typeface="Inter"/>
                </a:rPr>
                <a:t> </a:t>
              </a:r>
              <a:r>
                <a:rPr lang="en-US" sz="2000" dirty="0" err="1">
                  <a:solidFill>
                    <a:srgbClr val="242725"/>
                  </a:solidFill>
                  <a:latin typeface="Inter"/>
                </a:rPr>
                <a:t>meningkatkan</a:t>
              </a:r>
              <a:r>
                <a:rPr lang="en-US" sz="2000" dirty="0">
                  <a:solidFill>
                    <a:srgbClr val="242725"/>
                  </a:solidFill>
                  <a:latin typeface="Inter"/>
                </a:rPr>
                <a:t> </a:t>
              </a:r>
              <a:r>
                <a:rPr lang="en-US" sz="2000" dirty="0" err="1">
                  <a:solidFill>
                    <a:srgbClr val="242725"/>
                  </a:solidFill>
                  <a:latin typeface="Inter"/>
                </a:rPr>
                <a:t>efisiensi</a:t>
              </a:r>
              <a:r>
                <a:rPr lang="en-US" sz="2000" dirty="0">
                  <a:solidFill>
                    <a:srgbClr val="242725"/>
                  </a:solidFill>
                  <a:latin typeface="Inter"/>
                </a:rPr>
                <a:t> </a:t>
              </a:r>
              <a:r>
                <a:rPr lang="en-US" sz="2000" dirty="0" err="1">
                  <a:solidFill>
                    <a:srgbClr val="242725"/>
                  </a:solidFill>
                  <a:latin typeface="Inter"/>
                </a:rPr>
                <a:t>pengelolaan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Penelitian</a:t>
              </a:r>
              <a:r>
                <a:rPr lang="en-US" sz="2000" dirty="0">
                  <a:solidFill>
                    <a:srgbClr val="242725"/>
                  </a:solidFill>
                  <a:latin typeface="Inter"/>
                </a:rPr>
                <a:t> lain oleh </a:t>
              </a:r>
              <a:r>
                <a:rPr lang="en-US" sz="2000" dirty="0" err="1">
                  <a:solidFill>
                    <a:srgbClr val="242725"/>
                  </a:solidFill>
                  <a:latin typeface="Inter"/>
                </a:rPr>
                <a:t>Noviriandini</a:t>
              </a:r>
              <a:r>
                <a:rPr lang="en-US" sz="2000" dirty="0">
                  <a:solidFill>
                    <a:srgbClr val="242725"/>
                  </a:solidFill>
                  <a:latin typeface="Inter"/>
                </a:rPr>
                <a:t> et al. (2023) </a:t>
              </a:r>
              <a:r>
                <a:rPr lang="en-US" sz="2000" dirty="0" err="1">
                  <a:solidFill>
                    <a:srgbClr val="242725"/>
                  </a:solidFill>
                  <a:latin typeface="Inter"/>
                </a:rPr>
                <a:t>menunjukkan</a:t>
              </a:r>
              <a:r>
                <a:rPr lang="en-US" sz="2000" dirty="0">
                  <a:solidFill>
                    <a:srgbClr val="242725"/>
                  </a:solidFill>
                  <a:latin typeface="Inter"/>
                </a:rPr>
                <a:t> </a:t>
              </a:r>
              <a:r>
                <a:rPr lang="en-US" sz="2000" dirty="0" err="1">
                  <a:solidFill>
                    <a:srgbClr val="242725"/>
                  </a:solidFill>
                  <a:latin typeface="Inter"/>
                </a:rPr>
                <a:t>bahwa</a:t>
              </a:r>
              <a:r>
                <a:rPr lang="en-US" sz="2000" dirty="0">
                  <a:solidFill>
                    <a:srgbClr val="242725"/>
                  </a:solidFill>
                  <a:latin typeface="Inter"/>
                </a:rPr>
                <a:t> </a:t>
              </a:r>
              <a:r>
                <a:rPr lang="en-US" sz="2000" dirty="0" err="1">
                  <a:solidFill>
                    <a:srgbClr val="242725"/>
                  </a:solidFill>
                  <a:latin typeface="Inter"/>
                </a:rPr>
                <a:t>implementasi</a:t>
              </a:r>
              <a:r>
                <a:rPr lang="en-US" sz="2000" dirty="0">
                  <a:solidFill>
                    <a:srgbClr val="242725"/>
                  </a:solidFill>
                  <a:latin typeface="Inter"/>
                </a:rPr>
                <a:t> VLAN pada </a:t>
              </a:r>
              <a:r>
                <a:rPr lang="en-US" sz="2000" dirty="0" err="1">
                  <a:solidFill>
                    <a:srgbClr val="242725"/>
                  </a:solidFill>
                  <a:latin typeface="Inter"/>
                </a:rPr>
                <a:t>lingkungan</a:t>
              </a:r>
              <a:r>
                <a:rPr lang="en-US" sz="2000" dirty="0">
                  <a:solidFill>
                    <a:srgbClr val="242725"/>
                  </a:solidFill>
                  <a:latin typeface="Inter"/>
                </a:rPr>
                <a:t> </a:t>
              </a:r>
              <a:r>
                <a:rPr lang="en-US" sz="2000" dirty="0" err="1">
                  <a:solidFill>
                    <a:srgbClr val="242725"/>
                  </a:solidFill>
                  <a:latin typeface="Inter"/>
                </a:rPr>
                <a:t>sekolah</a:t>
              </a:r>
              <a:r>
                <a:rPr lang="en-US" sz="2000" dirty="0">
                  <a:solidFill>
                    <a:srgbClr val="242725"/>
                  </a:solidFill>
                  <a:latin typeface="Inter"/>
                </a:rPr>
                <a:t> </a:t>
              </a:r>
              <a:r>
                <a:rPr lang="en-US" sz="2000" dirty="0" err="1">
                  <a:solidFill>
                    <a:srgbClr val="242725"/>
                  </a:solidFill>
                  <a:latin typeface="Inter"/>
                </a:rPr>
                <a:t>mampu</a:t>
              </a:r>
              <a:r>
                <a:rPr lang="en-US" sz="2000" dirty="0">
                  <a:solidFill>
                    <a:srgbClr val="242725"/>
                  </a:solidFill>
                  <a:latin typeface="Inter"/>
                </a:rPr>
                <a:t> </a:t>
              </a:r>
              <a:r>
                <a:rPr lang="en-US" sz="2000" dirty="0" err="1">
                  <a:solidFill>
                    <a:srgbClr val="242725"/>
                  </a:solidFill>
                  <a:latin typeface="Inter"/>
                </a:rPr>
                <a:t>meningkatkan</a:t>
              </a:r>
              <a:r>
                <a:rPr lang="en-US" sz="2000" dirty="0">
                  <a:solidFill>
                    <a:srgbClr val="242725"/>
                  </a:solidFill>
                  <a:latin typeface="Inter"/>
                </a:rPr>
                <a:t> </a:t>
              </a:r>
              <a:r>
                <a:rPr lang="en-US" sz="2000" dirty="0" err="1">
                  <a:solidFill>
                    <a:srgbClr val="242725"/>
                  </a:solidFill>
                  <a:latin typeface="Inter"/>
                </a:rPr>
                <a:t>kinerja</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dan </a:t>
              </a:r>
              <a:r>
                <a:rPr lang="en-US" sz="2000" dirty="0" err="1">
                  <a:solidFill>
                    <a:srgbClr val="242725"/>
                  </a:solidFill>
                  <a:latin typeface="Inter"/>
                </a:rPr>
                <a:t>keamanan</a:t>
              </a:r>
              <a:r>
                <a:rPr lang="en-US" sz="2000" dirty="0">
                  <a:solidFill>
                    <a:srgbClr val="242725"/>
                  </a:solidFill>
                  <a:latin typeface="Inter"/>
                </a:rPr>
                <a:t> </a:t>
              </a:r>
              <a:r>
                <a:rPr lang="en-US" sz="2000" dirty="0" err="1">
                  <a:solidFill>
                    <a:srgbClr val="242725"/>
                  </a:solidFill>
                  <a:latin typeface="Inter"/>
                </a:rPr>
                <a:t>dengan</a:t>
              </a:r>
              <a:r>
                <a:rPr lang="en-US" sz="2000" dirty="0">
                  <a:solidFill>
                    <a:srgbClr val="242725"/>
                  </a:solidFill>
                  <a:latin typeface="Inter"/>
                </a:rPr>
                <a:t> </a:t>
              </a:r>
              <a:r>
                <a:rPr lang="en-US" sz="2000" dirty="0" err="1">
                  <a:solidFill>
                    <a:srgbClr val="242725"/>
                  </a:solidFill>
                  <a:latin typeface="Inter"/>
                </a:rPr>
                <a:t>melakukan</a:t>
              </a:r>
              <a:r>
                <a:rPr lang="en-US" sz="2000" dirty="0">
                  <a:solidFill>
                    <a:srgbClr val="242725"/>
                  </a:solidFill>
                  <a:latin typeface="Inter"/>
                </a:rPr>
                <a:t> </a:t>
              </a:r>
              <a:r>
                <a:rPr lang="en-US" sz="2000" dirty="0" err="1">
                  <a:solidFill>
                    <a:srgbClr val="242725"/>
                  </a:solidFill>
                  <a:latin typeface="Inter"/>
                </a:rPr>
                <a:t>segmentasi</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sesuai</a:t>
              </a:r>
              <a:r>
                <a:rPr lang="en-US" sz="2000" dirty="0">
                  <a:solidFill>
                    <a:srgbClr val="242725"/>
                  </a:solidFill>
                  <a:latin typeface="Inter"/>
                </a:rPr>
                <a:t> </a:t>
              </a:r>
              <a:r>
                <a:rPr lang="en-US" sz="2000" dirty="0" err="1">
                  <a:solidFill>
                    <a:srgbClr val="242725"/>
                  </a:solidFill>
                  <a:latin typeface="Inter"/>
                </a:rPr>
                <a:t>kebutuhan</a:t>
              </a:r>
              <a:r>
                <a:rPr lang="en-US" sz="2000" dirty="0">
                  <a:solidFill>
                    <a:srgbClr val="242725"/>
                  </a:solidFill>
                  <a:latin typeface="Inter"/>
                </a:rPr>
                <a:t> </a:t>
              </a:r>
              <a:r>
                <a:rPr lang="en-US" sz="2000" dirty="0" err="1">
                  <a:solidFill>
                    <a:srgbClr val="242725"/>
                  </a:solidFill>
                  <a:latin typeface="Inter"/>
                </a:rPr>
                <a:t>pengguna</a:t>
              </a:r>
              <a:r>
                <a:rPr lang="en-US" sz="2000" dirty="0">
                  <a:solidFill>
                    <a:srgbClr val="242725"/>
                  </a:solidFill>
                  <a:latin typeface="Inter"/>
                </a:rPr>
                <a:t>. </a:t>
              </a:r>
              <a:r>
                <a:rPr lang="en-US" sz="2000" dirty="0" err="1">
                  <a:solidFill>
                    <a:srgbClr val="242725"/>
                  </a:solidFill>
                  <a:latin typeface="Inter"/>
                </a:rPr>
                <a:t>Selain</a:t>
              </a:r>
              <a:r>
                <a:rPr lang="en-US" sz="2000" dirty="0">
                  <a:solidFill>
                    <a:srgbClr val="242725"/>
                  </a:solidFill>
                  <a:latin typeface="Inter"/>
                </a:rPr>
                <a:t> </a:t>
              </a:r>
              <a:r>
                <a:rPr lang="en-US" sz="2000" dirty="0" err="1">
                  <a:solidFill>
                    <a:srgbClr val="242725"/>
                  </a:solidFill>
                  <a:latin typeface="Inter"/>
                </a:rPr>
                <a:t>itu</a:t>
              </a:r>
              <a:r>
                <a:rPr lang="en-US" sz="2000" dirty="0">
                  <a:solidFill>
                    <a:srgbClr val="242725"/>
                  </a:solidFill>
                  <a:latin typeface="Inter"/>
                </a:rPr>
                <a:t>, </a:t>
              </a:r>
              <a:r>
                <a:rPr lang="en-US" sz="2000" dirty="0" err="1">
                  <a:solidFill>
                    <a:srgbClr val="242725"/>
                  </a:solidFill>
                  <a:latin typeface="Inter"/>
                </a:rPr>
                <a:t>Ndun</a:t>
              </a:r>
              <a:r>
                <a:rPr lang="en-US" sz="2000" dirty="0">
                  <a:solidFill>
                    <a:srgbClr val="242725"/>
                  </a:solidFill>
                  <a:latin typeface="Inter"/>
                </a:rPr>
                <a:t> (2025) </a:t>
              </a:r>
              <a:r>
                <a:rPr lang="en-US" sz="2000" dirty="0" err="1">
                  <a:solidFill>
                    <a:srgbClr val="242725"/>
                  </a:solidFill>
                  <a:latin typeface="Inter"/>
                </a:rPr>
                <a:t>menyatakan</a:t>
              </a:r>
              <a:r>
                <a:rPr lang="en-US" sz="2000" dirty="0">
                  <a:solidFill>
                    <a:srgbClr val="242725"/>
                  </a:solidFill>
                  <a:latin typeface="Inter"/>
                </a:rPr>
                <a:t> </a:t>
              </a:r>
              <a:r>
                <a:rPr lang="en-US" sz="2000" dirty="0" err="1">
                  <a:solidFill>
                    <a:srgbClr val="242725"/>
                  </a:solidFill>
                  <a:latin typeface="Inter"/>
                </a:rPr>
                <a:t>bahwa</a:t>
              </a:r>
              <a:r>
                <a:rPr lang="en-US" sz="2000" dirty="0">
                  <a:solidFill>
                    <a:srgbClr val="242725"/>
                  </a:solidFill>
                  <a:latin typeface="Inter"/>
                </a:rPr>
                <a:t> </a:t>
              </a:r>
              <a:r>
                <a:rPr lang="en-US" sz="2000" dirty="0" err="1">
                  <a:solidFill>
                    <a:srgbClr val="242725"/>
                  </a:solidFill>
                  <a:latin typeface="Inter"/>
                </a:rPr>
                <a:t>penerapan</a:t>
              </a:r>
              <a:r>
                <a:rPr lang="en-US" sz="2000" dirty="0">
                  <a:solidFill>
                    <a:srgbClr val="242725"/>
                  </a:solidFill>
                  <a:latin typeface="Inter"/>
                </a:rPr>
                <a:t> VLAN di </a:t>
              </a:r>
              <a:r>
                <a:rPr lang="en-US" sz="2000" dirty="0" err="1">
                  <a:solidFill>
                    <a:srgbClr val="242725"/>
                  </a:solidFill>
                  <a:latin typeface="Inter"/>
                </a:rPr>
                <a:t>lingkungan</a:t>
              </a:r>
              <a:r>
                <a:rPr lang="en-US" sz="2000" dirty="0">
                  <a:solidFill>
                    <a:srgbClr val="242725"/>
                  </a:solidFill>
                  <a:latin typeface="Inter"/>
                </a:rPr>
                <a:t> </a:t>
              </a:r>
              <a:r>
                <a:rPr lang="en-US" sz="2000" dirty="0" err="1">
                  <a:solidFill>
                    <a:srgbClr val="242725"/>
                  </a:solidFill>
                  <a:latin typeface="Inter"/>
                </a:rPr>
                <a:t>sekolah</a:t>
              </a:r>
              <a:r>
                <a:rPr lang="en-US" sz="2000" dirty="0">
                  <a:solidFill>
                    <a:srgbClr val="242725"/>
                  </a:solidFill>
                  <a:latin typeface="Inter"/>
                </a:rPr>
                <a:t> </a:t>
              </a:r>
              <a:r>
                <a:rPr lang="en-US" sz="2000" dirty="0" err="1">
                  <a:solidFill>
                    <a:srgbClr val="242725"/>
                  </a:solidFill>
                  <a:latin typeface="Inter"/>
                </a:rPr>
                <a:t>dapat</a:t>
              </a:r>
              <a:r>
                <a:rPr lang="en-US" sz="2000" dirty="0">
                  <a:solidFill>
                    <a:srgbClr val="242725"/>
                  </a:solidFill>
                  <a:latin typeface="Inter"/>
                </a:rPr>
                <a:t> </a:t>
              </a:r>
              <a:r>
                <a:rPr lang="en-US" sz="2000" dirty="0" err="1">
                  <a:solidFill>
                    <a:srgbClr val="242725"/>
                  </a:solidFill>
                  <a:latin typeface="Inter"/>
                </a:rPr>
                <a:t>meningkatkan</a:t>
              </a:r>
              <a:r>
                <a:rPr lang="en-US" sz="2000" dirty="0">
                  <a:solidFill>
                    <a:srgbClr val="242725"/>
                  </a:solidFill>
                  <a:latin typeface="Inter"/>
                </a:rPr>
                <a:t> </a:t>
              </a:r>
              <a:r>
                <a:rPr lang="en-US" sz="2000" dirty="0" err="1">
                  <a:solidFill>
                    <a:srgbClr val="242725"/>
                  </a:solidFill>
                  <a:latin typeface="Inter"/>
                </a:rPr>
                <a:t>efisiensi</a:t>
              </a:r>
              <a:r>
                <a:rPr lang="en-US" sz="2000" dirty="0">
                  <a:solidFill>
                    <a:srgbClr val="242725"/>
                  </a:solidFill>
                  <a:latin typeface="Inter"/>
                </a:rPr>
                <a:t> dan </a:t>
              </a:r>
              <a:r>
                <a:rPr lang="en-US" sz="2000" dirty="0" err="1">
                  <a:solidFill>
                    <a:srgbClr val="242725"/>
                  </a:solidFill>
                  <a:latin typeface="Inter"/>
                </a:rPr>
                <a:t>keamanan</a:t>
              </a:r>
              <a:r>
                <a:rPr lang="en-US" sz="2000" dirty="0">
                  <a:solidFill>
                    <a:srgbClr val="242725"/>
                  </a:solidFill>
                  <a:latin typeface="Inter"/>
                </a:rPr>
                <a:t>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khususnya</a:t>
              </a:r>
              <a:r>
                <a:rPr lang="en-US" sz="2000" dirty="0">
                  <a:solidFill>
                    <a:srgbClr val="242725"/>
                  </a:solidFill>
                  <a:latin typeface="Inter"/>
                </a:rPr>
                <a:t> pada </a:t>
              </a:r>
              <a:r>
                <a:rPr lang="en-US" sz="2000" dirty="0" err="1">
                  <a:solidFill>
                    <a:srgbClr val="242725"/>
                  </a:solidFill>
                  <a:latin typeface="Inter"/>
                </a:rPr>
                <a:t>jaringan</a:t>
              </a:r>
              <a:r>
                <a:rPr lang="en-US" sz="2000" dirty="0">
                  <a:solidFill>
                    <a:srgbClr val="242725"/>
                  </a:solidFill>
                  <a:latin typeface="Inter"/>
                </a:rPr>
                <a:t> </a:t>
              </a:r>
              <a:r>
                <a:rPr lang="en-US" sz="2000" dirty="0" err="1">
                  <a:solidFill>
                    <a:srgbClr val="242725"/>
                  </a:solidFill>
                  <a:latin typeface="Inter"/>
                </a:rPr>
                <a:t>dengan</a:t>
              </a:r>
              <a:r>
                <a:rPr lang="en-US" sz="2000" dirty="0">
                  <a:solidFill>
                    <a:srgbClr val="242725"/>
                  </a:solidFill>
                  <a:latin typeface="Inter"/>
                </a:rPr>
                <a:t> </a:t>
              </a:r>
              <a:r>
                <a:rPr lang="en-US" sz="2000" dirty="0" err="1">
                  <a:solidFill>
                    <a:srgbClr val="242725"/>
                  </a:solidFill>
                  <a:latin typeface="Inter"/>
                </a:rPr>
                <a:t>jumlah</a:t>
              </a:r>
              <a:r>
                <a:rPr lang="en-US" sz="2000" dirty="0">
                  <a:solidFill>
                    <a:srgbClr val="242725"/>
                  </a:solidFill>
                  <a:latin typeface="Inter"/>
                </a:rPr>
                <a:t> </a:t>
              </a:r>
              <a:r>
                <a:rPr lang="en-US" sz="2000" dirty="0" err="1">
                  <a:solidFill>
                    <a:srgbClr val="242725"/>
                  </a:solidFill>
                  <a:latin typeface="Inter"/>
                </a:rPr>
                <a:t>pengguna</a:t>
              </a:r>
              <a:r>
                <a:rPr lang="en-US" sz="2000" dirty="0">
                  <a:solidFill>
                    <a:srgbClr val="242725"/>
                  </a:solidFill>
                  <a:latin typeface="Inter"/>
                </a:rPr>
                <a:t> yang </a:t>
              </a:r>
              <a:r>
                <a:rPr lang="en-US" sz="2000" dirty="0" err="1">
                  <a:solidFill>
                    <a:srgbClr val="242725"/>
                  </a:solidFill>
                  <a:latin typeface="Inter"/>
                </a:rPr>
                <a:t>tinggi</a:t>
              </a:r>
              <a:r>
                <a:rPr lang="en-US" sz="2000" dirty="0">
                  <a:solidFill>
                    <a:srgbClr val="242725"/>
                  </a:solidFill>
                  <a:latin typeface="Inter"/>
                </a:rPr>
                <a:t>.</a:t>
              </a:r>
            </a:p>
          </p:txBody>
        </p:sp>
      </p:grpSp>
      <p:grpSp>
        <p:nvGrpSpPr>
          <p:cNvPr id="10" name="Group 10"/>
          <p:cNvGrpSpPr/>
          <p:nvPr/>
        </p:nvGrpSpPr>
        <p:grpSpPr>
          <a:xfrm>
            <a:off x="15181507" y="3398790"/>
            <a:ext cx="2912577" cy="2839113"/>
            <a:chOff x="0" y="0"/>
            <a:chExt cx="4589780" cy="4578350"/>
          </a:xfrm>
        </p:grpSpPr>
        <p:sp>
          <p:nvSpPr>
            <p:cNvPr id="11" name="Freeform 11"/>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2" name="Freeform 12"/>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3" name="Group 13"/>
          <p:cNvGrpSpPr/>
          <p:nvPr/>
        </p:nvGrpSpPr>
        <p:grpSpPr>
          <a:xfrm>
            <a:off x="11838228" y="3790583"/>
            <a:ext cx="5262429" cy="5262429"/>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2632815" y="4818347"/>
            <a:ext cx="4626485" cy="4651859"/>
          </a:xfrm>
          <a:prstGeom prst="rect">
            <a:avLst/>
          </a:prstGeom>
        </p:spPr>
      </p:pic>
      <p:sp>
        <p:nvSpPr>
          <p:cNvPr id="16" name="AutoShape 16"/>
          <p:cNvSpPr/>
          <p:nvPr/>
        </p:nvSpPr>
        <p:spPr>
          <a:xfrm>
            <a:off x="-443075" y="9720640"/>
            <a:ext cx="18865925" cy="566360"/>
          </a:xfrm>
          <a:prstGeom prst="rect">
            <a:avLst/>
          </a:prstGeom>
          <a:solidFill>
            <a:srgbClr val="2ED47B"/>
          </a:solidFill>
        </p:spPr>
      </p:sp>
      <p:sp>
        <p:nvSpPr>
          <p:cNvPr id="18" name="TextBox 6">
            <a:extLst>
              <a:ext uri="{FF2B5EF4-FFF2-40B4-BE49-F238E27FC236}">
                <a16:creationId xmlns:a16="http://schemas.microsoft.com/office/drawing/2014/main" id="{90557877-E9F3-4ACA-9680-A2D8FCBA38DE}"/>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04</a:t>
            </a:r>
          </a:p>
        </p:txBody>
      </p:sp>
    </p:spTree>
    <p:extLst>
      <p:ext uri="{BB962C8B-B14F-4D97-AF65-F5344CB8AC3E}">
        <p14:creationId xmlns:p14="http://schemas.microsoft.com/office/powerpoint/2010/main" val="2437708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8700"/>
            <a:ext cx="8953500" cy="1228340"/>
          </a:xfrm>
          <a:prstGeom prst="rect">
            <a:avLst/>
          </a:prstGeom>
        </p:spPr>
        <p:txBody>
          <a:bodyPr wrap="square" lIns="0" tIns="0" rIns="0" bIns="0" rtlCol="0" anchor="t">
            <a:spAutoFit/>
          </a:bodyPr>
          <a:lstStyle/>
          <a:p>
            <a:pPr>
              <a:lnSpc>
                <a:spcPts val="9600"/>
              </a:lnSpc>
            </a:pPr>
            <a:r>
              <a:rPr lang="en-US" sz="8000" dirty="0" err="1">
                <a:solidFill>
                  <a:srgbClr val="242725"/>
                </a:solidFill>
                <a:latin typeface="Inter Bold"/>
              </a:rPr>
              <a:t>Latar</a:t>
            </a:r>
            <a:r>
              <a:rPr lang="en-US" sz="8000" dirty="0">
                <a:solidFill>
                  <a:srgbClr val="242725"/>
                </a:solidFill>
                <a:latin typeface="Inter Bold"/>
              </a:rPr>
              <a:t> </a:t>
            </a:r>
            <a:r>
              <a:rPr lang="en-US" sz="8000" dirty="0" err="1">
                <a:solidFill>
                  <a:srgbClr val="242725"/>
                </a:solidFill>
                <a:latin typeface="Inter Bold"/>
              </a:rPr>
              <a:t>Belakang</a:t>
            </a:r>
            <a:endParaRPr lang="en-US" sz="8000" dirty="0">
              <a:solidFill>
                <a:srgbClr val="242725"/>
              </a:solidFill>
              <a:latin typeface="Inter Bold"/>
            </a:endParaRPr>
          </a:p>
        </p:txBody>
      </p:sp>
      <p:sp>
        <p:nvSpPr>
          <p:cNvPr id="5" name="TextBox 5"/>
          <p:cNvSpPr txBox="1"/>
          <p:nvPr/>
        </p:nvSpPr>
        <p:spPr>
          <a:xfrm>
            <a:off x="1028700" y="2552700"/>
            <a:ext cx="10325100" cy="6463308"/>
          </a:xfrm>
          <a:prstGeom prst="rect">
            <a:avLst/>
          </a:prstGeom>
        </p:spPr>
        <p:txBody>
          <a:bodyPr lIns="0" tIns="0" rIns="0" bIns="0" rtlCol="0" anchor="t">
            <a:spAutoFit/>
          </a:bodyPr>
          <a:lstStyle/>
          <a:p>
            <a:pPr algn="just">
              <a:spcBef>
                <a:spcPct val="0"/>
              </a:spcBef>
            </a:pPr>
            <a:r>
              <a:rPr lang="en-US" sz="2800" dirty="0">
                <a:solidFill>
                  <a:srgbClr val="242725"/>
                </a:solidFill>
                <a:latin typeface="Inter"/>
              </a:rPr>
              <a:t>Berdasarkan </a:t>
            </a:r>
            <a:r>
              <a:rPr lang="en-US" sz="2800" dirty="0" err="1">
                <a:solidFill>
                  <a:srgbClr val="242725"/>
                </a:solidFill>
                <a:latin typeface="Inter"/>
              </a:rPr>
              <a:t>kajian</a:t>
            </a:r>
            <a:r>
              <a:rPr lang="en-US" sz="2800" dirty="0">
                <a:solidFill>
                  <a:srgbClr val="242725"/>
                </a:solidFill>
                <a:latin typeface="Inter"/>
              </a:rPr>
              <a:t> </a:t>
            </a:r>
            <a:r>
              <a:rPr lang="en-US" sz="2800" dirty="0" err="1">
                <a:solidFill>
                  <a:srgbClr val="242725"/>
                </a:solidFill>
                <a:latin typeface="Inter"/>
              </a:rPr>
              <a:t>literatur</a:t>
            </a:r>
            <a:r>
              <a:rPr lang="en-US" sz="2800" dirty="0">
                <a:solidFill>
                  <a:srgbClr val="242725"/>
                </a:solidFill>
                <a:latin typeface="Inter"/>
              </a:rPr>
              <a:t> </a:t>
            </a:r>
            <a:r>
              <a:rPr lang="en-US" sz="2800" dirty="0" err="1">
                <a:solidFill>
                  <a:srgbClr val="242725"/>
                </a:solidFill>
                <a:latin typeface="Inter"/>
              </a:rPr>
              <a:t>tersebut</a:t>
            </a:r>
            <a:r>
              <a:rPr lang="en-US" sz="2800" dirty="0">
                <a:solidFill>
                  <a:srgbClr val="242725"/>
                </a:solidFill>
                <a:latin typeface="Inter"/>
              </a:rPr>
              <a:t>, pada </a:t>
            </a:r>
            <a:r>
              <a:rPr lang="en-US" sz="2800" dirty="0" err="1">
                <a:solidFill>
                  <a:srgbClr val="242725"/>
                </a:solidFill>
                <a:latin typeface="Inter"/>
              </a:rPr>
              <a:t>penelitian</a:t>
            </a:r>
            <a:r>
              <a:rPr lang="en-US" sz="2800" dirty="0">
                <a:solidFill>
                  <a:srgbClr val="242725"/>
                </a:solidFill>
                <a:latin typeface="Inter"/>
              </a:rPr>
              <a:t> </a:t>
            </a:r>
            <a:r>
              <a:rPr lang="en-US" sz="2800" dirty="0" err="1">
                <a:solidFill>
                  <a:srgbClr val="242725"/>
                </a:solidFill>
                <a:latin typeface="Inter"/>
              </a:rPr>
              <a:t>ini</a:t>
            </a:r>
            <a:r>
              <a:rPr lang="en-US" sz="2800" dirty="0">
                <a:solidFill>
                  <a:srgbClr val="242725"/>
                </a:solidFill>
                <a:latin typeface="Inter"/>
              </a:rPr>
              <a:t> </a:t>
            </a:r>
            <a:r>
              <a:rPr lang="en-US" sz="2800" dirty="0" err="1">
                <a:solidFill>
                  <a:srgbClr val="242725"/>
                </a:solidFill>
                <a:latin typeface="Inter"/>
              </a:rPr>
              <a:t>mengusulkan</a:t>
            </a:r>
            <a:r>
              <a:rPr lang="en-US" sz="2800" dirty="0">
                <a:solidFill>
                  <a:srgbClr val="242725"/>
                </a:solidFill>
                <a:latin typeface="Inter"/>
              </a:rPr>
              <a:t> salah </a:t>
            </a:r>
            <a:r>
              <a:rPr lang="en-US" sz="2800" dirty="0" err="1">
                <a:solidFill>
                  <a:srgbClr val="242725"/>
                </a:solidFill>
                <a:latin typeface="Inter"/>
              </a:rPr>
              <a:t>satu</a:t>
            </a:r>
            <a:r>
              <a:rPr lang="en-US" sz="2800" dirty="0">
                <a:solidFill>
                  <a:srgbClr val="242725"/>
                </a:solidFill>
                <a:latin typeface="Inter"/>
              </a:rPr>
              <a:t> </a:t>
            </a:r>
            <a:r>
              <a:rPr lang="en-US" sz="2800" dirty="0" err="1">
                <a:solidFill>
                  <a:srgbClr val="242725"/>
                </a:solidFill>
                <a:latin typeface="Inter"/>
              </a:rPr>
              <a:t>solusi</a:t>
            </a:r>
            <a:r>
              <a:rPr lang="en-US" sz="2800" dirty="0">
                <a:solidFill>
                  <a:srgbClr val="242725"/>
                </a:solidFill>
                <a:latin typeface="Inter"/>
              </a:rPr>
              <a:t> </a:t>
            </a:r>
            <a:r>
              <a:rPr lang="en-US" sz="2800" dirty="0" err="1">
                <a:solidFill>
                  <a:srgbClr val="242725"/>
                </a:solidFill>
                <a:latin typeface="Inter"/>
              </a:rPr>
              <a:t>yaitu</a:t>
            </a:r>
            <a:r>
              <a:rPr lang="en-US" sz="2800" dirty="0">
                <a:solidFill>
                  <a:srgbClr val="242725"/>
                </a:solidFill>
                <a:latin typeface="Inter"/>
              </a:rPr>
              <a:t> </a:t>
            </a:r>
            <a:r>
              <a:rPr lang="en-US" sz="2800" dirty="0" err="1">
                <a:solidFill>
                  <a:srgbClr val="242725"/>
                </a:solidFill>
                <a:latin typeface="Inter"/>
              </a:rPr>
              <a:t>dengan</a:t>
            </a:r>
            <a:r>
              <a:rPr lang="en-US" sz="2800" dirty="0">
                <a:solidFill>
                  <a:srgbClr val="242725"/>
                </a:solidFill>
                <a:latin typeface="Inter"/>
              </a:rPr>
              <a:t> </a:t>
            </a:r>
            <a:r>
              <a:rPr lang="en-US" sz="2800" dirty="0" err="1">
                <a:solidFill>
                  <a:srgbClr val="242725"/>
                </a:solidFill>
                <a:latin typeface="Inter"/>
              </a:rPr>
              <a:t>cara</a:t>
            </a:r>
            <a:r>
              <a:rPr lang="en-US" sz="2800" dirty="0">
                <a:solidFill>
                  <a:srgbClr val="242725"/>
                </a:solidFill>
                <a:latin typeface="Inter"/>
              </a:rPr>
              <a:t> </a:t>
            </a:r>
            <a:r>
              <a:rPr lang="en-US" sz="2800" dirty="0" err="1">
                <a:solidFill>
                  <a:srgbClr val="242725"/>
                </a:solidFill>
                <a:latin typeface="Inter" panose="020B0604020202020204" charset="0"/>
                <a:ea typeface="Inter" panose="020B0604020202020204" charset="0"/>
              </a:rPr>
              <a:t>menerapkan</a:t>
            </a:r>
            <a:r>
              <a:rPr lang="en-US" sz="2800" dirty="0">
                <a:solidFill>
                  <a:srgbClr val="242725"/>
                </a:solidFill>
                <a:latin typeface="Inter"/>
              </a:rPr>
              <a:t> VLAN </a:t>
            </a:r>
            <a:r>
              <a:rPr lang="en-US" sz="2800" dirty="0" err="1">
                <a:solidFill>
                  <a:srgbClr val="242725"/>
                </a:solidFill>
                <a:latin typeface="Inter"/>
              </a:rPr>
              <a:t>menggunakan</a:t>
            </a:r>
            <a:r>
              <a:rPr lang="en-US" sz="2800" dirty="0">
                <a:solidFill>
                  <a:srgbClr val="242725"/>
                </a:solidFill>
                <a:latin typeface="Inter"/>
              </a:rPr>
              <a:t> </a:t>
            </a:r>
            <a:r>
              <a:rPr lang="en-US" sz="2800" dirty="0" err="1">
                <a:solidFill>
                  <a:srgbClr val="242725"/>
                </a:solidFill>
                <a:latin typeface="Inter"/>
              </a:rPr>
              <a:t>perangkat</a:t>
            </a:r>
            <a:r>
              <a:rPr lang="en-US" sz="2800" dirty="0">
                <a:solidFill>
                  <a:srgbClr val="242725"/>
                </a:solidFill>
                <a:latin typeface="Inter"/>
              </a:rPr>
              <a:t> </a:t>
            </a:r>
            <a:r>
              <a:rPr lang="en-US" sz="2800" dirty="0" err="1">
                <a:solidFill>
                  <a:srgbClr val="242725"/>
                </a:solidFill>
                <a:latin typeface="Inter"/>
              </a:rPr>
              <a:t>MikroTik</a:t>
            </a:r>
            <a:r>
              <a:rPr lang="en-US" sz="2800" dirty="0">
                <a:solidFill>
                  <a:srgbClr val="242725"/>
                </a:solidFill>
                <a:latin typeface="Inter"/>
              </a:rPr>
              <a:t>. </a:t>
            </a:r>
            <a:r>
              <a:rPr lang="en-US" sz="2800" dirty="0" err="1">
                <a:solidFill>
                  <a:srgbClr val="242725"/>
                </a:solidFill>
                <a:latin typeface="Inter"/>
              </a:rPr>
              <a:t>Pengaturan</a:t>
            </a:r>
            <a:r>
              <a:rPr lang="en-US" sz="2800" dirty="0">
                <a:solidFill>
                  <a:srgbClr val="242725"/>
                </a:solidFill>
                <a:latin typeface="Inter"/>
              </a:rPr>
              <a:t> </a:t>
            </a:r>
            <a:r>
              <a:rPr lang="en-US" sz="2800" dirty="0" err="1">
                <a:solidFill>
                  <a:srgbClr val="242725"/>
                </a:solidFill>
                <a:latin typeface="Inter"/>
              </a:rPr>
              <a:t>ini</a:t>
            </a:r>
            <a:r>
              <a:rPr lang="en-US" sz="2800" dirty="0">
                <a:solidFill>
                  <a:srgbClr val="242725"/>
                </a:solidFill>
                <a:latin typeface="Inter"/>
              </a:rPr>
              <a:t> </a:t>
            </a:r>
            <a:r>
              <a:rPr lang="en-US" sz="2800" dirty="0" err="1">
                <a:solidFill>
                  <a:srgbClr val="242725"/>
                </a:solidFill>
                <a:latin typeface="Inter"/>
              </a:rPr>
              <a:t>memungkinkan</a:t>
            </a:r>
            <a:r>
              <a:rPr lang="en-US" sz="2800" dirty="0">
                <a:solidFill>
                  <a:srgbClr val="242725"/>
                </a:solidFill>
                <a:latin typeface="Inter"/>
              </a:rPr>
              <a:t> </a:t>
            </a:r>
            <a:r>
              <a:rPr lang="en-US" sz="2800" dirty="0" err="1">
                <a:solidFill>
                  <a:srgbClr val="242725"/>
                </a:solidFill>
                <a:latin typeface="Inter"/>
              </a:rPr>
              <a:t>setiap</a:t>
            </a:r>
            <a:r>
              <a:rPr lang="en-US" sz="2800" dirty="0">
                <a:solidFill>
                  <a:srgbClr val="242725"/>
                </a:solidFill>
                <a:latin typeface="Inter"/>
              </a:rPr>
              <a:t> </a:t>
            </a:r>
            <a:r>
              <a:rPr lang="en-US" sz="2800" dirty="0" err="1">
                <a:solidFill>
                  <a:srgbClr val="242725"/>
                </a:solidFill>
                <a:latin typeface="Inter"/>
              </a:rPr>
              <a:t>segmen</a:t>
            </a:r>
            <a:r>
              <a:rPr lang="en-US" sz="2800" dirty="0">
                <a:solidFill>
                  <a:srgbClr val="242725"/>
                </a:solidFill>
                <a:latin typeface="Inter"/>
              </a:rPr>
              <a:t> VLAN </a:t>
            </a:r>
            <a:r>
              <a:rPr lang="en-US" sz="2800" dirty="0" err="1">
                <a:solidFill>
                  <a:srgbClr val="242725"/>
                </a:solidFill>
                <a:latin typeface="Inter"/>
              </a:rPr>
              <a:t>memiliki</a:t>
            </a:r>
            <a:r>
              <a:rPr lang="en-US" sz="2800" dirty="0">
                <a:solidFill>
                  <a:srgbClr val="242725"/>
                </a:solidFill>
                <a:latin typeface="Inter"/>
              </a:rPr>
              <a:t> </a:t>
            </a:r>
            <a:r>
              <a:rPr lang="en-US" sz="2800" dirty="0" err="1">
                <a:solidFill>
                  <a:srgbClr val="242725"/>
                </a:solidFill>
                <a:latin typeface="Inter"/>
              </a:rPr>
              <a:t>batasan</a:t>
            </a:r>
            <a:r>
              <a:rPr lang="en-US" sz="2800" dirty="0">
                <a:solidFill>
                  <a:srgbClr val="242725"/>
                </a:solidFill>
                <a:latin typeface="Inter"/>
              </a:rPr>
              <a:t> bandwidth yang </a:t>
            </a:r>
            <a:r>
              <a:rPr lang="en-US" sz="2800" dirty="0" err="1">
                <a:solidFill>
                  <a:srgbClr val="242725"/>
                </a:solidFill>
                <a:latin typeface="Inter"/>
              </a:rPr>
              <a:t>berbeda</a:t>
            </a:r>
            <a:r>
              <a:rPr lang="en-US" sz="2800" dirty="0">
                <a:solidFill>
                  <a:srgbClr val="242725"/>
                </a:solidFill>
                <a:latin typeface="Inter"/>
              </a:rPr>
              <a:t> </a:t>
            </a:r>
            <a:r>
              <a:rPr lang="en-US" sz="2800" dirty="0" err="1">
                <a:solidFill>
                  <a:srgbClr val="242725"/>
                </a:solidFill>
                <a:latin typeface="Inter"/>
              </a:rPr>
              <a:t>sesuai</a:t>
            </a:r>
            <a:r>
              <a:rPr lang="en-US" sz="2800" dirty="0">
                <a:solidFill>
                  <a:srgbClr val="242725"/>
                </a:solidFill>
                <a:latin typeface="Inter"/>
              </a:rPr>
              <a:t> </a:t>
            </a:r>
            <a:r>
              <a:rPr lang="en-US" sz="2800" dirty="0" err="1">
                <a:solidFill>
                  <a:srgbClr val="242725"/>
                </a:solidFill>
                <a:latin typeface="Inter"/>
              </a:rPr>
              <a:t>kebutuhan</a:t>
            </a:r>
            <a:r>
              <a:rPr lang="en-US" sz="2800" dirty="0">
                <a:solidFill>
                  <a:srgbClr val="242725"/>
                </a:solidFill>
                <a:latin typeface="Inter"/>
              </a:rPr>
              <a:t>, </a:t>
            </a:r>
            <a:r>
              <a:rPr lang="en-US" sz="2800" dirty="0" err="1">
                <a:solidFill>
                  <a:srgbClr val="242725"/>
                </a:solidFill>
                <a:latin typeface="Inter"/>
              </a:rPr>
              <a:t>sehingga</a:t>
            </a:r>
            <a:r>
              <a:rPr lang="en-US" sz="2800" dirty="0">
                <a:solidFill>
                  <a:srgbClr val="242725"/>
                </a:solidFill>
                <a:latin typeface="Inter"/>
              </a:rPr>
              <a:t> </a:t>
            </a:r>
            <a:r>
              <a:rPr lang="en-US" sz="2800" dirty="0" err="1">
                <a:solidFill>
                  <a:srgbClr val="242725"/>
                </a:solidFill>
                <a:latin typeface="Inter"/>
              </a:rPr>
              <a:t>segmen</a:t>
            </a:r>
            <a:r>
              <a:rPr lang="en-US" sz="2800" dirty="0">
                <a:solidFill>
                  <a:srgbClr val="242725"/>
                </a:solidFill>
                <a:latin typeface="Inter"/>
              </a:rPr>
              <a:t> </a:t>
            </a:r>
            <a:r>
              <a:rPr lang="en-US" sz="2800" dirty="0" err="1">
                <a:solidFill>
                  <a:srgbClr val="242725"/>
                </a:solidFill>
                <a:latin typeface="Inter"/>
              </a:rPr>
              <a:t>prioritas</a:t>
            </a:r>
            <a:r>
              <a:rPr lang="en-US" sz="2800" dirty="0">
                <a:solidFill>
                  <a:srgbClr val="242725"/>
                </a:solidFill>
                <a:latin typeface="Inter"/>
              </a:rPr>
              <a:t> </a:t>
            </a:r>
            <a:r>
              <a:rPr lang="en-US" sz="2800" dirty="0" err="1">
                <a:solidFill>
                  <a:srgbClr val="242725"/>
                </a:solidFill>
                <a:latin typeface="Inter"/>
              </a:rPr>
              <a:t>seperti</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ANBK </a:t>
            </a:r>
            <a:r>
              <a:rPr lang="en-US" sz="2800" dirty="0" err="1">
                <a:solidFill>
                  <a:srgbClr val="242725"/>
                </a:solidFill>
                <a:latin typeface="Inter"/>
              </a:rPr>
              <a:t>dapat</a:t>
            </a:r>
            <a:r>
              <a:rPr lang="en-US" sz="2800" dirty="0">
                <a:solidFill>
                  <a:srgbClr val="242725"/>
                </a:solidFill>
                <a:latin typeface="Inter"/>
              </a:rPr>
              <a:t> </a:t>
            </a:r>
            <a:r>
              <a:rPr lang="en-US" sz="2800" dirty="0" err="1">
                <a:solidFill>
                  <a:srgbClr val="242725"/>
                </a:solidFill>
                <a:latin typeface="Inter"/>
              </a:rPr>
              <a:t>memperoleh</a:t>
            </a:r>
            <a:r>
              <a:rPr lang="en-US" sz="2800" dirty="0">
                <a:solidFill>
                  <a:srgbClr val="242725"/>
                </a:solidFill>
                <a:latin typeface="Inter"/>
              </a:rPr>
              <a:t> </a:t>
            </a:r>
            <a:r>
              <a:rPr lang="en-US" sz="2800" dirty="0" err="1">
                <a:solidFill>
                  <a:srgbClr val="242725"/>
                </a:solidFill>
                <a:latin typeface="Inter"/>
              </a:rPr>
              <a:t>kualitas</a:t>
            </a:r>
            <a:r>
              <a:rPr lang="en-US" sz="2800" dirty="0">
                <a:solidFill>
                  <a:srgbClr val="242725"/>
                </a:solidFill>
                <a:latin typeface="Inter"/>
              </a:rPr>
              <a:t> </a:t>
            </a:r>
            <a:r>
              <a:rPr lang="en-US" sz="2800" dirty="0" err="1">
                <a:solidFill>
                  <a:srgbClr val="242725"/>
                </a:solidFill>
                <a:latin typeface="Inter"/>
              </a:rPr>
              <a:t>layanan</a:t>
            </a:r>
            <a:r>
              <a:rPr lang="en-US" sz="2800" dirty="0">
                <a:solidFill>
                  <a:srgbClr val="242725"/>
                </a:solidFill>
                <a:latin typeface="Inter"/>
              </a:rPr>
              <a:t> yang </a:t>
            </a:r>
            <a:r>
              <a:rPr lang="en-US" sz="2800" dirty="0" err="1">
                <a:solidFill>
                  <a:srgbClr val="242725"/>
                </a:solidFill>
                <a:latin typeface="Inter"/>
              </a:rPr>
              <a:t>lebih</a:t>
            </a:r>
            <a:r>
              <a:rPr lang="en-US" sz="2800" dirty="0">
                <a:solidFill>
                  <a:srgbClr val="242725"/>
                </a:solidFill>
                <a:latin typeface="Inter"/>
              </a:rPr>
              <a:t> </a:t>
            </a:r>
            <a:r>
              <a:rPr lang="en-US" sz="2800" dirty="0" err="1">
                <a:solidFill>
                  <a:srgbClr val="242725"/>
                </a:solidFill>
                <a:latin typeface="Inter"/>
              </a:rPr>
              <a:t>baik</a:t>
            </a:r>
            <a:r>
              <a:rPr lang="en-US" sz="2800" dirty="0">
                <a:solidFill>
                  <a:srgbClr val="242725"/>
                </a:solidFill>
                <a:latin typeface="Inter"/>
              </a:rPr>
              <a:t>. </a:t>
            </a:r>
            <a:r>
              <a:rPr lang="en-US" sz="2800" dirty="0" err="1">
                <a:solidFill>
                  <a:srgbClr val="242725"/>
                </a:solidFill>
                <a:latin typeface="Inter"/>
              </a:rPr>
              <a:t>Pembatasan</a:t>
            </a:r>
            <a:r>
              <a:rPr lang="en-US" sz="2800" dirty="0">
                <a:solidFill>
                  <a:srgbClr val="242725"/>
                </a:solidFill>
                <a:latin typeface="Inter"/>
              </a:rPr>
              <a:t> bandwidth </a:t>
            </a:r>
            <a:r>
              <a:rPr lang="en-US" sz="2800" dirty="0" err="1">
                <a:solidFill>
                  <a:srgbClr val="242725"/>
                </a:solidFill>
                <a:latin typeface="Inter"/>
              </a:rPr>
              <a:t>dilakukan</a:t>
            </a:r>
            <a:r>
              <a:rPr lang="en-US" sz="2800" dirty="0">
                <a:solidFill>
                  <a:srgbClr val="242725"/>
                </a:solidFill>
                <a:latin typeface="Inter"/>
              </a:rPr>
              <a:t> </a:t>
            </a:r>
            <a:r>
              <a:rPr lang="en-US" sz="2800" dirty="0" err="1">
                <a:solidFill>
                  <a:srgbClr val="242725"/>
                </a:solidFill>
                <a:latin typeface="Inter"/>
              </a:rPr>
              <a:t>melalui</a:t>
            </a:r>
            <a:r>
              <a:rPr lang="en-US" sz="2800" dirty="0">
                <a:solidFill>
                  <a:srgbClr val="242725"/>
                </a:solidFill>
                <a:latin typeface="Inter"/>
              </a:rPr>
              <a:t> </a:t>
            </a:r>
            <a:r>
              <a:rPr lang="en-US" sz="2800" dirty="0" err="1">
                <a:solidFill>
                  <a:srgbClr val="242725"/>
                </a:solidFill>
                <a:latin typeface="Inter"/>
              </a:rPr>
              <a:t>fitur</a:t>
            </a:r>
            <a:r>
              <a:rPr lang="en-US" sz="2800" dirty="0">
                <a:solidFill>
                  <a:srgbClr val="242725"/>
                </a:solidFill>
                <a:latin typeface="Inter"/>
              </a:rPr>
              <a:t> </a:t>
            </a:r>
            <a:r>
              <a:rPr lang="en-US" sz="2800" dirty="0" err="1">
                <a:solidFill>
                  <a:srgbClr val="242725"/>
                </a:solidFill>
                <a:latin typeface="Inter"/>
              </a:rPr>
              <a:t>manajemen</a:t>
            </a:r>
            <a:r>
              <a:rPr lang="en-US" sz="2800" dirty="0">
                <a:solidFill>
                  <a:srgbClr val="242725"/>
                </a:solidFill>
                <a:latin typeface="Inter"/>
              </a:rPr>
              <a:t> bandwidth pada </a:t>
            </a:r>
            <a:r>
              <a:rPr lang="en-US" sz="2800" dirty="0" err="1">
                <a:solidFill>
                  <a:srgbClr val="242725"/>
                </a:solidFill>
                <a:latin typeface="Inter"/>
              </a:rPr>
              <a:t>MikroTik</a:t>
            </a:r>
            <a:r>
              <a:rPr lang="en-US" sz="2800" dirty="0">
                <a:solidFill>
                  <a:srgbClr val="242725"/>
                </a:solidFill>
                <a:latin typeface="Inter"/>
              </a:rPr>
              <a:t>, </a:t>
            </a:r>
            <a:r>
              <a:rPr lang="en-US" sz="2800" dirty="0" err="1">
                <a:solidFill>
                  <a:srgbClr val="242725"/>
                </a:solidFill>
                <a:latin typeface="Inter"/>
              </a:rPr>
              <a:t>kemudian</a:t>
            </a:r>
            <a:r>
              <a:rPr lang="en-US" sz="2800" dirty="0">
                <a:solidFill>
                  <a:srgbClr val="242725"/>
                </a:solidFill>
                <a:latin typeface="Inter"/>
              </a:rPr>
              <a:t> </a:t>
            </a:r>
            <a:r>
              <a:rPr lang="en-US" sz="2800" dirty="0" err="1">
                <a:solidFill>
                  <a:srgbClr val="242725"/>
                </a:solidFill>
                <a:latin typeface="Inter"/>
              </a:rPr>
              <a:t>kinerjanya</a:t>
            </a:r>
            <a:r>
              <a:rPr lang="en-US" sz="2800" dirty="0">
                <a:solidFill>
                  <a:srgbClr val="242725"/>
                </a:solidFill>
                <a:latin typeface="Inter"/>
              </a:rPr>
              <a:t> </a:t>
            </a:r>
            <a:r>
              <a:rPr lang="en-US" sz="2800" dirty="0" err="1">
                <a:solidFill>
                  <a:srgbClr val="242725"/>
                </a:solidFill>
                <a:latin typeface="Inter"/>
              </a:rPr>
              <a:t>dianalisis</a:t>
            </a:r>
            <a:r>
              <a:rPr lang="en-US" sz="2800" dirty="0">
                <a:solidFill>
                  <a:srgbClr val="242725"/>
                </a:solidFill>
                <a:latin typeface="Inter"/>
              </a:rPr>
              <a:t> </a:t>
            </a:r>
            <a:r>
              <a:rPr lang="en-US" sz="2800" dirty="0" err="1">
                <a:solidFill>
                  <a:srgbClr val="242725"/>
                </a:solidFill>
                <a:latin typeface="Inter"/>
              </a:rPr>
              <a:t>menggunakan</a:t>
            </a:r>
            <a:r>
              <a:rPr lang="en-US" sz="2800" dirty="0">
                <a:solidFill>
                  <a:srgbClr val="242725"/>
                </a:solidFill>
                <a:latin typeface="Inter"/>
              </a:rPr>
              <a:t> parameter QoS yang </a:t>
            </a:r>
            <a:r>
              <a:rPr lang="en-US" sz="2800" dirty="0" err="1">
                <a:solidFill>
                  <a:srgbClr val="242725"/>
                </a:solidFill>
                <a:latin typeface="Inter"/>
              </a:rPr>
              <a:t>meliputi</a:t>
            </a:r>
            <a:r>
              <a:rPr lang="en-US" sz="2800" dirty="0">
                <a:solidFill>
                  <a:srgbClr val="242725"/>
                </a:solidFill>
                <a:latin typeface="Inter"/>
              </a:rPr>
              <a:t> throughput, packet loss, delay, dan jitter. </a:t>
            </a:r>
            <a:r>
              <a:rPr lang="en-US" sz="2800" dirty="0" err="1">
                <a:solidFill>
                  <a:srgbClr val="242725"/>
                </a:solidFill>
                <a:latin typeface="Inter"/>
              </a:rPr>
              <a:t>Sehingga</a:t>
            </a:r>
            <a:r>
              <a:rPr lang="en-US" sz="2800" dirty="0">
                <a:solidFill>
                  <a:srgbClr val="242725"/>
                </a:solidFill>
                <a:latin typeface="Inter"/>
              </a:rPr>
              <a:t> </a:t>
            </a:r>
            <a:r>
              <a:rPr lang="en-US" sz="2800" dirty="0" err="1">
                <a:solidFill>
                  <a:srgbClr val="242725"/>
                </a:solidFill>
                <a:latin typeface="Inter"/>
              </a:rPr>
              <a:t>diperoleh</a:t>
            </a:r>
            <a:r>
              <a:rPr lang="en-US" sz="2800" dirty="0">
                <a:solidFill>
                  <a:srgbClr val="242725"/>
                </a:solidFill>
                <a:latin typeface="Inter"/>
              </a:rPr>
              <a:t> </a:t>
            </a:r>
            <a:r>
              <a:rPr lang="en-US" sz="2800" dirty="0" err="1">
                <a:solidFill>
                  <a:srgbClr val="242725"/>
                </a:solidFill>
                <a:latin typeface="Inter"/>
              </a:rPr>
              <a:t>hasil</a:t>
            </a:r>
            <a:r>
              <a:rPr lang="en-US" sz="2800" dirty="0">
                <a:solidFill>
                  <a:srgbClr val="242725"/>
                </a:solidFill>
                <a:latin typeface="Inter"/>
              </a:rPr>
              <a:t> </a:t>
            </a:r>
            <a:r>
              <a:rPr lang="en-US" sz="2800" dirty="0" err="1">
                <a:solidFill>
                  <a:srgbClr val="242725"/>
                </a:solidFill>
                <a:latin typeface="Inter"/>
              </a:rPr>
              <a:t>apakah</a:t>
            </a:r>
            <a:r>
              <a:rPr lang="en-US" sz="2800" dirty="0">
                <a:solidFill>
                  <a:srgbClr val="242725"/>
                </a:solidFill>
                <a:latin typeface="Inter"/>
              </a:rPr>
              <a:t> </a:t>
            </a:r>
            <a:r>
              <a:rPr lang="en-US" sz="2800" dirty="0" err="1">
                <a:solidFill>
                  <a:srgbClr val="242725"/>
                </a:solidFill>
                <a:latin typeface="Inter"/>
              </a:rPr>
              <a:t>pengaturan</a:t>
            </a:r>
            <a:r>
              <a:rPr lang="en-US" sz="2800" dirty="0">
                <a:solidFill>
                  <a:srgbClr val="242725"/>
                </a:solidFill>
                <a:latin typeface="Inter"/>
              </a:rPr>
              <a:t> VLAN </a:t>
            </a:r>
            <a:r>
              <a:rPr lang="en-US" sz="2800" dirty="0" err="1">
                <a:solidFill>
                  <a:srgbClr val="242725"/>
                </a:solidFill>
                <a:latin typeface="Inter"/>
              </a:rPr>
              <a:t>dalam</a:t>
            </a:r>
            <a:r>
              <a:rPr lang="en-US" sz="2800" dirty="0">
                <a:solidFill>
                  <a:srgbClr val="242725"/>
                </a:solidFill>
                <a:latin typeface="Inter"/>
              </a:rPr>
              <a:t> </a:t>
            </a:r>
            <a:r>
              <a:rPr lang="en-US" sz="2800" dirty="0" err="1">
                <a:solidFill>
                  <a:srgbClr val="242725"/>
                </a:solidFill>
                <a:latin typeface="Inter"/>
              </a:rPr>
              <a:t>pembatasan</a:t>
            </a:r>
            <a:r>
              <a:rPr lang="en-US" sz="2800" dirty="0">
                <a:solidFill>
                  <a:srgbClr val="242725"/>
                </a:solidFill>
                <a:latin typeface="Inter"/>
              </a:rPr>
              <a:t> bandwidth salah </a:t>
            </a:r>
            <a:r>
              <a:rPr lang="en-US" sz="2800" dirty="0" err="1">
                <a:solidFill>
                  <a:srgbClr val="242725"/>
                </a:solidFill>
                <a:latin typeface="Inter"/>
              </a:rPr>
              <a:t>satu</a:t>
            </a:r>
            <a:r>
              <a:rPr lang="en-US" sz="2800" dirty="0">
                <a:solidFill>
                  <a:srgbClr val="242725"/>
                </a:solidFill>
                <a:latin typeface="Inter"/>
              </a:rPr>
              <a:t> </a:t>
            </a:r>
            <a:r>
              <a:rPr lang="en-US" sz="2800" dirty="0" err="1">
                <a:solidFill>
                  <a:srgbClr val="242725"/>
                </a:solidFill>
                <a:latin typeface="Inter"/>
              </a:rPr>
              <a:t>segmen</a:t>
            </a:r>
            <a:r>
              <a:rPr lang="en-US" sz="2800" dirty="0">
                <a:solidFill>
                  <a:srgbClr val="242725"/>
                </a:solidFill>
                <a:latin typeface="Inter"/>
              </a:rPr>
              <a:t> </a:t>
            </a:r>
            <a:r>
              <a:rPr lang="en-US" sz="2800" dirty="0" err="1">
                <a:solidFill>
                  <a:srgbClr val="242725"/>
                </a:solidFill>
                <a:latin typeface="Inter"/>
              </a:rPr>
              <a:t>telah</a:t>
            </a:r>
            <a:r>
              <a:rPr lang="en-US" sz="2800" dirty="0">
                <a:solidFill>
                  <a:srgbClr val="242725"/>
                </a:solidFill>
                <a:latin typeface="Inter"/>
              </a:rPr>
              <a:t> </a:t>
            </a:r>
            <a:r>
              <a:rPr lang="en-US" sz="2800" dirty="0" err="1">
                <a:solidFill>
                  <a:srgbClr val="242725"/>
                </a:solidFill>
                <a:latin typeface="Inter"/>
              </a:rPr>
              <a:t>sesuai</a:t>
            </a:r>
            <a:r>
              <a:rPr lang="en-US" sz="2800" dirty="0">
                <a:solidFill>
                  <a:srgbClr val="242725"/>
                </a:solidFill>
                <a:latin typeface="Inter"/>
              </a:rPr>
              <a:t> </a:t>
            </a:r>
            <a:r>
              <a:rPr lang="en-US" sz="2800" dirty="0" err="1">
                <a:solidFill>
                  <a:srgbClr val="242725"/>
                </a:solidFill>
                <a:latin typeface="Inter"/>
              </a:rPr>
              <a:t>dengan</a:t>
            </a:r>
            <a:r>
              <a:rPr lang="en-US" sz="2800" dirty="0">
                <a:solidFill>
                  <a:srgbClr val="242725"/>
                </a:solidFill>
                <a:latin typeface="Inter"/>
              </a:rPr>
              <a:t> target yang </a:t>
            </a:r>
            <a:r>
              <a:rPr lang="en-US" sz="2800" dirty="0" err="1">
                <a:solidFill>
                  <a:srgbClr val="242725"/>
                </a:solidFill>
                <a:latin typeface="Inter"/>
              </a:rPr>
              <a:t>diharapkan</a:t>
            </a:r>
            <a:r>
              <a:rPr lang="en-US" sz="2800" dirty="0">
                <a:solidFill>
                  <a:srgbClr val="242725"/>
                </a:solidFill>
                <a:latin typeface="Inter"/>
              </a:rPr>
              <a:t> </a:t>
            </a:r>
            <a:r>
              <a:rPr lang="en-US" sz="2800" dirty="0" err="1">
                <a:solidFill>
                  <a:srgbClr val="242725"/>
                </a:solidFill>
                <a:latin typeface="Inter"/>
              </a:rPr>
              <a:t>serta</a:t>
            </a:r>
            <a:r>
              <a:rPr lang="en-US" sz="2800" dirty="0">
                <a:solidFill>
                  <a:srgbClr val="242725"/>
                </a:solidFill>
                <a:latin typeface="Inter"/>
              </a:rPr>
              <a:t> </a:t>
            </a:r>
            <a:r>
              <a:rPr lang="en-US" sz="2800" dirty="0" err="1">
                <a:solidFill>
                  <a:srgbClr val="242725"/>
                </a:solidFill>
                <a:latin typeface="Inter"/>
              </a:rPr>
              <a:t>mampu</a:t>
            </a:r>
            <a:r>
              <a:rPr lang="en-US" sz="2800" dirty="0">
                <a:solidFill>
                  <a:srgbClr val="242725"/>
                </a:solidFill>
                <a:latin typeface="Inter"/>
              </a:rPr>
              <a:t> </a:t>
            </a:r>
            <a:r>
              <a:rPr lang="en-US" sz="2800" dirty="0" err="1">
                <a:solidFill>
                  <a:srgbClr val="242725"/>
                </a:solidFill>
                <a:latin typeface="Inter"/>
              </a:rPr>
              <a:t>meningkatkan</a:t>
            </a:r>
            <a:r>
              <a:rPr lang="en-US" sz="2800" dirty="0">
                <a:solidFill>
                  <a:srgbClr val="242725"/>
                </a:solidFill>
                <a:latin typeface="Inter"/>
              </a:rPr>
              <a:t> </a:t>
            </a:r>
            <a:r>
              <a:rPr lang="en-US" sz="2800" dirty="0" err="1">
                <a:solidFill>
                  <a:srgbClr val="242725"/>
                </a:solidFill>
                <a:latin typeface="Inter"/>
              </a:rPr>
              <a:t>kualitas</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di </a:t>
            </a:r>
            <a:r>
              <a:rPr lang="en-US" sz="2800" dirty="0" err="1">
                <a:solidFill>
                  <a:srgbClr val="242725"/>
                </a:solidFill>
                <a:latin typeface="Inter"/>
              </a:rPr>
              <a:t>lingkungan</a:t>
            </a:r>
            <a:r>
              <a:rPr lang="en-US" sz="2800" dirty="0">
                <a:solidFill>
                  <a:srgbClr val="242725"/>
                </a:solidFill>
                <a:latin typeface="Inter"/>
              </a:rPr>
              <a:t> MIN 3 Pontianak.</a:t>
            </a:r>
          </a:p>
        </p:txBody>
      </p:sp>
      <p:grpSp>
        <p:nvGrpSpPr>
          <p:cNvPr id="10" name="Group 10"/>
          <p:cNvGrpSpPr/>
          <p:nvPr/>
        </p:nvGrpSpPr>
        <p:grpSpPr>
          <a:xfrm>
            <a:off x="15181507" y="3398790"/>
            <a:ext cx="2912577" cy="2839113"/>
            <a:chOff x="0" y="0"/>
            <a:chExt cx="4589780" cy="4578350"/>
          </a:xfrm>
        </p:grpSpPr>
        <p:sp>
          <p:nvSpPr>
            <p:cNvPr id="11" name="Freeform 11"/>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2" name="Freeform 12"/>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3" name="Group 13"/>
          <p:cNvGrpSpPr/>
          <p:nvPr/>
        </p:nvGrpSpPr>
        <p:grpSpPr>
          <a:xfrm>
            <a:off x="11838228" y="3790583"/>
            <a:ext cx="5262429" cy="5262429"/>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2632815" y="4818347"/>
            <a:ext cx="4626485" cy="4651859"/>
          </a:xfrm>
          <a:prstGeom prst="rect">
            <a:avLst/>
          </a:prstGeom>
        </p:spPr>
      </p:pic>
      <p:sp>
        <p:nvSpPr>
          <p:cNvPr id="16" name="AutoShape 16"/>
          <p:cNvSpPr/>
          <p:nvPr/>
        </p:nvSpPr>
        <p:spPr>
          <a:xfrm>
            <a:off x="-443075" y="9720640"/>
            <a:ext cx="18865925" cy="566360"/>
          </a:xfrm>
          <a:prstGeom prst="rect">
            <a:avLst/>
          </a:prstGeom>
          <a:solidFill>
            <a:srgbClr val="2ED47B"/>
          </a:solidFill>
        </p:spPr>
      </p:sp>
      <p:sp>
        <p:nvSpPr>
          <p:cNvPr id="18" name="TextBox 6">
            <a:extLst>
              <a:ext uri="{FF2B5EF4-FFF2-40B4-BE49-F238E27FC236}">
                <a16:creationId xmlns:a16="http://schemas.microsoft.com/office/drawing/2014/main" id="{90557877-E9F3-4ACA-9680-A2D8FCBA38DE}"/>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05</a:t>
            </a:r>
          </a:p>
        </p:txBody>
      </p:sp>
    </p:spTree>
    <p:extLst>
      <p:ext uri="{BB962C8B-B14F-4D97-AF65-F5344CB8AC3E}">
        <p14:creationId xmlns:p14="http://schemas.microsoft.com/office/powerpoint/2010/main" val="3589878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6345412" y="2055949"/>
            <a:ext cx="5674233" cy="5674233"/>
            <a:chOff x="0" y="0"/>
            <a:chExt cx="6350000" cy="6350000"/>
          </a:xfrm>
        </p:grpSpPr>
        <p:sp>
          <p:nvSpPr>
            <p:cNvPr id="3" name="Freeform 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4" name="Group 4"/>
          <p:cNvGrpSpPr/>
          <p:nvPr/>
        </p:nvGrpSpPr>
        <p:grpSpPr>
          <a:xfrm>
            <a:off x="1600200" y="1181100"/>
            <a:ext cx="15642846" cy="8345814"/>
            <a:chOff x="-1622820" y="647696"/>
            <a:chExt cx="20857130" cy="8105651"/>
          </a:xfrm>
        </p:grpSpPr>
        <p:sp>
          <p:nvSpPr>
            <p:cNvPr id="5" name="TextBox 5"/>
            <p:cNvSpPr txBox="1"/>
            <p:nvPr/>
          </p:nvSpPr>
          <p:spPr>
            <a:xfrm>
              <a:off x="0" y="647696"/>
              <a:ext cx="15384172" cy="1641474"/>
            </a:xfrm>
            <a:prstGeom prst="rect">
              <a:avLst/>
            </a:prstGeom>
          </p:spPr>
          <p:txBody>
            <a:bodyPr lIns="0" tIns="0" rIns="0" bIns="0" rtlCol="0" anchor="t">
              <a:spAutoFit/>
            </a:bodyPr>
            <a:lstStyle/>
            <a:p>
              <a:pPr algn="ctr">
                <a:lnSpc>
                  <a:spcPts val="9600"/>
                </a:lnSpc>
              </a:pPr>
              <a:r>
                <a:rPr lang="en-US" sz="8000" dirty="0" err="1">
                  <a:solidFill>
                    <a:srgbClr val="242725"/>
                  </a:solidFill>
                  <a:latin typeface="Inter Bold"/>
                </a:rPr>
                <a:t>Rumusan</a:t>
              </a:r>
              <a:r>
                <a:rPr lang="en-US" sz="8000" dirty="0">
                  <a:solidFill>
                    <a:srgbClr val="242725"/>
                  </a:solidFill>
                  <a:latin typeface="Inter Bold"/>
                </a:rPr>
                <a:t> </a:t>
              </a:r>
              <a:r>
                <a:rPr lang="en-US" sz="8000" dirty="0" err="1">
                  <a:solidFill>
                    <a:srgbClr val="242725"/>
                  </a:solidFill>
                  <a:latin typeface="Inter Bold"/>
                </a:rPr>
                <a:t>Masalah</a:t>
              </a:r>
              <a:endParaRPr lang="en-US" sz="8000" dirty="0">
                <a:solidFill>
                  <a:srgbClr val="242725"/>
                </a:solidFill>
                <a:latin typeface="Inter Bold"/>
              </a:endParaRPr>
            </a:p>
          </p:txBody>
        </p:sp>
        <p:sp>
          <p:nvSpPr>
            <p:cNvPr id="6" name="TextBox 6"/>
            <p:cNvSpPr txBox="1"/>
            <p:nvPr/>
          </p:nvSpPr>
          <p:spPr>
            <a:xfrm>
              <a:off x="-1622820" y="2382306"/>
              <a:ext cx="20857130" cy="6371041"/>
            </a:xfrm>
            <a:prstGeom prst="rect">
              <a:avLst/>
            </a:prstGeom>
          </p:spPr>
          <p:txBody>
            <a:bodyPr wrap="square" lIns="0" tIns="0" rIns="0" bIns="0" rtlCol="0" anchor="t">
              <a:spAutoFit/>
            </a:bodyPr>
            <a:lstStyle/>
            <a:p>
              <a:pPr>
                <a:lnSpc>
                  <a:spcPct val="150000"/>
                </a:lnSpc>
              </a:pPr>
              <a:r>
                <a:rPr lang="en-US" sz="3200" dirty="0">
                  <a:solidFill>
                    <a:srgbClr val="242725"/>
                  </a:solidFill>
                  <a:latin typeface="Inter"/>
                </a:rPr>
                <a:t>Berdasarkan </a:t>
              </a:r>
              <a:r>
                <a:rPr lang="en-US" sz="3200" dirty="0" err="1">
                  <a:solidFill>
                    <a:srgbClr val="242725"/>
                  </a:solidFill>
                  <a:latin typeface="Inter"/>
                </a:rPr>
                <a:t>latar</a:t>
              </a:r>
              <a:r>
                <a:rPr lang="en-US" sz="3200" dirty="0">
                  <a:solidFill>
                    <a:srgbClr val="242725"/>
                  </a:solidFill>
                  <a:latin typeface="Inter"/>
                </a:rPr>
                <a:t> </a:t>
              </a:r>
              <a:r>
                <a:rPr lang="en-US" sz="3200" dirty="0" err="1">
                  <a:solidFill>
                    <a:srgbClr val="242725"/>
                  </a:solidFill>
                  <a:latin typeface="Inter"/>
                </a:rPr>
                <a:t>belakang</a:t>
              </a:r>
              <a:r>
                <a:rPr lang="en-US" sz="3200" dirty="0">
                  <a:solidFill>
                    <a:srgbClr val="242725"/>
                  </a:solidFill>
                  <a:latin typeface="Inter"/>
                </a:rPr>
                <a:t> yang </a:t>
              </a:r>
              <a:r>
                <a:rPr lang="en-US" sz="3200" dirty="0" err="1">
                  <a:solidFill>
                    <a:srgbClr val="242725"/>
                  </a:solidFill>
                  <a:latin typeface="Inter"/>
                </a:rPr>
                <a:t>telah</a:t>
              </a:r>
              <a:r>
                <a:rPr lang="en-US" sz="3200" dirty="0">
                  <a:solidFill>
                    <a:srgbClr val="242725"/>
                  </a:solidFill>
                  <a:latin typeface="Inter"/>
                </a:rPr>
                <a:t> </a:t>
              </a:r>
              <a:r>
                <a:rPr lang="en-US" sz="3200" dirty="0" err="1">
                  <a:solidFill>
                    <a:srgbClr val="242725"/>
                  </a:solidFill>
                  <a:latin typeface="Inter"/>
                </a:rPr>
                <a:t>dijelaskan</a:t>
              </a:r>
              <a:r>
                <a:rPr lang="en-US" sz="3200" dirty="0">
                  <a:solidFill>
                    <a:srgbClr val="242725"/>
                  </a:solidFill>
                  <a:latin typeface="Inter"/>
                </a:rPr>
                <a:t>, </a:t>
              </a:r>
              <a:r>
                <a:rPr lang="en-US" sz="3200" dirty="0" err="1">
                  <a:solidFill>
                    <a:srgbClr val="242725"/>
                  </a:solidFill>
                  <a:latin typeface="Inter"/>
                </a:rPr>
                <a:t>rumusan</a:t>
              </a:r>
              <a:r>
                <a:rPr lang="en-US" sz="3200" dirty="0">
                  <a:solidFill>
                    <a:srgbClr val="242725"/>
                  </a:solidFill>
                  <a:latin typeface="Inter"/>
                </a:rPr>
                <a:t> </a:t>
              </a:r>
              <a:r>
                <a:rPr lang="en-US" sz="3200" dirty="0" err="1">
                  <a:solidFill>
                    <a:srgbClr val="242725"/>
                  </a:solidFill>
                  <a:latin typeface="Inter"/>
                </a:rPr>
                <a:t>masalah</a:t>
              </a:r>
              <a:r>
                <a:rPr lang="en-US" sz="3200" dirty="0">
                  <a:solidFill>
                    <a:srgbClr val="242725"/>
                  </a:solidFill>
                  <a:latin typeface="Inter"/>
                </a:rPr>
                <a:t> </a:t>
              </a:r>
              <a:r>
                <a:rPr lang="en-US" sz="3200" dirty="0" err="1">
                  <a:solidFill>
                    <a:srgbClr val="242725"/>
                  </a:solidFill>
                  <a:latin typeface="Inter"/>
                </a:rPr>
                <a:t>penelitian</a:t>
              </a:r>
              <a:r>
                <a:rPr lang="en-US" sz="3200" dirty="0">
                  <a:solidFill>
                    <a:srgbClr val="242725"/>
                  </a:solidFill>
                  <a:latin typeface="Inter"/>
                </a:rPr>
                <a:t> </a:t>
              </a:r>
              <a:r>
                <a:rPr lang="en-US" sz="3200" dirty="0" err="1">
                  <a:solidFill>
                    <a:srgbClr val="242725"/>
                  </a:solidFill>
                  <a:latin typeface="Inter"/>
                </a:rPr>
                <a:t>ini</a:t>
              </a:r>
              <a:r>
                <a:rPr lang="en-US" sz="3200" dirty="0">
                  <a:solidFill>
                    <a:srgbClr val="242725"/>
                  </a:solidFill>
                  <a:latin typeface="Inter"/>
                </a:rPr>
                <a:t> </a:t>
              </a:r>
              <a:r>
                <a:rPr lang="en-US" sz="3200" dirty="0" err="1">
                  <a:solidFill>
                    <a:srgbClr val="242725"/>
                  </a:solidFill>
                  <a:latin typeface="Inter"/>
                </a:rPr>
                <a:t>sebagai</a:t>
              </a:r>
              <a:r>
                <a:rPr lang="en-US" sz="3200" dirty="0">
                  <a:solidFill>
                    <a:srgbClr val="242725"/>
                  </a:solidFill>
                  <a:latin typeface="Inter"/>
                </a:rPr>
                <a:t> </a:t>
              </a:r>
              <a:r>
                <a:rPr lang="en-US" sz="3200" dirty="0" err="1">
                  <a:solidFill>
                    <a:srgbClr val="242725"/>
                  </a:solidFill>
                  <a:latin typeface="Inter"/>
                </a:rPr>
                <a:t>berikut</a:t>
              </a:r>
              <a:r>
                <a:rPr lang="en-US" sz="3200" dirty="0">
                  <a:solidFill>
                    <a:srgbClr val="242725"/>
                  </a:solidFill>
                  <a:latin typeface="Inter"/>
                </a:rPr>
                <a:t> :</a:t>
              </a:r>
            </a:p>
            <a:p>
              <a:pPr marL="514350" indent="-514350">
                <a:lnSpc>
                  <a:spcPct val="150000"/>
                </a:lnSpc>
                <a:buAutoNum type="arabicPeriod"/>
              </a:pPr>
              <a:r>
                <a:rPr lang="sv-SE" sz="3200" dirty="0">
                  <a:solidFill>
                    <a:srgbClr val="242725"/>
                  </a:solidFill>
                  <a:latin typeface="Inter"/>
                </a:rPr>
                <a:t>Bagaimana menganalisis kendala jaringan di MIN 3 Pontianak?</a:t>
              </a:r>
            </a:p>
            <a:p>
              <a:pPr marL="514350" indent="-514350">
                <a:lnSpc>
                  <a:spcPct val="150000"/>
                </a:lnSpc>
                <a:buAutoNum type="arabicPeriod"/>
              </a:pPr>
              <a:r>
                <a:rPr lang="en-US" sz="3200" dirty="0" err="1">
                  <a:solidFill>
                    <a:srgbClr val="242725"/>
                  </a:solidFill>
                  <a:latin typeface="Inter"/>
                </a:rPr>
                <a:t>Bagaimana</a:t>
              </a:r>
              <a:r>
                <a:rPr lang="en-US" sz="3200" dirty="0">
                  <a:solidFill>
                    <a:srgbClr val="242725"/>
                  </a:solidFill>
                  <a:latin typeface="Inter"/>
                </a:rPr>
                <a:t> </a:t>
              </a:r>
              <a:r>
                <a:rPr lang="en-US" sz="3200" dirty="0" err="1">
                  <a:solidFill>
                    <a:srgbClr val="242725"/>
                  </a:solidFill>
                  <a:latin typeface="Inter"/>
                </a:rPr>
                <a:t>implementasi</a:t>
              </a:r>
              <a:r>
                <a:rPr lang="en-US" sz="3200" dirty="0">
                  <a:solidFill>
                    <a:srgbClr val="242725"/>
                  </a:solidFill>
                  <a:latin typeface="Inter"/>
                </a:rPr>
                <a:t> Virtual Local Area Network (VLAN) pada </a:t>
              </a:r>
              <a:r>
                <a:rPr lang="en-US" sz="3200" dirty="0" err="1">
                  <a:solidFill>
                    <a:srgbClr val="242725"/>
                  </a:solidFill>
                  <a:latin typeface="Inter"/>
                </a:rPr>
                <a:t>jaringan</a:t>
              </a:r>
              <a:r>
                <a:rPr lang="en-US" sz="3200" dirty="0">
                  <a:solidFill>
                    <a:srgbClr val="242725"/>
                  </a:solidFill>
                  <a:latin typeface="Inter"/>
                </a:rPr>
                <a:t> di MIN 3 Pontianak?</a:t>
              </a:r>
            </a:p>
            <a:p>
              <a:pPr marL="514350" indent="-514350">
                <a:lnSpc>
                  <a:spcPct val="150000"/>
                </a:lnSpc>
                <a:buAutoNum type="arabicPeriod"/>
              </a:pPr>
              <a:r>
                <a:rPr lang="en-US" sz="3200" dirty="0" err="1">
                  <a:solidFill>
                    <a:srgbClr val="242725"/>
                  </a:solidFill>
                  <a:latin typeface="Inter"/>
                </a:rPr>
                <a:t>Bagaimana</a:t>
              </a:r>
              <a:r>
                <a:rPr lang="en-US" sz="3200" dirty="0">
                  <a:solidFill>
                    <a:srgbClr val="242725"/>
                  </a:solidFill>
                  <a:latin typeface="Inter"/>
                </a:rPr>
                <a:t> </a:t>
              </a:r>
              <a:r>
                <a:rPr lang="en-US" sz="3200" dirty="0" err="1">
                  <a:solidFill>
                    <a:srgbClr val="242725"/>
                  </a:solidFill>
                  <a:latin typeface="Inter"/>
                </a:rPr>
                <a:t>cara</a:t>
              </a:r>
              <a:r>
                <a:rPr lang="en-US" sz="3200" dirty="0">
                  <a:solidFill>
                    <a:srgbClr val="242725"/>
                  </a:solidFill>
                  <a:latin typeface="Inter"/>
                </a:rPr>
                <a:t> </a:t>
              </a:r>
              <a:r>
                <a:rPr lang="en-US" sz="3200" dirty="0" err="1">
                  <a:solidFill>
                    <a:srgbClr val="242725"/>
                  </a:solidFill>
                  <a:latin typeface="Inter"/>
                </a:rPr>
                <a:t>menguji</a:t>
              </a:r>
              <a:r>
                <a:rPr lang="en-US" sz="3200" dirty="0">
                  <a:solidFill>
                    <a:srgbClr val="242725"/>
                  </a:solidFill>
                  <a:latin typeface="Inter"/>
                </a:rPr>
                <a:t> </a:t>
              </a:r>
              <a:r>
                <a:rPr lang="en-US" sz="3200" dirty="0" err="1">
                  <a:solidFill>
                    <a:srgbClr val="242725"/>
                  </a:solidFill>
                  <a:latin typeface="Inter"/>
                </a:rPr>
                <a:t>kualitas</a:t>
              </a:r>
              <a:r>
                <a:rPr lang="en-US" sz="3200" dirty="0">
                  <a:solidFill>
                    <a:srgbClr val="242725"/>
                  </a:solidFill>
                  <a:latin typeface="Inter"/>
                </a:rPr>
                <a:t> </a:t>
              </a:r>
              <a:r>
                <a:rPr lang="en-US" sz="3200" dirty="0" err="1">
                  <a:solidFill>
                    <a:srgbClr val="242725"/>
                  </a:solidFill>
                  <a:latin typeface="Inter"/>
                </a:rPr>
                <a:t>jaringan</a:t>
              </a:r>
              <a:r>
                <a:rPr lang="en-US" sz="3200" dirty="0">
                  <a:solidFill>
                    <a:srgbClr val="242725"/>
                  </a:solidFill>
                  <a:latin typeface="Inter"/>
                </a:rPr>
                <a:t> Virtual Local Area Network (VLAN) di MIN 3 Pontianak </a:t>
              </a:r>
              <a:r>
                <a:rPr lang="en-US" sz="3200" dirty="0" err="1">
                  <a:solidFill>
                    <a:srgbClr val="242725"/>
                  </a:solidFill>
                  <a:latin typeface="Inter"/>
                </a:rPr>
                <a:t>menggunakan</a:t>
              </a:r>
              <a:r>
                <a:rPr lang="en-US" sz="3200" dirty="0">
                  <a:solidFill>
                    <a:srgbClr val="242725"/>
                  </a:solidFill>
                  <a:latin typeface="Inter"/>
                </a:rPr>
                <a:t> parameter Quality of Service (QoS), </a:t>
              </a:r>
              <a:r>
                <a:rPr lang="en-US" sz="3200" dirty="0" err="1">
                  <a:solidFill>
                    <a:srgbClr val="242725"/>
                  </a:solidFill>
                  <a:latin typeface="Inter"/>
                </a:rPr>
                <a:t>yaitu</a:t>
              </a:r>
              <a:r>
                <a:rPr lang="en-US" sz="3200" dirty="0">
                  <a:solidFill>
                    <a:srgbClr val="242725"/>
                  </a:solidFill>
                  <a:latin typeface="Inter"/>
                </a:rPr>
                <a:t> Throughput, Packet Loss, Delay, dan Jitter , </a:t>
              </a:r>
              <a:r>
                <a:rPr lang="en-US" sz="3200" dirty="0" err="1">
                  <a:solidFill>
                    <a:srgbClr val="242725"/>
                  </a:solidFill>
                  <a:latin typeface="Inter"/>
                </a:rPr>
                <a:t>serta</a:t>
              </a:r>
              <a:r>
                <a:rPr lang="en-US" sz="3200" dirty="0">
                  <a:solidFill>
                    <a:srgbClr val="242725"/>
                  </a:solidFill>
                  <a:latin typeface="Inter"/>
                </a:rPr>
                <a:t> </a:t>
              </a:r>
              <a:r>
                <a:rPr lang="en-US" sz="3200" dirty="0" err="1">
                  <a:solidFill>
                    <a:srgbClr val="242725"/>
                  </a:solidFill>
                  <a:latin typeface="Inter"/>
                </a:rPr>
                <a:t>pengaruh</a:t>
              </a:r>
              <a:r>
                <a:rPr lang="en-US" sz="3200" dirty="0">
                  <a:solidFill>
                    <a:srgbClr val="242725"/>
                  </a:solidFill>
                  <a:latin typeface="Inter"/>
                </a:rPr>
                <a:t> </a:t>
              </a:r>
              <a:r>
                <a:rPr lang="en-US" sz="3200" dirty="0" err="1">
                  <a:solidFill>
                    <a:srgbClr val="242725"/>
                  </a:solidFill>
                  <a:latin typeface="Inter"/>
                </a:rPr>
                <a:t>penerapan</a:t>
              </a:r>
              <a:r>
                <a:rPr lang="en-US" sz="3200" dirty="0">
                  <a:solidFill>
                    <a:srgbClr val="242725"/>
                  </a:solidFill>
                  <a:latin typeface="Inter"/>
                </a:rPr>
                <a:t> Simple Queue </a:t>
              </a:r>
              <a:r>
                <a:rPr lang="en-US" sz="3200" dirty="0" err="1">
                  <a:solidFill>
                    <a:srgbClr val="242725"/>
                  </a:solidFill>
                  <a:latin typeface="Inter"/>
                </a:rPr>
                <a:t>terhadap</a:t>
              </a:r>
              <a:r>
                <a:rPr lang="en-US" sz="3200" dirty="0">
                  <a:solidFill>
                    <a:srgbClr val="242725"/>
                  </a:solidFill>
                  <a:latin typeface="Inter"/>
                </a:rPr>
                <a:t> </a:t>
              </a:r>
              <a:r>
                <a:rPr lang="en-US" sz="3200" dirty="0" err="1">
                  <a:solidFill>
                    <a:srgbClr val="242725"/>
                  </a:solidFill>
                  <a:latin typeface="Inter"/>
                </a:rPr>
                <a:t>kualitas</a:t>
              </a:r>
              <a:r>
                <a:rPr lang="en-US" sz="3200" dirty="0">
                  <a:solidFill>
                    <a:srgbClr val="242725"/>
                  </a:solidFill>
                  <a:latin typeface="Inter"/>
                </a:rPr>
                <a:t> </a:t>
              </a:r>
              <a:r>
                <a:rPr lang="en-US" sz="3200" dirty="0" err="1">
                  <a:solidFill>
                    <a:srgbClr val="242725"/>
                  </a:solidFill>
                  <a:latin typeface="Inter"/>
                </a:rPr>
                <a:t>jaringan</a:t>
              </a:r>
              <a:r>
                <a:rPr lang="en-US" sz="3200" dirty="0">
                  <a:solidFill>
                    <a:srgbClr val="242725"/>
                  </a:solidFill>
                  <a:latin typeface="Inter"/>
                </a:rPr>
                <a:t> </a:t>
              </a:r>
              <a:r>
                <a:rPr lang="en-US" sz="3200" dirty="0" err="1">
                  <a:solidFill>
                    <a:srgbClr val="242725"/>
                  </a:solidFill>
                  <a:latin typeface="Inter"/>
                </a:rPr>
                <a:t>tersebut</a:t>
              </a:r>
              <a:r>
                <a:rPr lang="en-US" sz="3200" dirty="0">
                  <a:solidFill>
                    <a:srgbClr val="242725"/>
                  </a:solidFill>
                  <a:latin typeface="Inter"/>
                </a:rPr>
                <a:t>?</a:t>
              </a:r>
            </a:p>
          </p:txBody>
        </p:sp>
      </p:grpSp>
      <p:sp>
        <p:nvSpPr>
          <p:cNvPr id="7" name="AutoShape 7"/>
          <p:cNvSpPr/>
          <p:nvPr/>
        </p:nvSpPr>
        <p:spPr>
          <a:xfrm>
            <a:off x="-443075" y="9720640"/>
            <a:ext cx="18865925" cy="1140393"/>
          </a:xfrm>
          <a:prstGeom prst="rect">
            <a:avLst/>
          </a:prstGeom>
          <a:solidFill>
            <a:srgbClr val="2ED47B"/>
          </a:solidFill>
        </p:spPr>
      </p:sp>
      <p:grpSp>
        <p:nvGrpSpPr>
          <p:cNvPr id="8" name="Group 8"/>
          <p:cNvGrpSpPr/>
          <p:nvPr/>
        </p:nvGrpSpPr>
        <p:grpSpPr>
          <a:xfrm>
            <a:off x="14590736" y="615615"/>
            <a:ext cx="2912577" cy="2839113"/>
            <a:chOff x="0" y="0"/>
            <a:chExt cx="4589780" cy="4578350"/>
          </a:xfrm>
        </p:grpSpPr>
        <p:sp>
          <p:nvSpPr>
            <p:cNvPr id="9" name="Freeform 9"/>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p:cNvGrpSpPr/>
          <p:nvPr/>
        </p:nvGrpSpPr>
        <p:grpSpPr>
          <a:xfrm>
            <a:off x="566358" y="6741648"/>
            <a:ext cx="2912577" cy="2839113"/>
            <a:chOff x="0" y="0"/>
            <a:chExt cx="4589780" cy="4578350"/>
          </a:xfrm>
        </p:grpSpPr>
        <p:sp>
          <p:nvSpPr>
            <p:cNvPr id="12" name="Freeform 12"/>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2BC78DE7-C717-4879-873D-FDE7EB4DE331}"/>
              </a:ext>
            </a:extLst>
          </p:cNvPr>
          <p:cNvSpPr txBox="1"/>
          <p:nvPr/>
        </p:nvSpPr>
        <p:spPr>
          <a:xfrm>
            <a:off x="702691" y="435282"/>
            <a:ext cx="2996933" cy="2696316"/>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1526"/>
            <a:ext cx="12559128" cy="1228340"/>
          </a:xfrm>
          <a:prstGeom prst="rect">
            <a:avLst/>
          </a:prstGeom>
        </p:spPr>
        <p:txBody>
          <a:bodyPr lIns="0" tIns="0" rIns="0" bIns="0" rtlCol="0" anchor="t">
            <a:spAutoFit/>
          </a:bodyPr>
          <a:lstStyle/>
          <a:p>
            <a:pPr>
              <a:lnSpc>
                <a:spcPts val="9600"/>
              </a:lnSpc>
            </a:pPr>
            <a:r>
              <a:rPr lang="en-US" sz="8000" dirty="0">
                <a:solidFill>
                  <a:srgbClr val="242725"/>
                </a:solidFill>
                <a:latin typeface="Inter Bold"/>
              </a:rPr>
              <a:t>Batasan </a:t>
            </a:r>
            <a:r>
              <a:rPr lang="en-US" sz="8000" dirty="0" err="1">
                <a:solidFill>
                  <a:srgbClr val="242725"/>
                </a:solidFill>
                <a:latin typeface="Inter Bold"/>
              </a:rPr>
              <a:t>Masalah</a:t>
            </a:r>
            <a:endParaRPr lang="en-US" sz="8000" dirty="0">
              <a:solidFill>
                <a:srgbClr val="242725"/>
              </a:solidFill>
              <a:latin typeface="Inter Bold"/>
            </a:endParaRPr>
          </a:p>
        </p:txBody>
      </p:sp>
      <p:sp>
        <p:nvSpPr>
          <p:cNvPr id="5" name="TextBox 5"/>
          <p:cNvSpPr txBox="1"/>
          <p:nvPr/>
        </p:nvSpPr>
        <p:spPr>
          <a:xfrm>
            <a:off x="7845488" y="3390900"/>
            <a:ext cx="10213912" cy="4924425"/>
          </a:xfrm>
          <a:prstGeom prst="rect">
            <a:avLst/>
          </a:prstGeom>
        </p:spPr>
        <p:txBody>
          <a:bodyPr wrap="square" lIns="0" tIns="0" rIns="0" bIns="0" rtlCol="0" anchor="t">
            <a:spAutoFit/>
          </a:bodyPr>
          <a:lstStyle/>
          <a:p>
            <a:pPr marL="514350" indent="-514350">
              <a:spcBef>
                <a:spcPct val="0"/>
              </a:spcBef>
              <a:buAutoNum type="arabicPeriod"/>
            </a:pPr>
            <a:r>
              <a:rPr lang="en-US" sz="3200" dirty="0">
                <a:solidFill>
                  <a:srgbClr val="242725"/>
                </a:solidFill>
                <a:latin typeface="Inter"/>
              </a:rPr>
              <a:t>Implementasi VLAN </a:t>
            </a:r>
            <a:r>
              <a:rPr lang="en-US" sz="3200" dirty="0" err="1">
                <a:solidFill>
                  <a:srgbClr val="242725"/>
                </a:solidFill>
                <a:latin typeface="Inter"/>
              </a:rPr>
              <a:t>dibatasi</a:t>
            </a:r>
            <a:r>
              <a:rPr lang="en-US" sz="3200" dirty="0">
                <a:solidFill>
                  <a:srgbClr val="242725"/>
                </a:solidFill>
                <a:latin typeface="Inter"/>
              </a:rPr>
              <a:t> </a:t>
            </a:r>
            <a:r>
              <a:rPr lang="en-US" sz="3200" dirty="0" err="1">
                <a:solidFill>
                  <a:srgbClr val="242725"/>
                </a:solidFill>
                <a:latin typeface="Inter"/>
              </a:rPr>
              <a:t>untuk</a:t>
            </a:r>
            <a:r>
              <a:rPr lang="en-US" sz="3200" dirty="0">
                <a:solidFill>
                  <a:srgbClr val="242725"/>
                </a:solidFill>
                <a:latin typeface="Inter"/>
              </a:rPr>
              <a:t> </a:t>
            </a:r>
            <a:r>
              <a:rPr lang="en-US" sz="3200" dirty="0" err="1">
                <a:solidFill>
                  <a:srgbClr val="242725"/>
                </a:solidFill>
                <a:latin typeface="Inter"/>
              </a:rPr>
              <a:t>manajemen</a:t>
            </a:r>
            <a:r>
              <a:rPr lang="en-US" sz="3200" dirty="0">
                <a:solidFill>
                  <a:srgbClr val="242725"/>
                </a:solidFill>
                <a:latin typeface="Inter"/>
              </a:rPr>
              <a:t> </a:t>
            </a:r>
            <a:r>
              <a:rPr lang="en-US" sz="3200" dirty="0" err="1">
                <a:solidFill>
                  <a:srgbClr val="242725"/>
                </a:solidFill>
                <a:latin typeface="Inter"/>
              </a:rPr>
              <a:t>jaringan</a:t>
            </a:r>
            <a:r>
              <a:rPr lang="en-US" sz="3200" dirty="0">
                <a:solidFill>
                  <a:srgbClr val="242725"/>
                </a:solidFill>
                <a:latin typeface="Inter"/>
              </a:rPr>
              <a:t>.</a:t>
            </a:r>
          </a:p>
          <a:p>
            <a:pPr marL="514350" indent="-514350">
              <a:spcBef>
                <a:spcPct val="0"/>
              </a:spcBef>
              <a:buAutoNum type="arabicPeriod"/>
            </a:pPr>
            <a:r>
              <a:rPr lang="en-US" sz="3200" dirty="0">
                <a:solidFill>
                  <a:srgbClr val="242725"/>
                </a:solidFill>
                <a:latin typeface="Inter"/>
              </a:rPr>
              <a:t>Penelitian </a:t>
            </a:r>
            <a:r>
              <a:rPr lang="en-US" sz="3200" dirty="0" err="1">
                <a:solidFill>
                  <a:srgbClr val="242725"/>
                </a:solidFill>
                <a:latin typeface="Inter"/>
              </a:rPr>
              <a:t>ini</a:t>
            </a:r>
            <a:r>
              <a:rPr lang="en-US" sz="3200" dirty="0">
                <a:solidFill>
                  <a:srgbClr val="242725"/>
                </a:solidFill>
                <a:latin typeface="Inter"/>
              </a:rPr>
              <a:t> </a:t>
            </a:r>
            <a:r>
              <a:rPr lang="en-US" sz="3200" dirty="0" err="1">
                <a:solidFill>
                  <a:srgbClr val="242725"/>
                </a:solidFill>
                <a:latin typeface="Inter"/>
              </a:rPr>
              <a:t>berfokus</a:t>
            </a:r>
            <a:r>
              <a:rPr lang="en-US" sz="3200" dirty="0">
                <a:solidFill>
                  <a:srgbClr val="242725"/>
                </a:solidFill>
                <a:latin typeface="Inter"/>
              </a:rPr>
              <a:t> </a:t>
            </a:r>
            <a:r>
              <a:rPr lang="en-US" sz="3200" dirty="0" err="1">
                <a:solidFill>
                  <a:srgbClr val="242725"/>
                </a:solidFill>
                <a:latin typeface="Inter"/>
              </a:rPr>
              <a:t>manajemen</a:t>
            </a:r>
            <a:r>
              <a:rPr lang="en-US" sz="3200" dirty="0">
                <a:solidFill>
                  <a:srgbClr val="242725"/>
                </a:solidFill>
                <a:latin typeface="Inter"/>
              </a:rPr>
              <a:t> bandwidth di </a:t>
            </a:r>
            <a:r>
              <a:rPr lang="en-US" sz="3200" dirty="0" err="1">
                <a:solidFill>
                  <a:srgbClr val="242725"/>
                </a:solidFill>
                <a:latin typeface="Inter"/>
              </a:rPr>
              <a:t>jaringan</a:t>
            </a:r>
            <a:r>
              <a:rPr lang="en-US" sz="3200" dirty="0">
                <a:solidFill>
                  <a:srgbClr val="242725"/>
                </a:solidFill>
                <a:latin typeface="Inter"/>
              </a:rPr>
              <a:t> Wireless Local Area Network (WLAN)</a:t>
            </a:r>
          </a:p>
          <a:p>
            <a:pPr marL="514350" indent="-514350">
              <a:spcBef>
                <a:spcPct val="0"/>
              </a:spcBef>
              <a:buAutoNum type="arabicPeriod"/>
            </a:pPr>
            <a:r>
              <a:rPr lang="en-US" sz="3200" dirty="0" err="1">
                <a:solidFill>
                  <a:srgbClr val="242725"/>
                </a:solidFill>
                <a:latin typeface="Inter"/>
              </a:rPr>
              <a:t>Kapasitas</a:t>
            </a:r>
            <a:r>
              <a:rPr lang="en-US" sz="3200" dirty="0">
                <a:solidFill>
                  <a:srgbClr val="242725"/>
                </a:solidFill>
                <a:latin typeface="Inter"/>
              </a:rPr>
              <a:t> bandwidth pada </a:t>
            </a:r>
            <a:r>
              <a:rPr lang="en-US" sz="3200" dirty="0" err="1">
                <a:solidFill>
                  <a:srgbClr val="242725"/>
                </a:solidFill>
                <a:latin typeface="Inter"/>
              </a:rPr>
              <a:t>jaringan</a:t>
            </a:r>
            <a:r>
              <a:rPr lang="en-US" sz="3200" dirty="0">
                <a:solidFill>
                  <a:srgbClr val="242725"/>
                </a:solidFill>
                <a:latin typeface="Inter"/>
              </a:rPr>
              <a:t> di MIN 3 Pontianak </a:t>
            </a:r>
            <a:r>
              <a:rPr lang="en-US" sz="3200" dirty="0" err="1">
                <a:solidFill>
                  <a:srgbClr val="242725"/>
                </a:solidFill>
                <a:latin typeface="Inter"/>
              </a:rPr>
              <a:t>sebesar</a:t>
            </a:r>
            <a:r>
              <a:rPr lang="en-US" sz="3200" dirty="0">
                <a:solidFill>
                  <a:srgbClr val="242725"/>
                </a:solidFill>
                <a:latin typeface="Inter"/>
              </a:rPr>
              <a:t> 20 Mbps (Mega Bits Per Second).</a:t>
            </a:r>
          </a:p>
          <a:p>
            <a:pPr marL="514350" indent="-514350">
              <a:spcBef>
                <a:spcPct val="0"/>
              </a:spcBef>
              <a:buAutoNum type="arabicPeriod"/>
            </a:pPr>
            <a:r>
              <a:rPr lang="nn-NO" sz="3200" dirty="0">
                <a:solidFill>
                  <a:srgbClr val="242725"/>
                </a:solidFill>
                <a:latin typeface="Inter"/>
              </a:rPr>
              <a:t>Penelitian ini akan di implementasikan di 15 laptop yang akan mengakses Wireless Local Area Network (WLAN).</a:t>
            </a:r>
          </a:p>
        </p:txBody>
      </p:sp>
      <p:grpSp>
        <p:nvGrpSpPr>
          <p:cNvPr id="6" name="Group 6"/>
          <p:cNvGrpSpPr/>
          <p:nvPr/>
        </p:nvGrpSpPr>
        <p:grpSpPr>
          <a:xfrm>
            <a:off x="1644396" y="4465546"/>
            <a:ext cx="4565737" cy="4565737"/>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9" name="AutoShape 9"/>
          <p:cNvSpPr/>
          <p:nvPr/>
        </p:nvSpPr>
        <p:spPr>
          <a:xfrm>
            <a:off x="-443075" y="9720640"/>
            <a:ext cx="18865925" cy="566360"/>
          </a:xfrm>
          <a:prstGeom prst="rect">
            <a:avLst/>
          </a:prstGeom>
          <a:solidFill>
            <a:srgbClr val="2ED47B"/>
          </a:solidFill>
        </p:spPr>
      </p:sp>
      <p:grpSp>
        <p:nvGrpSpPr>
          <p:cNvPr id="17" name="Group 17"/>
          <p:cNvGrpSpPr/>
          <p:nvPr/>
        </p:nvGrpSpPr>
        <p:grpSpPr>
          <a:xfrm>
            <a:off x="3927264" y="3045989"/>
            <a:ext cx="2912577" cy="2839113"/>
            <a:chOff x="0" y="0"/>
            <a:chExt cx="4589780" cy="4578350"/>
          </a:xfrm>
        </p:grpSpPr>
        <p:sp>
          <p:nvSpPr>
            <p:cNvPr id="18" name="Freeform 18"/>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9" name="Freeform 19"/>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0" name="TextBox 6">
            <a:extLst>
              <a:ext uri="{FF2B5EF4-FFF2-40B4-BE49-F238E27FC236}">
                <a16:creationId xmlns:a16="http://schemas.microsoft.com/office/drawing/2014/main" id="{3DF90EFB-8BCF-4076-AA7C-71E9502B3EBB}"/>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07</a:t>
            </a:r>
          </a:p>
        </p:txBody>
      </p:sp>
      <p:grpSp>
        <p:nvGrpSpPr>
          <p:cNvPr id="21" name="Group 14">
            <a:extLst>
              <a:ext uri="{FF2B5EF4-FFF2-40B4-BE49-F238E27FC236}">
                <a16:creationId xmlns:a16="http://schemas.microsoft.com/office/drawing/2014/main" id="{B800625C-DC12-4DBB-9A04-BE73A6ED3273}"/>
              </a:ext>
            </a:extLst>
          </p:cNvPr>
          <p:cNvGrpSpPr/>
          <p:nvPr/>
        </p:nvGrpSpPr>
        <p:grpSpPr>
          <a:xfrm>
            <a:off x="7069122" y="5905500"/>
            <a:ext cx="332402" cy="332402"/>
            <a:chOff x="0" y="0"/>
            <a:chExt cx="6350000" cy="6350000"/>
          </a:xfrm>
        </p:grpSpPr>
        <p:sp>
          <p:nvSpPr>
            <p:cNvPr id="22" name="Freeform 15">
              <a:extLst>
                <a:ext uri="{FF2B5EF4-FFF2-40B4-BE49-F238E27FC236}">
                  <a16:creationId xmlns:a16="http://schemas.microsoft.com/office/drawing/2014/main" id="{8390415E-EF6A-4E58-AC48-8045A2597DED}"/>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sp>
        <p:nvSpPr>
          <p:cNvPr id="23" name="Freeform 15">
            <a:extLst>
              <a:ext uri="{FF2B5EF4-FFF2-40B4-BE49-F238E27FC236}">
                <a16:creationId xmlns:a16="http://schemas.microsoft.com/office/drawing/2014/main" id="{C3E5B3C0-B3EA-4054-BCD4-40B83465053B}"/>
              </a:ext>
            </a:extLst>
          </p:cNvPr>
          <p:cNvSpPr/>
          <p:nvPr/>
        </p:nvSpPr>
        <p:spPr>
          <a:xfrm>
            <a:off x="7069864" y="34609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7" name="Freeform 15">
            <a:extLst>
              <a:ext uri="{FF2B5EF4-FFF2-40B4-BE49-F238E27FC236}">
                <a16:creationId xmlns:a16="http://schemas.microsoft.com/office/drawing/2014/main" id="{10236B14-9716-499A-B14B-9521CBCCE2C5}"/>
              </a:ext>
            </a:extLst>
          </p:cNvPr>
          <p:cNvSpPr/>
          <p:nvPr/>
        </p:nvSpPr>
        <p:spPr>
          <a:xfrm>
            <a:off x="7069864" y="46863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8" name="Freeform 15">
            <a:extLst>
              <a:ext uri="{FF2B5EF4-FFF2-40B4-BE49-F238E27FC236}">
                <a16:creationId xmlns:a16="http://schemas.microsoft.com/office/drawing/2014/main" id="{56F0BC67-657A-425D-90B6-7A2F278CD1A1}"/>
              </a:ext>
            </a:extLst>
          </p:cNvPr>
          <p:cNvSpPr/>
          <p:nvPr/>
        </p:nvSpPr>
        <p:spPr>
          <a:xfrm>
            <a:off x="7069864" y="68961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9" name="Freeform 15">
            <a:extLst>
              <a:ext uri="{FF2B5EF4-FFF2-40B4-BE49-F238E27FC236}">
                <a16:creationId xmlns:a16="http://schemas.microsoft.com/office/drawing/2014/main" id="{5D9F44F2-1B08-4520-8673-FB5C1394E2DD}"/>
              </a:ext>
            </a:extLst>
          </p:cNvPr>
          <p:cNvSpPr/>
          <p:nvPr/>
        </p:nvSpPr>
        <p:spPr>
          <a:xfrm>
            <a:off x="7069864" y="78590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pic>
        <p:nvPicPr>
          <p:cNvPr id="10" name="Picture 9" descr="A person and person sitting at desks with laptops">
            <a:extLst>
              <a:ext uri="{FF2B5EF4-FFF2-40B4-BE49-F238E27FC236}">
                <a16:creationId xmlns:a16="http://schemas.microsoft.com/office/drawing/2014/main" id="{C63DBBA9-2F9F-FC32-23B4-521A15A1AECA}"/>
              </a:ext>
            </a:extLst>
          </p:cNvPr>
          <p:cNvPicPr>
            <a:picLocks noChangeAspect="1"/>
          </p:cNvPicPr>
          <p:nvPr/>
        </p:nvPicPr>
        <p:blipFill>
          <a:blip r:embed="rId3">
            <a:extLst>
              <a:ext uri="{28A0092B-C50C-407E-A947-70E740481C1C}">
                <a14:useLocalDpi xmlns:a14="http://schemas.microsoft.com/office/drawing/2010/main" val="0"/>
              </a:ext>
            </a:extLst>
          </a:blip>
          <a:srcRect l="14953" t="22593" r="55590" b="44885"/>
          <a:stretch/>
        </p:blipFill>
        <p:spPr>
          <a:xfrm>
            <a:off x="0" y="4630445"/>
            <a:ext cx="6950381" cy="5115796"/>
          </a:xfrm>
          <a:prstGeom prst="rect">
            <a:avLst/>
          </a:prstGeom>
        </p:spPr>
      </p:pic>
    </p:spTree>
    <p:extLst>
      <p:ext uri="{BB962C8B-B14F-4D97-AF65-F5344CB8AC3E}">
        <p14:creationId xmlns:p14="http://schemas.microsoft.com/office/powerpoint/2010/main" val="2931370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1526"/>
            <a:ext cx="12559128" cy="1228340"/>
          </a:xfrm>
          <a:prstGeom prst="rect">
            <a:avLst/>
          </a:prstGeom>
        </p:spPr>
        <p:txBody>
          <a:bodyPr lIns="0" tIns="0" rIns="0" bIns="0" rtlCol="0" anchor="t">
            <a:spAutoFit/>
          </a:bodyPr>
          <a:lstStyle/>
          <a:p>
            <a:pPr>
              <a:lnSpc>
                <a:spcPts val="9600"/>
              </a:lnSpc>
            </a:pPr>
            <a:r>
              <a:rPr lang="en-US" sz="8000" dirty="0">
                <a:solidFill>
                  <a:srgbClr val="242725"/>
                </a:solidFill>
                <a:latin typeface="Inter Bold"/>
              </a:rPr>
              <a:t>Batasan </a:t>
            </a:r>
            <a:r>
              <a:rPr lang="en-US" sz="8000" dirty="0" err="1">
                <a:solidFill>
                  <a:srgbClr val="242725"/>
                </a:solidFill>
                <a:latin typeface="Inter Bold"/>
              </a:rPr>
              <a:t>Masalah</a:t>
            </a:r>
            <a:endParaRPr lang="en-US" sz="8000" dirty="0">
              <a:solidFill>
                <a:srgbClr val="242725"/>
              </a:solidFill>
              <a:latin typeface="Inter Bold"/>
            </a:endParaRPr>
          </a:p>
        </p:txBody>
      </p:sp>
      <p:sp>
        <p:nvSpPr>
          <p:cNvPr id="5" name="TextBox 5"/>
          <p:cNvSpPr txBox="1"/>
          <p:nvPr/>
        </p:nvSpPr>
        <p:spPr>
          <a:xfrm>
            <a:off x="7845488" y="3390900"/>
            <a:ext cx="10213912" cy="3447098"/>
          </a:xfrm>
          <a:prstGeom prst="rect">
            <a:avLst/>
          </a:prstGeom>
        </p:spPr>
        <p:txBody>
          <a:bodyPr wrap="square" lIns="0" tIns="0" rIns="0" bIns="0" rtlCol="0" anchor="t">
            <a:spAutoFit/>
          </a:bodyPr>
          <a:lstStyle/>
          <a:p>
            <a:pPr marL="514350" indent="-514350">
              <a:spcBef>
                <a:spcPct val="0"/>
              </a:spcBef>
              <a:buAutoNum type="arabicPeriod" startAt="6"/>
            </a:pPr>
            <a:r>
              <a:rPr lang="en-US" sz="3200" dirty="0">
                <a:solidFill>
                  <a:srgbClr val="242725"/>
                </a:solidFill>
                <a:latin typeface="Inter"/>
              </a:rPr>
              <a:t>Penelitian </a:t>
            </a:r>
            <a:r>
              <a:rPr lang="en-US" sz="3200" dirty="0" err="1">
                <a:solidFill>
                  <a:srgbClr val="242725"/>
                </a:solidFill>
                <a:latin typeface="Inter"/>
              </a:rPr>
              <a:t>ini</a:t>
            </a:r>
            <a:r>
              <a:rPr lang="en-US" sz="3200" dirty="0">
                <a:solidFill>
                  <a:srgbClr val="242725"/>
                </a:solidFill>
                <a:latin typeface="Inter"/>
              </a:rPr>
              <a:t> </a:t>
            </a:r>
            <a:r>
              <a:rPr lang="en-US" sz="3200" dirty="0" err="1">
                <a:solidFill>
                  <a:srgbClr val="242725"/>
                </a:solidFill>
                <a:latin typeface="Inter"/>
              </a:rPr>
              <a:t>menggunakan</a:t>
            </a:r>
            <a:r>
              <a:rPr lang="en-US" sz="3200" dirty="0">
                <a:solidFill>
                  <a:srgbClr val="242725"/>
                </a:solidFill>
                <a:latin typeface="Inter"/>
              </a:rPr>
              <a:t> </a:t>
            </a:r>
            <a:r>
              <a:rPr lang="en-US" sz="3200" dirty="0" err="1">
                <a:solidFill>
                  <a:srgbClr val="242725"/>
                </a:solidFill>
                <a:latin typeface="Inter"/>
              </a:rPr>
              <a:t>perangkat</a:t>
            </a:r>
            <a:r>
              <a:rPr lang="en-US" sz="3200" dirty="0">
                <a:solidFill>
                  <a:srgbClr val="242725"/>
                </a:solidFill>
                <a:latin typeface="Inter"/>
              </a:rPr>
              <a:t> </a:t>
            </a:r>
            <a:r>
              <a:rPr lang="en-US" sz="3200" dirty="0" err="1">
                <a:solidFill>
                  <a:srgbClr val="242725"/>
                </a:solidFill>
                <a:latin typeface="Inter"/>
              </a:rPr>
              <a:t>jaringan</a:t>
            </a:r>
            <a:r>
              <a:rPr lang="en-US" sz="3200" dirty="0">
                <a:solidFill>
                  <a:srgbClr val="242725"/>
                </a:solidFill>
                <a:latin typeface="Inter"/>
              </a:rPr>
              <a:t> ZTE ZXHN F672Y, Router </a:t>
            </a:r>
            <a:r>
              <a:rPr lang="en-US" sz="3200" dirty="0" err="1">
                <a:solidFill>
                  <a:srgbClr val="242725"/>
                </a:solidFill>
                <a:latin typeface="Inter"/>
              </a:rPr>
              <a:t>MikroTik</a:t>
            </a:r>
            <a:r>
              <a:rPr lang="en-US" sz="3200" dirty="0">
                <a:solidFill>
                  <a:srgbClr val="242725"/>
                </a:solidFill>
                <a:latin typeface="Inter"/>
              </a:rPr>
              <a:t> </a:t>
            </a:r>
            <a:r>
              <a:rPr lang="en-US" sz="3200" dirty="0" err="1">
                <a:solidFill>
                  <a:srgbClr val="242725"/>
                </a:solidFill>
                <a:latin typeface="Inter"/>
              </a:rPr>
              <a:t>hEX</a:t>
            </a:r>
            <a:r>
              <a:rPr lang="en-US" sz="3200" dirty="0">
                <a:solidFill>
                  <a:srgbClr val="242725"/>
                </a:solidFill>
                <a:latin typeface="Inter"/>
              </a:rPr>
              <a:t> S (RB760iGS) dan </a:t>
            </a:r>
            <a:r>
              <a:rPr lang="en-US" sz="3200" dirty="0" err="1">
                <a:solidFill>
                  <a:srgbClr val="242725"/>
                </a:solidFill>
                <a:latin typeface="Inter"/>
              </a:rPr>
              <a:t>Mikrotik</a:t>
            </a:r>
            <a:r>
              <a:rPr lang="en-US" sz="3200" dirty="0">
                <a:solidFill>
                  <a:srgbClr val="242725"/>
                </a:solidFill>
                <a:latin typeface="Inter"/>
              </a:rPr>
              <a:t> RBD52G-HacD2HnD-TC is </a:t>
            </a:r>
            <a:r>
              <a:rPr lang="en-US" sz="3200" dirty="0" err="1">
                <a:solidFill>
                  <a:srgbClr val="242725"/>
                </a:solidFill>
                <a:latin typeface="Inter"/>
              </a:rPr>
              <a:t>hAP</a:t>
            </a:r>
            <a:r>
              <a:rPr lang="en-US" sz="3200" dirty="0">
                <a:solidFill>
                  <a:srgbClr val="242725"/>
                </a:solidFill>
                <a:latin typeface="Inter"/>
              </a:rPr>
              <a:t> ac2.</a:t>
            </a:r>
          </a:p>
          <a:p>
            <a:pPr marL="514350" indent="-514350">
              <a:spcBef>
                <a:spcPct val="0"/>
              </a:spcBef>
              <a:buAutoNum type="arabicPeriod" startAt="6"/>
            </a:pPr>
            <a:r>
              <a:rPr lang="en-US" sz="3200" dirty="0" err="1">
                <a:solidFill>
                  <a:srgbClr val="242725"/>
                </a:solidFill>
                <a:latin typeface="Inter"/>
              </a:rPr>
              <a:t>Pengujian</a:t>
            </a:r>
            <a:r>
              <a:rPr lang="en-US" sz="3200" dirty="0">
                <a:solidFill>
                  <a:srgbClr val="242725"/>
                </a:solidFill>
                <a:latin typeface="Inter"/>
              </a:rPr>
              <a:t> </a:t>
            </a:r>
            <a:r>
              <a:rPr lang="en-US" sz="3200" dirty="0" err="1">
                <a:solidFill>
                  <a:srgbClr val="242725"/>
                </a:solidFill>
                <a:latin typeface="Inter"/>
              </a:rPr>
              <a:t>jaringan</a:t>
            </a:r>
            <a:r>
              <a:rPr lang="en-US" sz="3200" dirty="0">
                <a:solidFill>
                  <a:srgbClr val="242725"/>
                </a:solidFill>
                <a:latin typeface="Inter"/>
              </a:rPr>
              <a:t> </a:t>
            </a:r>
            <a:r>
              <a:rPr lang="en-US" sz="3200" dirty="0" err="1">
                <a:solidFill>
                  <a:srgbClr val="242725"/>
                </a:solidFill>
                <a:latin typeface="Inter"/>
              </a:rPr>
              <a:t>menggunakan</a:t>
            </a:r>
            <a:r>
              <a:rPr lang="en-US" sz="3200" dirty="0">
                <a:solidFill>
                  <a:srgbClr val="242725"/>
                </a:solidFill>
                <a:latin typeface="Inter"/>
              </a:rPr>
              <a:t> Quality of Service (QoS) yang </a:t>
            </a:r>
            <a:r>
              <a:rPr lang="en-US" sz="3200" dirty="0" err="1">
                <a:solidFill>
                  <a:srgbClr val="242725"/>
                </a:solidFill>
                <a:latin typeface="Inter"/>
              </a:rPr>
              <a:t>meliputi</a:t>
            </a:r>
            <a:r>
              <a:rPr lang="en-US" sz="3200" dirty="0">
                <a:solidFill>
                  <a:srgbClr val="242725"/>
                </a:solidFill>
                <a:latin typeface="Inter"/>
              </a:rPr>
              <a:t> throughput, packet loss, delay dan jitter.</a:t>
            </a:r>
          </a:p>
        </p:txBody>
      </p:sp>
      <p:grpSp>
        <p:nvGrpSpPr>
          <p:cNvPr id="6" name="Group 6"/>
          <p:cNvGrpSpPr/>
          <p:nvPr/>
        </p:nvGrpSpPr>
        <p:grpSpPr>
          <a:xfrm>
            <a:off x="1644396" y="4465546"/>
            <a:ext cx="4565737" cy="4565737"/>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9" name="AutoShape 9"/>
          <p:cNvSpPr/>
          <p:nvPr/>
        </p:nvSpPr>
        <p:spPr>
          <a:xfrm>
            <a:off x="-443075" y="9720640"/>
            <a:ext cx="18865925" cy="566360"/>
          </a:xfrm>
          <a:prstGeom prst="rect">
            <a:avLst/>
          </a:prstGeom>
          <a:solidFill>
            <a:srgbClr val="2ED47B"/>
          </a:solidFill>
        </p:spPr>
      </p:sp>
      <p:grpSp>
        <p:nvGrpSpPr>
          <p:cNvPr id="17" name="Group 17"/>
          <p:cNvGrpSpPr/>
          <p:nvPr/>
        </p:nvGrpSpPr>
        <p:grpSpPr>
          <a:xfrm>
            <a:off x="3927264" y="3045989"/>
            <a:ext cx="2912577" cy="2839113"/>
            <a:chOff x="0" y="0"/>
            <a:chExt cx="4589780" cy="4578350"/>
          </a:xfrm>
        </p:grpSpPr>
        <p:sp>
          <p:nvSpPr>
            <p:cNvPr id="18" name="Freeform 18"/>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9" name="Freeform 19"/>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0" name="TextBox 6">
            <a:extLst>
              <a:ext uri="{FF2B5EF4-FFF2-40B4-BE49-F238E27FC236}">
                <a16:creationId xmlns:a16="http://schemas.microsoft.com/office/drawing/2014/main" id="{3DF90EFB-8BCF-4076-AA7C-71E9502B3EBB}"/>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08</a:t>
            </a:r>
          </a:p>
        </p:txBody>
      </p:sp>
      <p:grpSp>
        <p:nvGrpSpPr>
          <p:cNvPr id="21" name="Group 14">
            <a:extLst>
              <a:ext uri="{FF2B5EF4-FFF2-40B4-BE49-F238E27FC236}">
                <a16:creationId xmlns:a16="http://schemas.microsoft.com/office/drawing/2014/main" id="{B800625C-DC12-4DBB-9A04-BE73A6ED3273}"/>
              </a:ext>
            </a:extLst>
          </p:cNvPr>
          <p:cNvGrpSpPr/>
          <p:nvPr/>
        </p:nvGrpSpPr>
        <p:grpSpPr>
          <a:xfrm>
            <a:off x="7069122" y="5905500"/>
            <a:ext cx="332402" cy="332402"/>
            <a:chOff x="0" y="0"/>
            <a:chExt cx="6350000" cy="6350000"/>
          </a:xfrm>
        </p:grpSpPr>
        <p:sp>
          <p:nvSpPr>
            <p:cNvPr id="22" name="Freeform 15">
              <a:extLst>
                <a:ext uri="{FF2B5EF4-FFF2-40B4-BE49-F238E27FC236}">
                  <a16:creationId xmlns:a16="http://schemas.microsoft.com/office/drawing/2014/main" id="{8390415E-EF6A-4E58-AC48-8045A2597DED}"/>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sp>
        <p:nvSpPr>
          <p:cNvPr id="23" name="Freeform 15">
            <a:extLst>
              <a:ext uri="{FF2B5EF4-FFF2-40B4-BE49-F238E27FC236}">
                <a16:creationId xmlns:a16="http://schemas.microsoft.com/office/drawing/2014/main" id="{C3E5B3C0-B3EA-4054-BCD4-40B83465053B}"/>
              </a:ext>
            </a:extLst>
          </p:cNvPr>
          <p:cNvSpPr/>
          <p:nvPr/>
        </p:nvSpPr>
        <p:spPr>
          <a:xfrm>
            <a:off x="7069864" y="34609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7" name="Freeform 15">
            <a:extLst>
              <a:ext uri="{FF2B5EF4-FFF2-40B4-BE49-F238E27FC236}">
                <a16:creationId xmlns:a16="http://schemas.microsoft.com/office/drawing/2014/main" id="{10236B14-9716-499A-B14B-9521CBCCE2C5}"/>
              </a:ext>
            </a:extLst>
          </p:cNvPr>
          <p:cNvSpPr/>
          <p:nvPr/>
        </p:nvSpPr>
        <p:spPr>
          <a:xfrm>
            <a:off x="7069864" y="46863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8" name="Freeform 15">
            <a:extLst>
              <a:ext uri="{FF2B5EF4-FFF2-40B4-BE49-F238E27FC236}">
                <a16:creationId xmlns:a16="http://schemas.microsoft.com/office/drawing/2014/main" id="{56F0BC67-657A-425D-90B6-7A2F278CD1A1}"/>
              </a:ext>
            </a:extLst>
          </p:cNvPr>
          <p:cNvSpPr/>
          <p:nvPr/>
        </p:nvSpPr>
        <p:spPr>
          <a:xfrm>
            <a:off x="7069864" y="68961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9" name="Freeform 15">
            <a:extLst>
              <a:ext uri="{FF2B5EF4-FFF2-40B4-BE49-F238E27FC236}">
                <a16:creationId xmlns:a16="http://schemas.microsoft.com/office/drawing/2014/main" id="{5D9F44F2-1B08-4520-8673-FB5C1394E2DD}"/>
              </a:ext>
            </a:extLst>
          </p:cNvPr>
          <p:cNvSpPr/>
          <p:nvPr/>
        </p:nvSpPr>
        <p:spPr>
          <a:xfrm>
            <a:off x="7069864" y="78590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pic>
        <p:nvPicPr>
          <p:cNvPr id="3" name="Picture 2" descr="A person and person sitting at desks with laptops">
            <a:extLst>
              <a:ext uri="{FF2B5EF4-FFF2-40B4-BE49-F238E27FC236}">
                <a16:creationId xmlns:a16="http://schemas.microsoft.com/office/drawing/2014/main" id="{5106B717-E225-21EC-3715-C2C0FF7B2B3F}"/>
              </a:ext>
            </a:extLst>
          </p:cNvPr>
          <p:cNvPicPr>
            <a:picLocks noChangeAspect="1"/>
          </p:cNvPicPr>
          <p:nvPr/>
        </p:nvPicPr>
        <p:blipFill>
          <a:blip r:embed="rId3">
            <a:extLst>
              <a:ext uri="{28A0092B-C50C-407E-A947-70E740481C1C}">
                <a14:useLocalDpi xmlns:a14="http://schemas.microsoft.com/office/drawing/2010/main" val="0"/>
              </a:ext>
            </a:extLst>
          </a:blip>
          <a:srcRect l="14953" t="22593" r="55590" b="44885"/>
          <a:stretch/>
        </p:blipFill>
        <p:spPr>
          <a:xfrm>
            <a:off x="0" y="4630445"/>
            <a:ext cx="6950381" cy="5115796"/>
          </a:xfrm>
          <a:prstGeom prst="rect">
            <a:avLst/>
          </a:prstGeom>
        </p:spPr>
      </p:pic>
    </p:spTree>
    <p:extLst>
      <p:ext uri="{BB962C8B-B14F-4D97-AF65-F5344CB8AC3E}">
        <p14:creationId xmlns:p14="http://schemas.microsoft.com/office/powerpoint/2010/main" val="2019899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104900"/>
            <a:ext cx="7267677" cy="1122359"/>
          </a:xfrm>
          <a:prstGeom prst="rect">
            <a:avLst/>
          </a:prstGeom>
        </p:spPr>
        <p:txBody>
          <a:bodyPr lIns="0" tIns="0" rIns="0" bIns="0" rtlCol="0" anchor="t">
            <a:spAutoFit/>
          </a:bodyPr>
          <a:lstStyle/>
          <a:p>
            <a:pPr>
              <a:lnSpc>
                <a:spcPts val="9600"/>
              </a:lnSpc>
            </a:pPr>
            <a:r>
              <a:rPr lang="en-US" sz="6600" dirty="0" err="1">
                <a:solidFill>
                  <a:srgbClr val="242725"/>
                </a:solidFill>
                <a:latin typeface="Inter Bold"/>
              </a:rPr>
              <a:t>Tujuan</a:t>
            </a:r>
            <a:r>
              <a:rPr lang="en-US" sz="6600" dirty="0">
                <a:solidFill>
                  <a:srgbClr val="242725"/>
                </a:solidFill>
                <a:latin typeface="Inter Bold"/>
              </a:rPr>
              <a:t> Penelitian</a:t>
            </a:r>
          </a:p>
        </p:txBody>
      </p:sp>
      <p:grpSp>
        <p:nvGrpSpPr>
          <p:cNvPr id="3" name="Group 3"/>
          <p:cNvGrpSpPr/>
          <p:nvPr/>
        </p:nvGrpSpPr>
        <p:grpSpPr>
          <a:xfrm>
            <a:off x="9315853" y="7337631"/>
            <a:ext cx="6216356" cy="6216356"/>
            <a:chOff x="0" y="0"/>
            <a:chExt cx="6350000" cy="6350000"/>
          </a:xfrm>
        </p:grpSpPr>
        <p:sp>
          <p:nvSpPr>
            <p:cNvPr id="4" name="Freeform 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6" name="Group 16"/>
          <p:cNvGrpSpPr/>
          <p:nvPr/>
        </p:nvGrpSpPr>
        <p:grpSpPr>
          <a:xfrm>
            <a:off x="9144000" y="3965279"/>
            <a:ext cx="777757" cy="777757"/>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8" name="Group 18"/>
          <p:cNvGrpSpPr/>
          <p:nvPr/>
        </p:nvGrpSpPr>
        <p:grpSpPr>
          <a:xfrm>
            <a:off x="16780498" y="8491196"/>
            <a:ext cx="957604" cy="957604"/>
            <a:chOff x="0" y="0"/>
            <a:chExt cx="6350000" cy="6350000"/>
          </a:xfrm>
        </p:grpSpPr>
        <p:sp>
          <p:nvSpPr>
            <p:cNvPr id="19" name="Freeform 1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20" name="Group 20"/>
          <p:cNvGrpSpPr/>
          <p:nvPr/>
        </p:nvGrpSpPr>
        <p:grpSpPr>
          <a:xfrm>
            <a:off x="7687711" y="6741648"/>
            <a:ext cx="2912577" cy="2839113"/>
            <a:chOff x="0" y="0"/>
            <a:chExt cx="4589780" cy="4578350"/>
          </a:xfrm>
        </p:grpSpPr>
        <p:sp>
          <p:nvSpPr>
            <p:cNvPr id="21" name="Freeform 21"/>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2" name="Freeform 22"/>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3" name="TextBox 6">
            <a:extLst>
              <a:ext uri="{FF2B5EF4-FFF2-40B4-BE49-F238E27FC236}">
                <a16:creationId xmlns:a16="http://schemas.microsoft.com/office/drawing/2014/main" id="{D2F53C89-B8A6-46A7-9123-3BFC1F511415}"/>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09</a:t>
            </a:r>
          </a:p>
        </p:txBody>
      </p:sp>
      <p:sp>
        <p:nvSpPr>
          <p:cNvPr id="24" name="TextBox 13">
            <a:extLst>
              <a:ext uri="{FF2B5EF4-FFF2-40B4-BE49-F238E27FC236}">
                <a16:creationId xmlns:a16="http://schemas.microsoft.com/office/drawing/2014/main" id="{8973C5C2-2C99-433F-ACE3-58220053AA43}"/>
              </a:ext>
            </a:extLst>
          </p:cNvPr>
          <p:cNvSpPr txBox="1"/>
          <p:nvPr/>
        </p:nvSpPr>
        <p:spPr>
          <a:xfrm>
            <a:off x="1112369" y="2476500"/>
            <a:ext cx="11536831" cy="7032503"/>
          </a:xfrm>
          <a:prstGeom prst="rect">
            <a:avLst/>
          </a:prstGeom>
        </p:spPr>
        <p:txBody>
          <a:bodyPr wrap="square" lIns="0" tIns="0" rIns="0" bIns="0" rtlCol="0" anchor="t">
            <a:spAutoFit/>
          </a:bodyPr>
          <a:lstStyle/>
          <a:p>
            <a:pPr algn="just">
              <a:lnSpc>
                <a:spcPct val="150000"/>
              </a:lnSpc>
            </a:pPr>
            <a:r>
              <a:rPr lang="en-US" sz="2800" dirty="0">
                <a:solidFill>
                  <a:srgbClr val="242725"/>
                </a:solidFill>
                <a:latin typeface="Inter"/>
              </a:rPr>
              <a:t>Tujuan yang ingin </a:t>
            </a:r>
            <a:r>
              <a:rPr lang="en-US" sz="2800" dirty="0" err="1">
                <a:solidFill>
                  <a:srgbClr val="242725"/>
                </a:solidFill>
                <a:latin typeface="Inter"/>
              </a:rPr>
              <a:t>dicapai</a:t>
            </a:r>
            <a:r>
              <a:rPr lang="en-US" sz="2800" dirty="0">
                <a:solidFill>
                  <a:srgbClr val="242725"/>
                </a:solidFill>
                <a:latin typeface="Inter"/>
              </a:rPr>
              <a:t> </a:t>
            </a:r>
            <a:r>
              <a:rPr lang="en-US" sz="2800" dirty="0" err="1">
                <a:solidFill>
                  <a:srgbClr val="242725"/>
                </a:solidFill>
                <a:latin typeface="Inter"/>
              </a:rPr>
              <a:t>dari</a:t>
            </a:r>
            <a:r>
              <a:rPr lang="en-US" sz="2800" dirty="0">
                <a:solidFill>
                  <a:srgbClr val="242725"/>
                </a:solidFill>
                <a:latin typeface="Inter"/>
              </a:rPr>
              <a:t> </a:t>
            </a:r>
            <a:r>
              <a:rPr lang="en-US" sz="2800" dirty="0" err="1">
                <a:solidFill>
                  <a:srgbClr val="242725"/>
                </a:solidFill>
                <a:latin typeface="Inter"/>
              </a:rPr>
              <a:t>penelitian</a:t>
            </a:r>
            <a:r>
              <a:rPr lang="en-US" sz="2800" dirty="0">
                <a:solidFill>
                  <a:srgbClr val="242725"/>
                </a:solidFill>
                <a:latin typeface="Inter"/>
              </a:rPr>
              <a:t> ini </a:t>
            </a:r>
            <a:r>
              <a:rPr lang="en-US" sz="2800" dirty="0" err="1">
                <a:solidFill>
                  <a:srgbClr val="242725"/>
                </a:solidFill>
                <a:latin typeface="Inter"/>
              </a:rPr>
              <a:t>adalah</a:t>
            </a:r>
            <a:r>
              <a:rPr lang="en-US" sz="2800" dirty="0">
                <a:solidFill>
                  <a:srgbClr val="242725"/>
                </a:solidFill>
                <a:latin typeface="Inter"/>
              </a:rPr>
              <a:t>:</a:t>
            </a:r>
          </a:p>
          <a:p>
            <a:pPr marL="514350" indent="-514350" algn="just">
              <a:lnSpc>
                <a:spcPct val="150000"/>
              </a:lnSpc>
              <a:buAutoNum type="arabicPeriod"/>
            </a:pPr>
            <a:r>
              <a:rPr lang="en-US" sz="2800" dirty="0" err="1">
                <a:solidFill>
                  <a:srgbClr val="242725"/>
                </a:solidFill>
                <a:latin typeface="Inter"/>
              </a:rPr>
              <a:t>Menganalisis</a:t>
            </a:r>
            <a:r>
              <a:rPr lang="en-US" sz="2800" dirty="0">
                <a:solidFill>
                  <a:srgbClr val="242725"/>
                </a:solidFill>
                <a:latin typeface="Inter"/>
              </a:rPr>
              <a:t> </a:t>
            </a:r>
            <a:r>
              <a:rPr lang="en-US" sz="2800" dirty="0" err="1">
                <a:solidFill>
                  <a:srgbClr val="242725"/>
                </a:solidFill>
                <a:latin typeface="Inter"/>
              </a:rPr>
              <a:t>kendala</a:t>
            </a:r>
            <a:r>
              <a:rPr lang="en-US" sz="2800" dirty="0">
                <a:solidFill>
                  <a:srgbClr val="242725"/>
                </a:solidFill>
                <a:latin typeface="Inter"/>
              </a:rPr>
              <a:t> dan </a:t>
            </a:r>
            <a:r>
              <a:rPr lang="en-US" sz="2800" dirty="0" err="1">
                <a:solidFill>
                  <a:srgbClr val="242725"/>
                </a:solidFill>
                <a:latin typeface="Inter"/>
              </a:rPr>
              <a:t>permasalahan</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yang </a:t>
            </a:r>
            <a:r>
              <a:rPr lang="en-US" sz="2800" dirty="0" err="1">
                <a:solidFill>
                  <a:srgbClr val="242725"/>
                </a:solidFill>
                <a:latin typeface="Inter"/>
              </a:rPr>
              <a:t>terdapat</a:t>
            </a:r>
            <a:r>
              <a:rPr lang="en-US" sz="2800" dirty="0">
                <a:solidFill>
                  <a:srgbClr val="242725"/>
                </a:solidFill>
                <a:latin typeface="Inter"/>
              </a:rPr>
              <a:t> pada </a:t>
            </a:r>
            <a:r>
              <a:rPr lang="en-US" sz="2800" dirty="0" err="1">
                <a:solidFill>
                  <a:srgbClr val="242725"/>
                </a:solidFill>
                <a:latin typeface="Inter"/>
              </a:rPr>
              <a:t>infrastruktur</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a:t>
            </a:r>
            <a:r>
              <a:rPr lang="en-US" sz="2800" dirty="0" err="1">
                <a:solidFill>
                  <a:srgbClr val="242725"/>
                </a:solidFill>
                <a:latin typeface="Inter"/>
              </a:rPr>
              <a:t>komputer</a:t>
            </a:r>
            <a:r>
              <a:rPr lang="en-US" sz="2800" dirty="0">
                <a:solidFill>
                  <a:srgbClr val="242725"/>
                </a:solidFill>
                <a:latin typeface="Inter"/>
              </a:rPr>
              <a:t> di MIN 3 Pontianak.</a:t>
            </a:r>
          </a:p>
          <a:p>
            <a:pPr marL="514350" indent="-514350" algn="just">
              <a:lnSpc>
                <a:spcPct val="150000"/>
              </a:lnSpc>
              <a:buAutoNum type="arabicPeriod"/>
            </a:pPr>
            <a:r>
              <a:rPr lang="en-US" sz="2800" dirty="0" err="1">
                <a:solidFill>
                  <a:srgbClr val="242725"/>
                </a:solidFill>
                <a:latin typeface="Inter"/>
              </a:rPr>
              <a:t>Mengevaluasi</a:t>
            </a:r>
            <a:r>
              <a:rPr lang="en-US" sz="2800" dirty="0">
                <a:solidFill>
                  <a:srgbClr val="242725"/>
                </a:solidFill>
                <a:latin typeface="Inter"/>
              </a:rPr>
              <a:t> </a:t>
            </a:r>
            <a:r>
              <a:rPr lang="en-US" sz="2800" dirty="0" err="1">
                <a:solidFill>
                  <a:srgbClr val="242725"/>
                </a:solidFill>
                <a:latin typeface="Inter"/>
              </a:rPr>
              <a:t>implementasi</a:t>
            </a:r>
            <a:r>
              <a:rPr lang="en-US" sz="2800" dirty="0">
                <a:solidFill>
                  <a:srgbClr val="242725"/>
                </a:solidFill>
                <a:latin typeface="Inter"/>
              </a:rPr>
              <a:t> Virtual Local Area Network (VLAN) </a:t>
            </a:r>
            <a:r>
              <a:rPr lang="en-US" sz="2800" dirty="0" err="1">
                <a:solidFill>
                  <a:srgbClr val="242725"/>
                </a:solidFill>
                <a:latin typeface="Inter"/>
              </a:rPr>
              <a:t>dalam</a:t>
            </a:r>
            <a:r>
              <a:rPr lang="en-US" sz="2800" dirty="0">
                <a:solidFill>
                  <a:srgbClr val="242725"/>
                </a:solidFill>
                <a:latin typeface="Inter"/>
              </a:rPr>
              <a:t> </a:t>
            </a:r>
            <a:r>
              <a:rPr lang="en-US" sz="2800" dirty="0" err="1">
                <a:solidFill>
                  <a:srgbClr val="242725"/>
                </a:solidFill>
                <a:latin typeface="Inter"/>
              </a:rPr>
              <a:t>mengelola</a:t>
            </a:r>
            <a:r>
              <a:rPr lang="en-US" sz="2800" dirty="0">
                <a:solidFill>
                  <a:srgbClr val="242725"/>
                </a:solidFill>
                <a:latin typeface="Inter"/>
              </a:rPr>
              <a:t> </a:t>
            </a:r>
            <a:r>
              <a:rPr lang="en-US" sz="2800" dirty="0" err="1">
                <a:solidFill>
                  <a:srgbClr val="242725"/>
                </a:solidFill>
                <a:latin typeface="Inter"/>
              </a:rPr>
              <a:t>serta</a:t>
            </a:r>
            <a:r>
              <a:rPr lang="en-US" sz="2800" dirty="0">
                <a:solidFill>
                  <a:srgbClr val="242725"/>
                </a:solidFill>
                <a:latin typeface="Inter"/>
              </a:rPr>
              <a:t> </a:t>
            </a:r>
            <a:r>
              <a:rPr lang="en-US" sz="2800" dirty="0" err="1">
                <a:solidFill>
                  <a:srgbClr val="242725"/>
                </a:solidFill>
                <a:latin typeface="Inter"/>
              </a:rPr>
              <a:t>melakukan</a:t>
            </a:r>
            <a:r>
              <a:rPr lang="en-US" sz="2800" dirty="0">
                <a:solidFill>
                  <a:srgbClr val="242725"/>
                </a:solidFill>
                <a:latin typeface="Inter"/>
              </a:rPr>
              <a:t> </a:t>
            </a:r>
            <a:r>
              <a:rPr lang="en-US" sz="2800" dirty="0" err="1">
                <a:solidFill>
                  <a:srgbClr val="242725"/>
                </a:solidFill>
                <a:latin typeface="Inter"/>
              </a:rPr>
              <a:t>segmentasi</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di MIN 3 Pontianak.</a:t>
            </a:r>
          </a:p>
          <a:p>
            <a:pPr marL="514350" indent="-514350" algn="just">
              <a:lnSpc>
                <a:spcPct val="150000"/>
              </a:lnSpc>
              <a:buAutoNum type="arabicPeriod"/>
            </a:pPr>
            <a:r>
              <a:rPr lang="en-US" sz="2800" dirty="0" err="1">
                <a:solidFill>
                  <a:srgbClr val="242725"/>
                </a:solidFill>
                <a:latin typeface="Inter"/>
              </a:rPr>
              <a:t>Menguji</a:t>
            </a:r>
            <a:r>
              <a:rPr lang="en-US" sz="2800" dirty="0">
                <a:solidFill>
                  <a:srgbClr val="242725"/>
                </a:solidFill>
                <a:latin typeface="Inter"/>
              </a:rPr>
              <a:t> dan </a:t>
            </a:r>
            <a:r>
              <a:rPr lang="en-US" sz="2800" dirty="0" err="1">
                <a:solidFill>
                  <a:srgbClr val="242725"/>
                </a:solidFill>
                <a:latin typeface="Inter"/>
              </a:rPr>
              <a:t>menganalisis</a:t>
            </a:r>
            <a:r>
              <a:rPr lang="en-US" sz="2800" dirty="0">
                <a:solidFill>
                  <a:srgbClr val="242725"/>
                </a:solidFill>
                <a:latin typeface="Inter"/>
              </a:rPr>
              <a:t> </a:t>
            </a:r>
            <a:r>
              <a:rPr lang="en-US" sz="2800" dirty="0" err="1">
                <a:solidFill>
                  <a:srgbClr val="242725"/>
                </a:solidFill>
                <a:latin typeface="Inter"/>
              </a:rPr>
              <a:t>kualitas</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Virtual Local Area Network (VLAN) di MIN 3 Pontianak berdasarkan parameter Quality of Service (QoS) yang </a:t>
            </a:r>
            <a:r>
              <a:rPr lang="en-US" sz="2800" dirty="0" err="1">
                <a:solidFill>
                  <a:srgbClr val="242725"/>
                </a:solidFill>
                <a:latin typeface="Inter"/>
              </a:rPr>
              <a:t>meliputi</a:t>
            </a:r>
            <a:r>
              <a:rPr lang="en-US" sz="2800" dirty="0">
                <a:solidFill>
                  <a:srgbClr val="242725"/>
                </a:solidFill>
                <a:latin typeface="Inter"/>
              </a:rPr>
              <a:t> throughput, packet loss, delay, dan jitter, </a:t>
            </a:r>
            <a:r>
              <a:rPr lang="en-US" sz="2800" dirty="0" err="1">
                <a:solidFill>
                  <a:srgbClr val="242725"/>
                </a:solidFill>
                <a:latin typeface="Inter"/>
              </a:rPr>
              <a:t>serta</a:t>
            </a:r>
            <a:r>
              <a:rPr lang="en-US" sz="2800" dirty="0">
                <a:solidFill>
                  <a:srgbClr val="242725"/>
                </a:solidFill>
                <a:latin typeface="Inter"/>
              </a:rPr>
              <a:t> </a:t>
            </a:r>
            <a:r>
              <a:rPr lang="en-US" sz="2800" dirty="0" err="1">
                <a:solidFill>
                  <a:srgbClr val="242725"/>
                </a:solidFill>
                <a:latin typeface="Inter"/>
              </a:rPr>
              <a:t>menganalisis</a:t>
            </a:r>
            <a:r>
              <a:rPr lang="en-US" sz="2800" dirty="0">
                <a:solidFill>
                  <a:srgbClr val="242725"/>
                </a:solidFill>
                <a:latin typeface="Inter"/>
              </a:rPr>
              <a:t> </a:t>
            </a:r>
            <a:r>
              <a:rPr lang="en-US" sz="2800" dirty="0" err="1">
                <a:solidFill>
                  <a:srgbClr val="242725"/>
                </a:solidFill>
                <a:latin typeface="Inter"/>
              </a:rPr>
              <a:t>pengaruh</a:t>
            </a:r>
            <a:r>
              <a:rPr lang="en-US" sz="2800" dirty="0">
                <a:solidFill>
                  <a:srgbClr val="242725"/>
                </a:solidFill>
                <a:latin typeface="Inter"/>
              </a:rPr>
              <a:t> </a:t>
            </a:r>
            <a:r>
              <a:rPr lang="en-US" sz="2800" dirty="0" err="1">
                <a:solidFill>
                  <a:srgbClr val="242725"/>
                </a:solidFill>
                <a:latin typeface="Inter"/>
              </a:rPr>
              <a:t>penerapan</a:t>
            </a:r>
            <a:r>
              <a:rPr lang="en-US" sz="2800" dirty="0">
                <a:solidFill>
                  <a:srgbClr val="242725"/>
                </a:solidFill>
                <a:latin typeface="Inter"/>
              </a:rPr>
              <a:t> Simple Queue </a:t>
            </a:r>
            <a:r>
              <a:rPr lang="en-US" sz="2800" dirty="0" err="1">
                <a:solidFill>
                  <a:srgbClr val="242725"/>
                </a:solidFill>
                <a:latin typeface="Inter"/>
              </a:rPr>
              <a:t>terhadap</a:t>
            </a:r>
            <a:r>
              <a:rPr lang="en-US" sz="2800" dirty="0">
                <a:solidFill>
                  <a:srgbClr val="242725"/>
                </a:solidFill>
                <a:latin typeface="Inter"/>
              </a:rPr>
              <a:t> </a:t>
            </a:r>
            <a:r>
              <a:rPr lang="en-US" sz="2800" dirty="0" err="1">
                <a:solidFill>
                  <a:srgbClr val="242725"/>
                </a:solidFill>
                <a:latin typeface="Inter"/>
              </a:rPr>
              <a:t>kualitas</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yang </a:t>
            </a:r>
            <a:r>
              <a:rPr lang="en-US" sz="2800" dirty="0" err="1">
                <a:solidFill>
                  <a:srgbClr val="242725"/>
                </a:solidFill>
                <a:latin typeface="Inter"/>
              </a:rPr>
              <a:t>dihasilkan</a:t>
            </a:r>
            <a:r>
              <a:rPr lang="en-US" sz="2800" dirty="0">
                <a:solidFill>
                  <a:srgbClr val="242725"/>
                </a:solidFill>
                <a:latin typeface="Inter"/>
              </a:rPr>
              <a:t>.</a:t>
            </a:r>
          </a:p>
        </p:txBody>
      </p:sp>
      <p:pic>
        <p:nvPicPr>
          <p:cNvPr id="6" name="Picture 12">
            <a:extLst>
              <a:ext uri="{FF2B5EF4-FFF2-40B4-BE49-F238E27FC236}">
                <a16:creationId xmlns:a16="http://schemas.microsoft.com/office/drawing/2014/main" id="{926C8FC2-3C27-B4F5-4066-290AA919E1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3258800" y="1493519"/>
            <a:ext cx="4551325" cy="7406003"/>
          </a:xfrm>
          <a:prstGeom prst="rect">
            <a:avLst/>
          </a:prstGeom>
        </p:spPr>
      </p:pic>
      <p:grpSp>
        <p:nvGrpSpPr>
          <p:cNvPr id="9" name="Group 7">
            <a:extLst>
              <a:ext uri="{FF2B5EF4-FFF2-40B4-BE49-F238E27FC236}">
                <a16:creationId xmlns:a16="http://schemas.microsoft.com/office/drawing/2014/main" id="{EA7A3809-C749-84F0-7F60-D41EF30E862A}"/>
              </a:ext>
            </a:extLst>
          </p:cNvPr>
          <p:cNvGrpSpPr/>
          <p:nvPr/>
        </p:nvGrpSpPr>
        <p:grpSpPr>
          <a:xfrm>
            <a:off x="13832857" y="6841985"/>
            <a:ext cx="812410" cy="812410"/>
            <a:chOff x="0" y="0"/>
            <a:chExt cx="6350000" cy="6350000"/>
          </a:xfrm>
        </p:grpSpPr>
        <p:sp>
          <p:nvSpPr>
            <p:cNvPr id="10" name="Freeform 8">
              <a:extLst>
                <a:ext uri="{FF2B5EF4-FFF2-40B4-BE49-F238E27FC236}">
                  <a16:creationId xmlns:a16="http://schemas.microsoft.com/office/drawing/2014/main" id="{6680401D-49CE-4428-D950-A4EF2072FE52}"/>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spTree>
    <p:extLst>
      <p:ext uri="{BB962C8B-B14F-4D97-AF65-F5344CB8AC3E}">
        <p14:creationId xmlns:p14="http://schemas.microsoft.com/office/powerpoint/2010/main" val="1147578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1607848" y="1523690"/>
            <a:ext cx="5262429" cy="5262429"/>
            <a:chOff x="0" y="0"/>
            <a:chExt cx="6350000" cy="6350000"/>
          </a:xfrm>
        </p:grpSpPr>
        <p:sp>
          <p:nvSpPr>
            <p:cNvPr id="6"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7" name="Group 7"/>
          <p:cNvGrpSpPr/>
          <p:nvPr/>
        </p:nvGrpSpPr>
        <p:grpSpPr>
          <a:xfrm>
            <a:off x="13832857" y="6841985"/>
            <a:ext cx="812410" cy="812410"/>
            <a:chOff x="0" y="0"/>
            <a:chExt cx="6350000" cy="6350000"/>
          </a:xfrm>
        </p:grpSpPr>
        <p:sp>
          <p:nvSpPr>
            <p:cNvPr id="8" name="Freeform 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grpSp>
        <p:nvGrpSpPr>
          <p:cNvPr id="9" name="Group 9"/>
          <p:cNvGrpSpPr/>
          <p:nvPr/>
        </p:nvGrpSpPr>
        <p:grpSpPr>
          <a:xfrm>
            <a:off x="15058436" y="1328773"/>
            <a:ext cx="2912577" cy="2839113"/>
            <a:chOff x="0" y="0"/>
            <a:chExt cx="4589780" cy="4578350"/>
          </a:xfrm>
        </p:grpSpPr>
        <p:sp>
          <p:nvSpPr>
            <p:cNvPr id="10" name="Freeform 10"/>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1" name="Freeform 11"/>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3258800" y="1493519"/>
            <a:ext cx="4551325" cy="7406003"/>
          </a:xfrm>
          <a:prstGeom prst="rect">
            <a:avLst/>
          </a:prstGeom>
        </p:spPr>
      </p:pic>
      <p:sp>
        <p:nvSpPr>
          <p:cNvPr id="16" name="TextBox 2">
            <a:extLst>
              <a:ext uri="{FF2B5EF4-FFF2-40B4-BE49-F238E27FC236}">
                <a16:creationId xmlns:a16="http://schemas.microsoft.com/office/drawing/2014/main" id="{C777F002-DF29-4F7A-9C01-1A9F2AA31AC9}"/>
              </a:ext>
            </a:extLst>
          </p:cNvPr>
          <p:cNvSpPr txBox="1"/>
          <p:nvPr/>
        </p:nvSpPr>
        <p:spPr>
          <a:xfrm>
            <a:off x="1242683" y="1056264"/>
            <a:ext cx="10934700" cy="1140440"/>
          </a:xfrm>
          <a:prstGeom prst="rect">
            <a:avLst/>
          </a:prstGeom>
        </p:spPr>
        <p:txBody>
          <a:bodyPr wrap="square" lIns="0" tIns="0" rIns="0" bIns="0" rtlCol="0" anchor="t">
            <a:spAutoFit/>
          </a:bodyPr>
          <a:lstStyle/>
          <a:p>
            <a:pPr>
              <a:lnSpc>
                <a:spcPts val="9600"/>
              </a:lnSpc>
            </a:pPr>
            <a:r>
              <a:rPr lang="en-US" sz="6000" dirty="0">
                <a:solidFill>
                  <a:srgbClr val="242725"/>
                </a:solidFill>
                <a:latin typeface="Inter Bold"/>
              </a:rPr>
              <a:t>Manfaat Penelitian</a:t>
            </a:r>
          </a:p>
        </p:txBody>
      </p:sp>
      <p:sp>
        <p:nvSpPr>
          <p:cNvPr id="17" name="TextBox 4"/>
          <p:cNvSpPr txBox="1"/>
          <p:nvPr/>
        </p:nvSpPr>
        <p:spPr>
          <a:xfrm>
            <a:off x="1242683" y="2655571"/>
            <a:ext cx="12016117" cy="7678833"/>
          </a:xfrm>
          <a:prstGeom prst="rect">
            <a:avLst/>
          </a:prstGeom>
        </p:spPr>
        <p:txBody>
          <a:bodyPr wrap="square" lIns="0" tIns="0" rIns="0" bIns="0" rtlCol="0" anchor="t">
            <a:spAutoFit/>
          </a:bodyPr>
          <a:lstStyle/>
          <a:p>
            <a:pPr>
              <a:lnSpc>
                <a:spcPct val="150000"/>
              </a:lnSpc>
              <a:spcBef>
                <a:spcPct val="0"/>
              </a:spcBef>
            </a:pPr>
            <a:r>
              <a:rPr lang="en-US" sz="2800" dirty="0">
                <a:solidFill>
                  <a:srgbClr val="242725"/>
                </a:solidFill>
                <a:latin typeface="Inter"/>
              </a:rPr>
              <a:t>	Manfaat </a:t>
            </a:r>
            <a:r>
              <a:rPr lang="en-US" sz="2800" dirty="0" err="1">
                <a:solidFill>
                  <a:srgbClr val="242725"/>
                </a:solidFill>
                <a:latin typeface="Inter"/>
              </a:rPr>
              <a:t>untuk</a:t>
            </a:r>
            <a:r>
              <a:rPr lang="en-US" sz="2800" dirty="0">
                <a:solidFill>
                  <a:srgbClr val="242725"/>
                </a:solidFill>
                <a:latin typeface="Inter"/>
              </a:rPr>
              <a:t> </a:t>
            </a:r>
            <a:r>
              <a:rPr lang="en-US" sz="2800" dirty="0" err="1">
                <a:solidFill>
                  <a:srgbClr val="242725"/>
                </a:solidFill>
                <a:latin typeface="Inter"/>
              </a:rPr>
              <a:t>penulis</a:t>
            </a:r>
            <a:r>
              <a:rPr lang="en-US" sz="2800" dirty="0">
                <a:solidFill>
                  <a:srgbClr val="242725"/>
                </a:solidFill>
                <a:latin typeface="Inter"/>
              </a:rPr>
              <a:t>, </a:t>
            </a:r>
            <a:r>
              <a:rPr lang="en-US" sz="2800" dirty="0" err="1">
                <a:solidFill>
                  <a:srgbClr val="242725"/>
                </a:solidFill>
                <a:latin typeface="Inter"/>
              </a:rPr>
              <a:t>hasil</a:t>
            </a:r>
            <a:r>
              <a:rPr lang="en-US" sz="2800" dirty="0">
                <a:solidFill>
                  <a:srgbClr val="242725"/>
                </a:solidFill>
                <a:latin typeface="Inter"/>
              </a:rPr>
              <a:t> </a:t>
            </a:r>
            <a:r>
              <a:rPr lang="en-US" sz="2800" dirty="0" err="1">
                <a:solidFill>
                  <a:srgbClr val="242725"/>
                </a:solidFill>
                <a:latin typeface="Inter"/>
              </a:rPr>
              <a:t>penelitian</a:t>
            </a:r>
            <a:r>
              <a:rPr lang="en-US" sz="2800" dirty="0">
                <a:solidFill>
                  <a:srgbClr val="242725"/>
                </a:solidFill>
                <a:latin typeface="Inter"/>
              </a:rPr>
              <a:t> </a:t>
            </a:r>
            <a:r>
              <a:rPr lang="en-US" sz="2800" dirty="0" err="1">
                <a:solidFill>
                  <a:srgbClr val="242725"/>
                </a:solidFill>
                <a:latin typeface="Inter"/>
              </a:rPr>
              <a:t>ini</a:t>
            </a:r>
            <a:r>
              <a:rPr lang="en-US" sz="2800" dirty="0">
                <a:solidFill>
                  <a:srgbClr val="242725"/>
                </a:solidFill>
                <a:latin typeface="Inter"/>
              </a:rPr>
              <a:t> </a:t>
            </a:r>
            <a:r>
              <a:rPr lang="en-US" sz="2800" dirty="0" err="1">
                <a:solidFill>
                  <a:srgbClr val="242725"/>
                </a:solidFill>
                <a:latin typeface="Inter"/>
              </a:rPr>
              <a:t>diharapkan</a:t>
            </a:r>
            <a:r>
              <a:rPr lang="en-US" sz="2800" dirty="0">
                <a:solidFill>
                  <a:srgbClr val="242725"/>
                </a:solidFill>
                <a:latin typeface="Inter"/>
              </a:rPr>
              <a:t> </a:t>
            </a:r>
            <a:r>
              <a:rPr lang="en-US" sz="2800" dirty="0" err="1">
                <a:solidFill>
                  <a:srgbClr val="242725"/>
                </a:solidFill>
                <a:latin typeface="Inter"/>
              </a:rPr>
              <a:t>dapat</a:t>
            </a:r>
            <a:r>
              <a:rPr lang="en-US" sz="2800" dirty="0">
                <a:solidFill>
                  <a:srgbClr val="242725"/>
                </a:solidFill>
                <a:latin typeface="Inter"/>
              </a:rPr>
              <a:t> </a:t>
            </a:r>
            <a:r>
              <a:rPr lang="en-US" sz="2800" dirty="0" err="1">
                <a:solidFill>
                  <a:srgbClr val="242725"/>
                </a:solidFill>
                <a:latin typeface="Inter"/>
              </a:rPr>
              <a:t>menambah</a:t>
            </a:r>
            <a:r>
              <a:rPr lang="en-US" sz="2800" dirty="0">
                <a:solidFill>
                  <a:srgbClr val="242725"/>
                </a:solidFill>
                <a:latin typeface="Inter"/>
              </a:rPr>
              <a:t> dan </a:t>
            </a:r>
            <a:r>
              <a:rPr lang="en-US" sz="2800" dirty="0" err="1">
                <a:solidFill>
                  <a:srgbClr val="242725"/>
                </a:solidFill>
                <a:latin typeface="Inter"/>
              </a:rPr>
              <a:t>meningkatkan</a:t>
            </a:r>
            <a:r>
              <a:rPr lang="en-US" sz="2800" dirty="0">
                <a:solidFill>
                  <a:srgbClr val="242725"/>
                </a:solidFill>
                <a:latin typeface="Inter"/>
              </a:rPr>
              <a:t> </a:t>
            </a:r>
            <a:r>
              <a:rPr lang="en-US" sz="2800" dirty="0" err="1">
                <a:solidFill>
                  <a:srgbClr val="242725"/>
                </a:solidFill>
                <a:latin typeface="Inter"/>
              </a:rPr>
              <a:t>pengetahuan</a:t>
            </a:r>
            <a:r>
              <a:rPr lang="en-US" sz="2800" dirty="0">
                <a:solidFill>
                  <a:srgbClr val="242725"/>
                </a:solidFill>
                <a:latin typeface="Inter"/>
              </a:rPr>
              <a:t> dan </a:t>
            </a:r>
            <a:r>
              <a:rPr lang="en-US" sz="2800" dirty="0" err="1">
                <a:solidFill>
                  <a:srgbClr val="242725"/>
                </a:solidFill>
                <a:latin typeface="Inter"/>
              </a:rPr>
              <a:t>pengalaman</a:t>
            </a:r>
            <a:r>
              <a:rPr lang="en-US" sz="2800" dirty="0">
                <a:solidFill>
                  <a:srgbClr val="242725"/>
                </a:solidFill>
                <a:latin typeface="Inter"/>
              </a:rPr>
              <a:t> </a:t>
            </a:r>
            <a:r>
              <a:rPr lang="en-US" sz="2800" dirty="0" err="1">
                <a:solidFill>
                  <a:srgbClr val="242725"/>
                </a:solidFill>
                <a:latin typeface="Inter"/>
              </a:rPr>
              <a:t>penulis</a:t>
            </a:r>
            <a:r>
              <a:rPr lang="en-US" sz="2800" dirty="0">
                <a:solidFill>
                  <a:srgbClr val="242725"/>
                </a:solidFill>
                <a:latin typeface="Inter"/>
              </a:rPr>
              <a:t> </a:t>
            </a:r>
            <a:r>
              <a:rPr lang="en-US" sz="2800" dirty="0" err="1">
                <a:solidFill>
                  <a:srgbClr val="242725"/>
                </a:solidFill>
                <a:latin typeface="Inter"/>
              </a:rPr>
              <a:t>tentang</a:t>
            </a:r>
            <a:r>
              <a:rPr lang="en-US" sz="2800" dirty="0">
                <a:solidFill>
                  <a:srgbClr val="242725"/>
                </a:solidFill>
                <a:latin typeface="Inter"/>
              </a:rPr>
              <a:t> Implementasi VLAN </a:t>
            </a:r>
            <a:r>
              <a:rPr lang="en-US" sz="2800" dirty="0" err="1">
                <a:solidFill>
                  <a:srgbClr val="242725"/>
                </a:solidFill>
                <a:latin typeface="Inter"/>
              </a:rPr>
              <a:t>Untuk</a:t>
            </a:r>
            <a:r>
              <a:rPr lang="en-US" sz="2800" dirty="0">
                <a:solidFill>
                  <a:srgbClr val="242725"/>
                </a:solidFill>
                <a:latin typeface="Inter"/>
              </a:rPr>
              <a:t> </a:t>
            </a:r>
            <a:r>
              <a:rPr lang="en-US" sz="2800" dirty="0" err="1">
                <a:solidFill>
                  <a:srgbClr val="242725"/>
                </a:solidFill>
                <a:latin typeface="Inter"/>
              </a:rPr>
              <a:t>Optimasi</a:t>
            </a:r>
            <a:r>
              <a:rPr lang="en-US" sz="2800" dirty="0">
                <a:solidFill>
                  <a:srgbClr val="242725"/>
                </a:solidFill>
                <a:latin typeface="Inter"/>
              </a:rPr>
              <a:t> Quality Of Service (QoS) </a:t>
            </a:r>
            <a:r>
              <a:rPr lang="en-US" sz="2800" dirty="0" err="1">
                <a:solidFill>
                  <a:srgbClr val="242725"/>
                </a:solidFill>
                <a:latin typeface="Inter"/>
              </a:rPr>
              <a:t>Jaringan</a:t>
            </a:r>
            <a:r>
              <a:rPr lang="en-US" sz="2800" dirty="0">
                <a:solidFill>
                  <a:srgbClr val="242725"/>
                </a:solidFill>
                <a:latin typeface="Inter"/>
              </a:rPr>
              <a:t> Pada MIN 3 Pontianak</a:t>
            </a:r>
          </a:p>
          <a:p>
            <a:pPr>
              <a:lnSpc>
                <a:spcPct val="150000"/>
              </a:lnSpc>
              <a:spcBef>
                <a:spcPct val="0"/>
              </a:spcBef>
            </a:pPr>
            <a:r>
              <a:rPr lang="en-US" sz="2800" dirty="0">
                <a:solidFill>
                  <a:srgbClr val="242725"/>
                </a:solidFill>
                <a:latin typeface="Inter"/>
              </a:rPr>
              <a:t>	Manfaat </a:t>
            </a:r>
            <a:r>
              <a:rPr lang="en-US" sz="2800" dirty="0" err="1">
                <a:solidFill>
                  <a:srgbClr val="242725"/>
                </a:solidFill>
                <a:latin typeface="Inter"/>
              </a:rPr>
              <a:t>untuk</a:t>
            </a:r>
            <a:r>
              <a:rPr lang="en-US" sz="2800" dirty="0">
                <a:solidFill>
                  <a:srgbClr val="242725"/>
                </a:solidFill>
                <a:latin typeface="Inter"/>
              </a:rPr>
              <a:t> MIN 3 Pontianak, Penelitian </a:t>
            </a:r>
            <a:r>
              <a:rPr lang="en-US" sz="2800" dirty="0" err="1">
                <a:solidFill>
                  <a:srgbClr val="242725"/>
                </a:solidFill>
                <a:latin typeface="Inter"/>
              </a:rPr>
              <a:t>ini</a:t>
            </a:r>
            <a:r>
              <a:rPr lang="en-US" sz="2800" dirty="0">
                <a:solidFill>
                  <a:srgbClr val="242725"/>
                </a:solidFill>
                <a:latin typeface="Inter"/>
              </a:rPr>
              <a:t> </a:t>
            </a:r>
            <a:r>
              <a:rPr lang="en-US" sz="2800" dirty="0" err="1">
                <a:solidFill>
                  <a:srgbClr val="242725"/>
                </a:solidFill>
                <a:latin typeface="Inter"/>
              </a:rPr>
              <a:t>dapat</a:t>
            </a:r>
            <a:r>
              <a:rPr lang="en-US" sz="2800" dirty="0">
                <a:solidFill>
                  <a:srgbClr val="242725"/>
                </a:solidFill>
                <a:latin typeface="Inter"/>
              </a:rPr>
              <a:t> </a:t>
            </a:r>
            <a:r>
              <a:rPr lang="en-US" sz="2800" dirty="0" err="1">
                <a:solidFill>
                  <a:srgbClr val="242725"/>
                </a:solidFill>
                <a:latin typeface="Inter"/>
              </a:rPr>
              <a:t>memberikan</a:t>
            </a:r>
            <a:r>
              <a:rPr lang="en-US" sz="2800" dirty="0">
                <a:solidFill>
                  <a:srgbClr val="242725"/>
                </a:solidFill>
                <a:latin typeface="Inter"/>
              </a:rPr>
              <a:t> </a:t>
            </a:r>
            <a:r>
              <a:rPr lang="en-US" sz="2800" dirty="0" err="1">
                <a:solidFill>
                  <a:srgbClr val="242725"/>
                </a:solidFill>
                <a:latin typeface="Inter"/>
              </a:rPr>
              <a:t>dampak</a:t>
            </a:r>
            <a:r>
              <a:rPr lang="en-US" sz="2800" dirty="0">
                <a:solidFill>
                  <a:srgbClr val="242725"/>
                </a:solidFill>
                <a:latin typeface="Inter"/>
              </a:rPr>
              <a:t> </a:t>
            </a:r>
            <a:r>
              <a:rPr lang="en-US" sz="2800" dirty="0" err="1">
                <a:solidFill>
                  <a:srgbClr val="242725"/>
                </a:solidFill>
                <a:latin typeface="Inter"/>
              </a:rPr>
              <a:t>positif</a:t>
            </a:r>
            <a:r>
              <a:rPr lang="en-US" sz="2800" dirty="0">
                <a:solidFill>
                  <a:srgbClr val="242725"/>
                </a:solidFill>
                <a:latin typeface="Inter"/>
              </a:rPr>
              <a:t> yang </a:t>
            </a:r>
            <a:r>
              <a:rPr lang="en-US" sz="2800" dirty="0" err="1">
                <a:solidFill>
                  <a:srgbClr val="242725"/>
                </a:solidFill>
                <a:latin typeface="Inter"/>
              </a:rPr>
              <a:t>signifikan</a:t>
            </a:r>
            <a:r>
              <a:rPr lang="en-US" sz="2800" dirty="0">
                <a:solidFill>
                  <a:srgbClr val="242725"/>
                </a:solidFill>
                <a:latin typeface="Inter"/>
              </a:rPr>
              <a:t> </a:t>
            </a:r>
            <a:r>
              <a:rPr lang="en-US" sz="2800" dirty="0" err="1">
                <a:solidFill>
                  <a:srgbClr val="242725"/>
                </a:solidFill>
                <a:latin typeface="Inter"/>
              </a:rPr>
              <a:t>terhadap</a:t>
            </a:r>
            <a:r>
              <a:rPr lang="en-US" sz="2800" dirty="0">
                <a:solidFill>
                  <a:srgbClr val="242725"/>
                </a:solidFill>
                <a:latin typeface="Inter"/>
              </a:rPr>
              <a:t> MIN 3 Pontianak </a:t>
            </a:r>
            <a:r>
              <a:rPr lang="en-US" sz="2800" dirty="0" err="1">
                <a:solidFill>
                  <a:srgbClr val="242725"/>
                </a:solidFill>
                <a:latin typeface="Inter"/>
              </a:rPr>
              <a:t>dalam</a:t>
            </a:r>
            <a:r>
              <a:rPr lang="en-US" sz="2800" dirty="0">
                <a:solidFill>
                  <a:srgbClr val="242725"/>
                </a:solidFill>
                <a:latin typeface="Inter"/>
              </a:rPr>
              <a:t> </a:t>
            </a:r>
            <a:r>
              <a:rPr lang="en-US" sz="2800" dirty="0" err="1">
                <a:solidFill>
                  <a:srgbClr val="242725"/>
                </a:solidFill>
                <a:latin typeface="Inter"/>
              </a:rPr>
              <a:t>hal</a:t>
            </a:r>
            <a:r>
              <a:rPr lang="en-US" sz="2800" dirty="0">
                <a:solidFill>
                  <a:srgbClr val="242725"/>
                </a:solidFill>
                <a:latin typeface="Inter"/>
              </a:rPr>
              <a:t> </a:t>
            </a:r>
            <a:r>
              <a:rPr lang="en-US" sz="2800" dirty="0" err="1">
                <a:solidFill>
                  <a:srgbClr val="242725"/>
                </a:solidFill>
                <a:latin typeface="Inter"/>
              </a:rPr>
              <a:t>kualitas</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a:t>
            </a:r>
            <a:r>
              <a:rPr lang="en-US" sz="2800" dirty="0" err="1">
                <a:solidFill>
                  <a:srgbClr val="242725"/>
                </a:solidFill>
                <a:latin typeface="Inter"/>
              </a:rPr>
              <a:t>keamanan</a:t>
            </a:r>
            <a:r>
              <a:rPr lang="en-US" sz="2800" dirty="0">
                <a:solidFill>
                  <a:srgbClr val="242725"/>
                </a:solidFill>
                <a:latin typeface="Inter"/>
              </a:rPr>
              <a:t>, </a:t>
            </a:r>
            <a:r>
              <a:rPr lang="en-US" sz="2800" dirty="0" err="1">
                <a:solidFill>
                  <a:srgbClr val="242725"/>
                </a:solidFill>
                <a:latin typeface="Inter"/>
              </a:rPr>
              <a:t>efisiensi</a:t>
            </a:r>
            <a:r>
              <a:rPr lang="en-US" sz="2800" dirty="0">
                <a:solidFill>
                  <a:srgbClr val="242725"/>
                </a:solidFill>
                <a:latin typeface="Inter"/>
              </a:rPr>
              <a:t>, dan </a:t>
            </a:r>
            <a:r>
              <a:rPr lang="en-US" sz="2800" dirty="0" err="1">
                <a:solidFill>
                  <a:srgbClr val="242725"/>
                </a:solidFill>
                <a:latin typeface="Inter"/>
              </a:rPr>
              <a:t>pengalaman</a:t>
            </a:r>
            <a:r>
              <a:rPr lang="en-US" sz="2800" dirty="0">
                <a:solidFill>
                  <a:srgbClr val="242725"/>
                </a:solidFill>
                <a:latin typeface="Inter"/>
              </a:rPr>
              <a:t> </a:t>
            </a:r>
            <a:r>
              <a:rPr lang="en-US" sz="2800" dirty="0" err="1">
                <a:solidFill>
                  <a:srgbClr val="242725"/>
                </a:solidFill>
                <a:latin typeface="Inter"/>
              </a:rPr>
              <a:t>pengguna</a:t>
            </a:r>
            <a:endParaRPr lang="en-US" sz="2800" dirty="0">
              <a:solidFill>
                <a:srgbClr val="242725"/>
              </a:solidFill>
              <a:latin typeface="Inter"/>
            </a:endParaRPr>
          </a:p>
          <a:p>
            <a:pPr>
              <a:lnSpc>
                <a:spcPct val="150000"/>
              </a:lnSpc>
              <a:spcBef>
                <a:spcPct val="0"/>
              </a:spcBef>
            </a:pPr>
            <a:r>
              <a:rPr lang="en-US" sz="2800" dirty="0">
                <a:solidFill>
                  <a:srgbClr val="242725"/>
                </a:solidFill>
                <a:latin typeface="Inter"/>
              </a:rPr>
              <a:t>	Manfaat </a:t>
            </a:r>
            <a:r>
              <a:rPr lang="en-US" sz="2800" dirty="0" err="1">
                <a:solidFill>
                  <a:srgbClr val="242725"/>
                </a:solidFill>
                <a:latin typeface="Inter"/>
              </a:rPr>
              <a:t>untuk</a:t>
            </a:r>
            <a:r>
              <a:rPr lang="en-US" sz="2800" dirty="0">
                <a:solidFill>
                  <a:srgbClr val="242725"/>
                </a:solidFill>
                <a:latin typeface="Inter"/>
              </a:rPr>
              <a:t> Universitas, Penelitian Implementasi VLAN </a:t>
            </a:r>
            <a:r>
              <a:rPr lang="en-US" sz="2800" dirty="0" err="1">
                <a:solidFill>
                  <a:srgbClr val="242725"/>
                </a:solidFill>
                <a:latin typeface="Inter"/>
              </a:rPr>
              <a:t>untuk</a:t>
            </a:r>
            <a:r>
              <a:rPr lang="en-US" sz="2800" dirty="0">
                <a:solidFill>
                  <a:srgbClr val="242725"/>
                </a:solidFill>
                <a:latin typeface="Inter"/>
              </a:rPr>
              <a:t> </a:t>
            </a:r>
            <a:r>
              <a:rPr lang="en-US" sz="2800" dirty="0" err="1">
                <a:solidFill>
                  <a:srgbClr val="242725"/>
                </a:solidFill>
                <a:latin typeface="Inter"/>
              </a:rPr>
              <a:t>Optimasi</a:t>
            </a:r>
            <a:r>
              <a:rPr lang="en-US" sz="2800" dirty="0">
                <a:solidFill>
                  <a:srgbClr val="242725"/>
                </a:solidFill>
                <a:latin typeface="Inter"/>
              </a:rPr>
              <a:t> Quality of Service (QoS) </a:t>
            </a:r>
            <a:r>
              <a:rPr lang="en-US" sz="2800" dirty="0" err="1">
                <a:solidFill>
                  <a:srgbClr val="242725"/>
                </a:solidFill>
                <a:latin typeface="Inter"/>
              </a:rPr>
              <a:t>Jaringan</a:t>
            </a:r>
            <a:r>
              <a:rPr lang="en-US" sz="2800" dirty="0">
                <a:solidFill>
                  <a:srgbClr val="242725"/>
                </a:solidFill>
                <a:latin typeface="Inter"/>
              </a:rPr>
              <a:t> pada MIN 3 Pontianak </a:t>
            </a:r>
            <a:r>
              <a:rPr lang="en-US" sz="2800" dirty="0" err="1">
                <a:solidFill>
                  <a:srgbClr val="242725"/>
                </a:solidFill>
                <a:latin typeface="Inter"/>
              </a:rPr>
              <a:t>memberikan</a:t>
            </a:r>
            <a:r>
              <a:rPr lang="en-US" sz="2800" dirty="0">
                <a:solidFill>
                  <a:srgbClr val="242725"/>
                </a:solidFill>
                <a:latin typeface="Inter"/>
              </a:rPr>
              <a:t> </a:t>
            </a:r>
            <a:r>
              <a:rPr lang="en-US" sz="2800" dirty="0" err="1">
                <a:solidFill>
                  <a:srgbClr val="242725"/>
                </a:solidFill>
                <a:latin typeface="Inter"/>
              </a:rPr>
              <a:t>manfaat</a:t>
            </a:r>
            <a:r>
              <a:rPr lang="en-US" sz="2800" dirty="0">
                <a:solidFill>
                  <a:srgbClr val="242725"/>
                </a:solidFill>
                <a:latin typeface="Inter"/>
              </a:rPr>
              <a:t> </a:t>
            </a:r>
            <a:r>
              <a:rPr lang="en-US" sz="2800" dirty="0" err="1">
                <a:solidFill>
                  <a:srgbClr val="242725"/>
                </a:solidFill>
                <a:latin typeface="Inter"/>
              </a:rPr>
              <a:t>bagi</a:t>
            </a:r>
            <a:r>
              <a:rPr lang="en-US" sz="2800" dirty="0">
                <a:solidFill>
                  <a:srgbClr val="242725"/>
                </a:solidFill>
                <a:latin typeface="Inter"/>
              </a:rPr>
              <a:t> </a:t>
            </a:r>
            <a:r>
              <a:rPr lang="en-US" sz="2800" dirty="0" err="1">
                <a:solidFill>
                  <a:srgbClr val="242725"/>
                </a:solidFill>
                <a:latin typeface="Inter"/>
              </a:rPr>
              <a:t>Kampus</a:t>
            </a:r>
            <a:r>
              <a:rPr lang="en-US" sz="2800" dirty="0">
                <a:solidFill>
                  <a:srgbClr val="242725"/>
                </a:solidFill>
                <a:latin typeface="Inter"/>
              </a:rPr>
              <a:t> </a:t>
            </a:r>
            <a:r>
              <a:rPr lang="en-US" sz="2800" dirty="0" err="1">
                <a:solidFill>
                  <a:srgbClr val="242725"/>
                </a:solidFill>
                <a:latin typeface="Inter"/>
              </a:rPr>
              <a:t>sebagai</a:t>
            </a:r>
            <a:r>
              <a:rPr lang="en-US" sz="2800" dirty="0">
                <a:solidFill>
                  <a:srgbClr val="242725"/>
                </a:solidFill>
                <a:latin typeface="Inter"/>
              </a:rPr>
              <a:t> </a:t>
            </a:r>
            <a:r>
              <a:rPr lang="en-US" sz="2800" dirty="0" err="1">
                <a:solidFill>
                  <a:srgbClr val="242725"/>
                </a:solidFill>
                <a:latin typeface="Inter"/>
              </a:rPr>
              <a:t>bentuk</a:t>
            </a:r>
            <a:r>
              <a:rPr lang="en-US" sz="2800" dirty="0">
                <a:solidFill>
                  <a:srgbClr val="242725"/>
                </a:solidFill>
                <a:latin typeface="Inter"/>
              </a:rPr>
              <a:t> </a:t>
            </a:r>
            <a:r>
              <a:rPr lang="en-US" sz="2800" dirty="0" err="1">
                <a:solidFill>
                  <a:srgbClr val="242725"/>
                </a:solidFill>
                <a:latin typeface="Inter"/>
              </a:rPr>
              <a:t>kontribusi</a:t>
            </a:r>
            <a:r>
              <a:rPr lang="en-US" sz="2800" dirty="0">
                <a:solidFill>
                  <a:srgbClr val="242725"/>
                </a:solidFill>
                <a:latin typeface="Inter"/>
              </a:rPr>
              <a:t> </a:t>
            </a:r>
            <a:r>
              <a:rPr lang="en-US" sz="2800" dirty="0" err="1">
                <a:solidFill>
                  <a:srgbClr val="242725"/>
                </a:solidFill>
                <a:latin typeface="Inter"/>
              </a:rPr>
              <a:t>nyata</a:t>
            </a:r>
            <a:r>
              <a:rPr lang="en-US" sz="2800" dirty="0">
                <a:solidFill>
                  <a:srgbClr val="242725"/>
                </a:solidFill>
                <a:latin typeface="Inter"/>
              </a:rPr>
              <a:t> </a:t>
            </a:r>
            <a:r>
              <a:rPr lang="en-US" sz="2800" dirty="0" err="1">
                <a:solidFill>
                  <a:srgbClr val="242725"/>
                </a:solidFill>
                <a:latin typeface="Inter"/>
              </a:rPr>
              <a:t>dalam</a:t>
            </a:r>
            <a:r>
              <a:rPr lang="en-US" sz="2800" dirty="0">
                <a:solidFill>
                  <a:srgbClr val="242725"/>
                </a:solidFill>
                <a:latin typeface="Inter"/>
              </a:rPr>
              <a:t> </a:t>
            </a:r>
            <a:r>
              <a:rPr lang="en-US" sz="2800" dirty="0" err="1">
                <a:solidFill>
                  <a:srgbClr val="242725"/>
                </a:solidFill>
                <a:latin typeface="Inter"/>
              </a:rPr>
              <a:t>penelitian</a:t>
            </a:r>
            <a:r>
              <a:rPr lang="en-US" sz="2800" dirty="0">
                <a:solidFill>
                  <a:srgbClr val="242725"/>
                </a:solidFill>
                <a:latin typeface="Inter"/>
              </a:rPr>
              <a:t> </a:t>
            </a:r>
            <a:r>
              <a:rPr lang="en-US" sz="2800" dirty="0" err="1">
                <a:solidFill>
                  <a:srgbClr val="242725"/>
                </a:solidFill>
                <a:latin typeface="Inter"/>
              </a:rPr>
              <a:t>terapan</a:t>
            </a:r>
            <a:r>
              <a:rPr lang="en-US" sz="2800" dirty="0">
                <a:solidFill>
                  <a:srgbClr val="242725"/>
                </a:solidFill>
                <a:latin typeface="Inter"/>
              </a:rPr>
              <a:t> di </a:t>
            </a:r>
            <a:r>
              <a:rPr lang="en-US" sz="2800" dirty="0" err="1">
                <a:solidFill>
                  <a:srgbClr val="242725"/>
                </a:solidFill>
                <a:latin typeface="Inter"/>
              </a:rPr>
              <a:t>bidang</a:t>
            </a:r>
            <a:r>
              <a:rPr lang="en-US" sz="2800" dirty="0">
                <a:solidFill>
                  <a:srgbClr val="242725"/>
                </a:solidFill>
                <a:latin typeface="Inter"/>
              </a:rPr>
              <a:t> </a:t>
            </a:r>
            <a:r>
              <a:rPr lang="en-US" sz="2800" dirty="0" err="1">
                <a:solidFill>
                  <a:srgbClr val="242725"/>
                </a:solidFill>
                <a:latin typeface="Inter"/>
              </a:rPr>
              <a:t>jaringan</a:t>
            </a:r>
            <a:r>
              <a:rPr lang="en-US" sz="2800" dirty="0">
                <a:solidFill>
                  <a:srgbClr val="242725"/>
                </a:solidFill>
                <a:latin typeface="Inter"/>
              </a:rPr>
              <a:t> </a:t>
            </a:r>
            <a:r>
              <a:rPr lang="en-US" sz="2800" dirty="0" err="1">
                <a:solidFill>
                  <a:srgbClr val="242725"/>
                </a:solidFill>
                <a:latin typeface="Inter"/>
              </a:rPr>
              <a:t>komputer</a:t>
            </a:r>
            <a:r>
              <a:rPr lang="en-US" sz="2800" dirty="0">
                <a:solidFill>
                  <a:srgbClr val="242725"/>
                </a:solidFill>
                <a:latin typeface="Inter"/>
              </a:rPr>
              <a:t>.</a:t>
            </a:r>
          </a:p>
          <a:p>
            <a:pPr>
              <a:lnSpc>
                <a:spcPct val="150000"/>
              </a:lnSpc>
              <a:spcBef>
                <a:spcPct val="0"/>
              </a:spcBef>
            </a:pPr>
            <a:endParaRPr lang="en-US" sz="2800" dirty="0">
              <a:solidFill>
                <a:srgbClr val="242725"/>
              </a:solidFill>
              <a:latin typeface="Inter"/>
            </a:endParaRPr>
          </a:p>
        </p:txBody>
      </p:sp>
      <p:sp>
        <p:nvSpPr>
          <p:cNvPr id="2" name="TextBox 6">
            <a:extLst>
              <a:ext uri="{FF2B5EF4-FFF2-40B4-BE49-F238E27FC236}">
                <a16:creationId xmlns:a16="http://schemas.microsoft.com/office/drawing/2014/main" id="{A47F500A-80C1-B7B3-8725-97ADD152EC0D}"/>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10</a:t>
            </a:r>
          </a:p>
        </p:txBody>
      </p:sp>
    </p:spTree>
    <p:extLst>
      <p:ext uri="{BB962C8B-B14F-4D97-AF65-F5344CB8AC3E}">
        <p14:creationId xmlns:p14="http://schemas.microsoft.com/office/powerpoint/2010/main" val="3212840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87966" y="635116"/>
            <a:ext cx="7696580" cy="1086131"/>
          </a:xfrm>
          <a:prstGeom prst="rect">
            <a:avLst/>
          </a:prstGeom>
        </p:spPr>
        <p:txBody>
          <a:bodyPr wrap="square" lIns="0" tIns="0" rIns="0" bIns="0" rtlCol="0" anchor="t">
            <a:spAutoFit/>
          </a:bodyPr>
          <a:lstStyle/>
          <a:p>
            <a:pPr>
              <a:lnSpc>
                <a:spcPts val="9600"/>
              </a:lnSpc>
            </a:pPr>
            <a:r>
              <a:rPr lang="en-US" sz="5400" dirty="0" err="1">
                <a:solidFill>
                  <a:srgbClr val="242725"/>
                </a:solidFill>
                <a:latin typeface="Inter Bold"/>
              </a:rPr>
              <a:t>Metodologi</a:t>
            </a:r>
            <a:r>
              <a:rPr lang="en-US" sz="5400" dirty="0">
                <a:solidFill>
                  <a:srgbClr val="242725"/>
                </a:solidFill>
                <a:latin typeface="Inter Bold"/>
              </a:rPr>
              <a:t> Penelitian</a:t>
            </a:r>
          </a:p>
        </p:txBody>
      </p:sp>
      <p:grpSp>
        <p:nvGrpSpPr>
          <p:cNvPr id="6" name="Group 6"/>
          <p:cNvGrpSpPr/>
          <p:nvPr/>
        </p:nvGrpSpPr>
        <p:grpSpPr>
          <a:xfrm>
            <a:off x="-2416867" y="816066"/>
            <a:ext cx="5801825" cy="5801825"/>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979252" y="1028699"/>
            <a:ext cx="3231988" cy="8229600"/>
          </a:xfrm>
          <a:prstGeom prst="rect">
            <a:avLst/>
          </a:prstGeom>
        </p:spPr>
      </p:pic>
      <p:grpSp>
        <p:nvGrpSpPr>
          <p:cNvPr id="9" name="Group 9"/>
          <p:cNvGrpSpPr/>
          <p:nvPr/>
        </p:nvGrpSpPr>
        <p:grpSpPr>
          <a:xfrm>
            <a:off x="4720406" y="6023396"/>
            <a:ext cx="956892" cy="95689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7" name="Group 17"/>
          <p:cNvGrpSpPr/>
          <p:nvPr/>
        </p:nvGrpSpPr>
        <p:grpSpPr>
          <a:xfrm>
            <a:off x="16170802" y="-958824"/>
            <a:ext cx="2883307" cy="2883307"/>
            <a:chOff x="0" y="0"/>
            <a:chExt cx="6350000" cy="6350000"/>
          </a:xfrm>
        </p:grpSpPr>
        <p:sp>
          <p:nvSpPr>
            <p:cNvPr id="18" name="Freeform 1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9" name="Group 19"/>
          <p:cNvGrpSpPr/>
          <p:nvPr/>
        </p:nvGrpSpPr>
        <p:grpSpPr>
          <a:xfrm>
            <a:off x="14714514" y="504926"/>
            <a:ext cx="2912577" cy="2839113"/>
            <a:chOff x="0" y="0"/>
            <a:chExt cx="4589780" cy="4578350"/>
          </a:xfrm>
        </p:grpSpPr>
        <p:sp>
          <p:nvSpPr>
            <p:cNvPr id="20" name="Freeform 20"/>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1" name="Freeform 21"/>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22" name="Group 22"/>
          <p:cNvGrpSpPr/>
          <p:nvPr/>
        </p:nvGrpSpPr>
        <p:grpSpPr>
          <a:xfrm>
            <a:off x="-868657" y="2304387"/>
            <a:ext cx="2912577" cy="2839113"/>
            <a:chOff x="0" y="0"/>
            <a:chExt cx="4589780" cy="4578350"/>
          </a:xfrm>
        </p:grpSpPr>
        <p:sp>
          <p:nvSpPr>
            <p:cNvPr id="23" name="Freeform 23"/>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4" name="Freeform 24"/>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5" name="Google Shape;503;p8">
            <a:extLst>
              <a:ext uri="{FF2B5EF4-FFF2-40B4-BE49-F238E27FC236}">
                <a16:creationId xmlns:a16="http://schemas.microsoft.com/office/drawing/2014/main" id="{BB5F8905-CE26-41D9-BC4B-FF3B097C667B}"/>
              </a:ext>
            </a:extLst>
          </p:cNvPr>
          <p:cNvSpPr txBox="1"/>
          <p:nvPr/>
        </p:nvSpPr>
        <p:spPr>
          <a:xfrm flipH="1">
            <a:off x="4538470" y="1848722"/>
            <a:ext cx="13749530" cy="1865086"/>
          </a:xfrm>
          <a:prstGeom prst="rect">
            <a:avLst/>
          </a:prstGeom>
          <a:noFill/>
          <a:ln>
            <a:noFill/>
          </a:ln>
        </p:spPr>
        <p:txBody>
          <a:bodyPr spcFirstLastPara="1" wrap="square" lIns="91425" tIns="45700" rIns="91425" bIns="45700" anchor="t" anchorCtr="0">
            <a:spAutoFit/>
          </a:bodyPr>
          <a:lstStyle/>
          <a:p>
            <a:pPr lvl="0" algn="just">
              <a:lnSpc>
                <a:spcPct val="120000"/>
              </a:lnSpc>
            </a:pP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Dalam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sebuah</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penelitian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dibutuhkan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gambaran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alur</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proses yang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jelas</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mulai</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dari</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tahap</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awal</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hingga</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tahap</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akhir</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agar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setiap</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tahapan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dalam</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pelaksanaan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penelitian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dapat</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berjalan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secara</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terstruktur</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dan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sistematis</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Oleh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karena</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itu</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berikut</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disajikan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tahapan-tahapan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yang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akan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digunakan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dalam</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penelitian</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400" dirty="0" err="1">
                <a:solidFill>
                  <a:schemeClr val="tx1">
                    <a:lumMod val="95000"/>
                    <a:lumOff val="5000"/>
                  </a:schemeClr>
                </a:solidFill>
                <a:latin typeface="Inter" panose="020B0604020202020204" charset="0"/>
                <a:ea typeface="Inter" panose="020B0604020202020204" charset="0"/>
                <a:cs typeface="Roboto Light"/>
                <a:sym typeface="Roboto Light"/>
              </a:rPr>
              <a:t>ini</a:t>
            </a:r>
            <a:r>
              <a:rPr lang="en-US" sz="2400" dirty="0">
                <a:solidFill>
                  <a:schemeClr val="tx1">
                    <a:lumMod val="95000"/>
                    <a:lumOff val="5000"/>
                  </a:schemeClr>
                </a:solidFill>
                <a:latin typeface="Inter" panose="020B0604020202020204" charset="0"/>
                <a:ea typeface="Inter" panose="020B0604020202020204" charset="0"/>
                <a:cs typeface="Roboto Light"/>
                <a:sym typeface="Roboto Light"/>
              </a:rPr>
              <a:t>.</a:t>
            </a:r>
            <a:endParaRPr lang="en-US" sz="3600" dirty="0">
              <a:solidFill>
                <a:schemeClr val="tx1">
                  <a:lumMod val="95000"/>
                  <a:lumOff val="5000"/>
                </a:schemeClr>
              </a:solidFill>
              <a:latin typeface="Inter" panose="020B0604020202020204" charset="0"/>
              <a:ea typeface="Inter" panose="020B0604020202020204" charset="0"/>
            </a:endParaRPr>
          </a:p>
        </p:txBody>
      </p:sp>
      <p:sp>
        <p:nvSpPr>
          <p:cNvPr id="13" name="Rectangle 6">
            <a:extLst>
              <a:ext uri="{FF2B5EF4-FFF2-40B4-BE49-F238E27FC236}">
                <a16:creationId xmlns:a16="http://schemas.microsoft.com/office/drawing/2014/main" id="{D150FE03-5692-96A3-1D07-145BD97B5571}"/>
              </a:ext>
            </a:extLst>
          </p:cNvPr>
          <p:cNvSpPr>
            <a:spLocks noChangeArrowheads="1"/>
          </p:cNvSpPr>
          <p:nvPr/>
        </p:nvSpPr>
        <p:spPr bwMode="auto">
          <a:xfrm flipV="1">
            <a:off x="4952999" y="9395789"/>
            <a:ext cx="354574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AF30DC22-B848-FCE2-603D-7CF3A8A461FC}"/>
              </a:ext>
            </a:extLst>
          </p:cNvPr>
          <p:cNvPicPr>
            <a:picLocks noChangeAspect="1"/>
          </p:cNvPicPr>
          <p:nvPr/>
        </p:nvPicPr>
        <p:blipFill>
          <a:blip r:embed="rId5"/>
          <a:stretch>
            <a:fillRect/>
          </a:stretch>
        </p:blipFill>
        <p:spPr>
          <a:xfrm>
            <a:off x="5220975" y="3713808"/>
            <a:ext cx="11216210" cy="6215054"/>
          </a:xfrm>
          <a:prstGeom prst="rect">
            <a:avLst/>
          </a:prstGeom>
        </p:spPr>
      </p:pic>
      <p:sp>
        <p:nvSpPr>
          <p:cNvPr id="4" name="TextBox 6">
            <a:extLst>
              <a:ext uri="{FF2B5EF4-FFF2-40B4-BE49-F238E27FC236}">
                <a16:creationId xmlns:a16="http://schemas.microsoft.com/office/drawing/2014/main" id="{3442908E-3242-B51D-4CCD-BA6A790F5924}"/>
              </a:ext>
            </a:extLst>
          </p:cNvPr>
          <p:cNvSpPr txBox="1"/>
          <p:nvPr/>
        </p:nvSpPr>
        <p:spPr>
          <a:xfrm>
            <a:off x="76200" y="3810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11</a:t>
            </a:r>
          </a:p>
        </p:txBody>
      </p:sp>
    </p:spTree>
    <p:extLst>
      <p:ext uri="{BB962C8B-B14F-4D97-AF65-F5344CB8AC3E}">
        <p14:creationId xmlns:p14="http://schemas.microsoft.com/office/powerpoint/2010/main" val="3341509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87966" y="635116"/>
            <a:ext cx="7696580" cy="1086131"/>
          </a:xfrm>
          <a:prstGeom prst="rect">
            <a:avLst/>
          </a:prstGeom>
        </p:spPr>
        <p:txBody>
          <a:bodyPr wrap="square" lIns="0" tIns="0" rIns="0" bIns="0" rtlCol="0" anchor="t">
            <a:spAutoFit/>
          </a:bodyPr>
          <a:lstStyle/>
          <a:p>
            <a:pPr>
              <a:lnSpc>
                <a:spcPts val="9600"/>
              </a:lnSpc>
            </a:pPr>
            <a:r>
              <a:rPr lang="en-US" sz="5400" dirty="0" err="1">
                <a:solidFill>
                  <a:srgbClr val="242725"/>
                </a:solidFill>
                <a:latin typeface="Inter Bold"/>
              </a:rPr>
              <a:t>Metodologi</a:t>
            </a:r>
            <a:r>
              <a:rPr lang="en-US" sz="5400" dirty="0">
                <a:solidFill>
                  <a:srgbClr val="242725"/>
                </a:solidFill>
                <a:latin typeface="Inter Bold"/>
              </a:rPr>
              <a:t> Penelitian</a:t>
            </a:r>
          </a:p>
        </p:txBody>
      </p:sp>
      <p:grpSp>
        <p:nvGrpSpPr>
          <p:cNvPr id="6" name="Group 6"/>
          <p:cNvGrpSpPr/>
          <p:nvPr/>
        </p:nvGrpSpPr>
        <p:grpSpPr>
          <a:xfrm>
            <a:off x="-2416867" y="816066"/>
            <a:ext cx="5801825" cy="5801825"/>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979252" y="1028699"/>
            <a:ext cx="3231988" cy="8229600"/>
          </a:xfrm>
          <a:prstGeom prst="rect">
            <a:avLst/>
          </a:prstGeom>
        </p:spPr>
      </p:pic>
      <p:grpSp>
        <p:nvGrpSpPr>
          <p:cNvPr id="9" name="Group 9"/>
          <p:cNvGrpSpPr/>
          <p:nvPr/>
        </p:nvGrpSpPr>
        <p:grpSpPr>
          <a:xfrm>
            <a:off x="4720406" y="6023396"/>
            <a:ext cx="956892" cy="95689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7" name="Group 17"/>
          <p:cNvGrpSpPr/>
          <p:nvPr/>
        </p:nvGrpSpPr>
        <p:grpSpPr>
          <a:xfrm>
            <a:off x="16170802" y="-958824"/>
            <a:ext cx="2883307" cy="2883307"/>
            <a:chOff x="0" y="0"/>
            <a:chExt cx="6350000" cy="6350000"/>
          </a:xfrm>
        </p:grpSpPr>
        <p:sp>
          <p:nvSpPr>
            <p:cNvPr id="18" name="Freeform 1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9" name="Group 19"/>
          <p:cNvGrpSpPr/>
          <p:nvPr/>
        </p:nvGrpSpPr>
        <p:grpSpPr>
          <a:xfrm>
            <a:off x="14714514" y="504926"/>
            <a:ext cx="2912577" cy="2839113"/>
            <a:chOff x="0" y="0"/>
            <a:chExt cx="4589780" cy="4578350"/>
          </a:xfrm>
        </p:grpSpPr>
        <p:sp>
          <p:nvSpPr>
            <p:cNvPr id="20" name="Freeform 20"/>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1" name="Freeform 21"/>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22" name="Group 22"/>
          <p:cNvGrpSpPr/>
          <p:nvPr/>
        </p:nvGrpSpPr>
        <p:grpSpPr>
          <a:xfrm>
            <a:off x="-868657" y="2304387"/>
            <a:ext cx="2912577" cy="2839113"/>
            <a:chOff x="0" y="0"/>
            <a:chExt cx="4589780" cy="4578350"/>
          </a:xfrm>
        </p:grpSpPr>
        <p:sp>
          <p:nvSpPr>
            <p:cNvPr id="23" name="Freeform 23"/>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4" name="Freeform 24"/>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5" name="Google Shape;503;p8">
            <a:extLst>
              <a:ext uri="{FF2B5EF4-FFF2-40B4-BE49-F238E27FC236}">
                <a16:creationId xmlns:a16="http://schemas.microsoft.com/office/drawing/2014/main" id="{BB5F8905-CE26-41D9-BC4B-FF3B097C667B}"/>
              </a:ext>
            </a:extLst>
          </p:cNvPr>
          <p:cNvSpPr txBox="1"/>
          <p:nvPr/>
        </p:nvSpPr>
        <p:spPr>
          <a:xfrm flipH="1">
            <a:off x="4538470" y="1848722"/>
            <a:ext cx="13749530" cy="5780003"/>
          </a:xfrm>
          <a:prstGeom prst="rect">
            <a:avLst/>
          </a:prstGeom>
          <a:noFill/>
          <a:ln>
            <a:noFill/>
          </a:ln>
        </p:spPr>
        <p:txBody>
          <a:bodyPr spcFirstLastPara="1" wrap="square" lIns="91425" tIns="45700" rIns="91425" bIns="45700" anchor="t" anchorCtr="0">
            <a:spAutoFit/>
          </a:bodyPr>
          <a:lstStyle/>
          <a:p>
            <a:pPr lvl="0" algn="just">
              <a:lnSpc>
                <a:spcPct val="120000"/>
              </a:lnSpc>
            </a:pP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Tahap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analisis</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dilakukan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untuk</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mengidentifikasi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permasalahan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pada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yang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sedang</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berjalan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seperti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tidak</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adanya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segmentasi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potensi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penumpukan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trafik</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serta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belum</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optimalnya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pengelolaan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bandwidth.</a:t>
            </a:r>
          </a:p>
          <a:p>
            <a:pPr lvl="0" algn="just">
              <a:lnSpc>
                <a:spcPct val="120000"/>
              </a:lnSpc>
            </a:pPr>
            <a:endParaRPr lang="en-US" sz="2800" dirty="0">
              <a:solidFill>
                <a:schemeClr val="tx1">
                  <a:lumMod val="95000"/>
                  <a:lumOff val="5000"/>
                </a:schemeClr>
              </a:solidFill>
              <a:latin typeface="Inter" panose="020B0604020202020204" charset="0"/>
              <a:ea typeface="Inter" panose="020B0604020202020204" charset="0"/>
              <a:cs typeface="Roboto Light"/>
              <a:sym typeface="Roboto Light"/>
            </a:endParaRPr>
          </a:p>
          <a:p>
            <a:pPr lvl="0" algn="just">
              <a:lnSpc>
                <a:spcPct val="120000"/>
              </a:lnSpc>
            </a:pPr>
            <a:r>
              <a:rPr lang="en-US" sz="2800" dirty="0">
                <a:solidFill>
                  <a:schemeClr val="tx1">
                    <a:lumMod val="95000"/>
                    <a:lumOff val="5000"/>
                  </a:schemeClr>
                </a:solidFill>
                <a:latin typeface="Inter" panose="020B0604020202020204" charset="0"/>
                <a:ea typeface="Inter" panose="020B0604020202020204" charset="0"/>
              </a:rPr>
              <a:t>Tahap </a:t>
            </a:r>
            <a:r>
              <a:rPr lang="en-US" sz="2800" dirty="0" err="1">
                <a:solidFill>
                  <a:schemeClr val="tx1">
                    <a:lumMod val="95000"/>
                    <a:lumOff val="5000"/>
                  </a:schemeClr>
                </a:solidFill>
                <a:latin typeface="Inter" panose="020B0604020202020204" charset="0"/>
                <a:ea typeface="Inter" panose="020B0604020202020204" charset="0"/>
              </a:rPr>
              <a:t>desain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merupakan</a:t>
            </a:r>
            <a:r>
              <a:rPr lang="en-US" sz="2800" dirty="0">
                <a:solidFill>
                  <a:schemeClr val="tx1">
                    <a:lumMod val="95000"/>
                    <a:lumOff val="5000"/>
                  </a:schemeClr>
                </a:solidFill>
                <a:latin typeface="Inter" panose="020B0604020202020204" charset="0"/>
                <a:ea typeface="Inter" panose="020B0604020202020204" charset="0"/>
              </a:rPr>
              <a:t> proses </a:t>
            </a:r>
            <a:r>
              <a:rPr lang="en-US" sz="2800" dirty="0" err="1">
                <a:solidFill>
                  <a:schemeClr val="tx1">
                    <a:lumMod val="95000"/>
                    <a:lumOff val="5000"/>
                  </a:schemeClr>
                </a:solidFill>
                <a:latin typeface="Inter" panose="020B0604020202020204" charset="0"/>
                <a:ea typeface="Inter" panose="020B0604020202020204" charset="0"/>
              </a:rPr>
              <a:t>perancangan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topologi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VLAN yang </a:t>
            </a:r>
            <a:r>
              <a:rPr lang="en-US" sz="2800" dirty="0" err="1">
                <a:solidFill>
                  <a:schemeClr val="tx1">
                    <a:lumMod val="95000"/>
                    <a:lumOff val="5000"/>
                  </a:schemeClr>
                </a:solidFill>
                <a:latin typeface="Inter" panose="020B0604020202020204" charset="0"/>
                <a:ea typeface="Inter" panose="020B0604020202020204" charset="0"/>
              </a:rPr>
              <a:t>akan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diterapkan</a:t>
            </a:r>
            <a:r>
              <a:rPr lang="en-US" sz="2800" dirty="0">
                <a:solidFill>
                  <a:schemeClr val="tx1">
                    <a:lumMod val="95000"/>
                    <a:lumOff val="5000"/>
                  </a:schemeClr>
                </a:solidFill>
                <a:latin typeface="Inter" panose="020B0604020202020204" charset="0"/>
                <a:ea typeface="Inter" panose="020B0604020202020204" charset="0"/>
              </a:rPr>
              <a:t> di MIN 3 Pontianak. </a:t>
            </a:r>
          </a:p>
          <a:p>
            <a:pPr lvl="0" algn="just">
              <a:lnSpc>
                <a:spcPct val="120000"/>
              </a:lnSpc>
            </a:pPr>
            <a:endParaRPr lang="en-US" sz="2800" dirty="0">
              <a:solidFill>
                <a:schemeClr val="tx1">
                  <a:lumMod val="95000"/>
                  <a:lumOff val="5000"/>
                </a:schemeClr>
              </a:solidFill>
              <a:latin typeface="Inter" panose="020B0604020202020204" charset="0"/>
              <a:ea typeface="Inter" panose="020B0604020202020204" charset="0"/>
            </a:endParaRPr>
          </a:p>
          <a:p>
            <a:pPr lvl="0" algn="just">
              <a:lnSpc>
                <a:spcPct val="120000"/>
              </a:lnSpc>
            </a:pPr>
            <a:r>
              <a:rPr lang="en-US" sz="2800" dirty="0">
                <a:solidFill>
                  <a:schemeClr val="tx1">
                    <a:lumMod val="95000"/>
                    <a:lumOff val="5000"/>
                  </a:schemeClr>
                </a:solidFill>
                <a:latin typeface="Inter" panose="020B0604020202020204" charset="0"/>
                <a:ea typeface="Inter" panose="020B0604020202020204" charset="0"/>
              </a:rPr>
              <a:t>Tahap </a:t>
            </a:r>
            <a:r>
              <a:rPr lang="en-US" sz="2800" dirty="0" err="1">
                <a:solidFill>
                  <a:schemeClr val="tx1">
                    <a:lumMod val="95000"/>
                    <a:lumOff val="5000"/>
                  </a:schemeClr>
                </a:solidFill>
                <a:latin typeface="Inter" panose="020B0604020202020204" charset="0"/>
                <a:ea typeface="Inter" panose="020B0604020202020204" charset="0"/>
              </a:rPr>
              <a:t>simulasi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dilakukan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untuk</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menguji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desain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VLAN </a:t>
            </a:r>
            <a:r>
              <a:rPr lang="en-US" sz="2800" dirty="0" err="1">
                <a:solidFill>
                  <a:schemeClr val="tx1">
                    <a:lumMod val="95000"/>
                    <a:lumOff val="5000"/>
                  </a:schemeClr>
                </a:solidFill>
                <a:latin typeface="Inter" panose="020B0604020202020204" charset="0"/>
                <a:ea typeface="Inter" panose="020B0604020202020204" charset="0"/>
              </a:rPr>
              <a:t>sebelum</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diimplementasikan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secara</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langsung</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Simulasi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bertujuan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untuk</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memastikan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bahwa</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konfigurasi</a:t>
            </a:r>
            <a:r>
              <a:rPr lang="en-US" sz="2800" dirty="0">
                <a:solidFill>
                  <a:schemeClr val="tx1">
                    <a:lumMod val="95000"/>
                    <a:lumOff val="5000"/>
                  </a:schemeClr>
                </a:solidFill>
                <a:latin typeface="Inter" panose="020B0604020202020204" charset="0"/>
                <a:ea typeface="Inter" panose="020B0604020202020204" charset="0"/>
              </a:rPr>
              <a:t> VLAN </a:t>
            </a:r>
            <a:r>
              <a:rPr lang="en-US" sz="2800" dirty="0" err="1">
                <a:solidFill>
                  <a:schemeClr val="tx1">
                    <a:lumMod val="95000"/>
                    <a:lumOff val="5000"/>
                  </a:schemeClr>
                </a:solidFill>
                <a:latin typeface="Inter" panose="020B0604020202020204" charset="0"/>
                <a:ea typeface="Inter" panose="020B0604020202020204" charset="0"/>
              </a:rPr>
              <a:t>dapat</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berjalan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sesuai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perencanaan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Simulasi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dilakukan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menggunakan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aplikasi</a:t>
            </a:r>
            <a:r>
              <a:rPr lang="en-US" sz="2800" dirty="0">
                <a:solidFill>
                  <a:schemeClr val="tx1">
                    <a:lumMod val="95000"/>
                    <a:lumOff val="5000"/>
                  </a:schemeClr>
                </a:solidFill>
                <a:latin typeface="Inter" panose="020B0604020202020204" charset="0"/>
                <a:ea typeface="Inter" panose="020B0604020202020204" charset="0"/>
              </a:rPr>
              <a:t> Cisco Packet Tracer.</a:t>
            </a:r>
          </a:p>
        </p:txBody>
      </p:sp>
      <p:sp>
        <p:nvSpPr>
          <p:cNvPr id="13" name="Rectangle 6">
            <a:extLst>
              <a:ext uri="{FF2B5EF4-FFF2-40B4-BE49-F238E27FC236}">
                <a16:creationId xmlns:a16="http://schemas.microsoft.com/office/drawing/2014/main" id="{D150FE03-5692-96A3-1D07-145BD97B5571}"/>
              </a:ext>
            </a:extLst>
          </p:cNvPr>
          <p:cNvSpPr>
            <a:spLocks noChangeArrowheads="1"/>
          </p:cNvSpPr>
          <p:nvPr/>
        </p:nvSpPr>
        <p:spPr bwMode="auto">
          <a:xfrm flipV="1">
            <a:off x="4952999" y="9395789"/>
            <a:ext cx="354574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 name="TextBox 6">
            <a:extLst>
              <a:ext uri="{FF2B5EF4-FFF2-40B4-BE49-F238E27FC236}">
                <a16:creationId xmlns:a16="http://schemas.microsoft.com/office/drawing/2014/main" id="{8145282C-DBFD-FE88-3C9F-B9B7D8FD7329}"/>
              </a:ext>
            </a:extLst>
          </p:cNvPr>
          <p:cNvSpPr txBox="1"/>
          <p:nvPr/>
        </p:nvSpPr>
        <p:spPr>
          <a:xfrm>
            <a:off x="76200" y="3810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12</a:t>
            </a:r>
          </a:p>
        </p:txBody>
      </p:sp>
    </p:spTree>
    <p:extLst>
      <p:ext uri="{BB962C8B-B14F-4D97-AF65-F5344CB8AC3E}">
        <p14:creationId xmlns:p14="http://schemas.microsoft.com/office/powerpoint/2010/main" val="3215825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87966" y="635116"/>
            <a:ext cx="7696580" cy="1086131"/>
          </a:xfrm>
          <a:prstGeom prst="rect">
            <a:avLst/>
          </a:prstGeom>
        </p:spPr>
        <p:txBody>
          <a:bodyPr wrap="square" lIns="0" tIns="0" rIns="0" bIns="0" rtlCol="0" anchor="t">
            <a:spAutoFit/>
          </a:bodyPr>
          <a:lstStyle/>
          <a:p>
            <a:pPr>
              <a:lnSpc>
                <a:spcPts val="9600"/>
              </a:lnSpc>
            </a:pPr>
            <a:r>
              <a:rPr lang="en-US" sz="5400" dirty="0" err="1">
                <a:solidFill>
                  <a:srgbClr val="242725"/>
                </a:solidFill>
                <a:latin typeface="Inter Bold"/>
              </a:rPr>
              <a:t>Metodologi</a:t>
            </a:r>
            <a:r>
              <a:rPr lang="en-US" sz="5400" dirty="0">
                <a:solidFill>
                  <a:srgbClr val="242725"/>
                </a:solidFill>
                <a:latin typeface="Inter Bold"/>
              </a:rPr>
              <a:t> Penelitian</a:t>
            </a:r>
          </a:p>
        </p:txBody>
      </p:sp>
      <p:grpSp>
        <p:nvGrpSpPr>
          <p:cNvPr id="6" name="Group 6"/>
          <p:cNvGrpSpPr/>
          <p:nvPr/>
        </p:nvGrpSpPr>
        <p:grpSpPr>
          <a:xfrm>
            <a:off x="-2416867" y="816066"/>
            <a:ext cx="5801825" cy="5801825"/>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979252" y="1028699"/>
            <a:ext cx="3231988" cy="8229600"/>
          </a:xfrm>
          <a:prstGeom prst="rect">
            <a:avLst/>
          </a:prstGeom>
        </p:spPr>
      </p:pic>
      <p:grpSp>
        <p:nvGrpSpPr>
          <p:cNvPr id="9" name="Group 9"/>
          <p:cNvGrpSpPr/>
          <p:nvPr/>
        </p:nvGrpSpPr>
        <p:grpSpPr>
          <a:xfrm>
            <a:off x="4720406" y="6023396"/>
            <a:ext cx="956892" cy="95689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7" name="Group 17"/>
          <p:cNvGrpSpPr/>
          <p:nvPr/>
        </p:nvGrpSpPr>
        <p:grpSpPr>
          <a:xfrm>
            <a:off x="16170802" y="-958824"/>
            <a:ext cx="2883307" cy="2883307"/>
            <a:chOff x="0" y="0"/>
            <a:chExt cx="6350000" cy="6350000"/>
          </a:xfrm>
        </p:grpSpPr>
        <p:sp>
          <p:nvSpPr>
            <p:cNvPr id="18" name="Freeform 1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9" name="Group 19"/>
          <p:cNvGrpSpPr/>
          <p:nvPr/>
        </p:nvGrpSpPr>
        <p:grpSpPr>
          <a:xfrm>
            <a:off x="14714514" y="504926"/>
            <a:ext cx="2912577" cy="2839113"/>
            <a:chOff x="0" y="0"/>
            <a:chExt cx="4589780" cy="4578350"/>
          </a:xfrm>
        </p:grpSpPr>
        <p:sp>
          <p:nvSpPr>
            <p:cNvPr id="20" name="Freeform 20"/>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1" name="Freeform 21"/>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22" name="Group 22"/>
          <p:cNvGrpSpPr/>
          <p:nvPr/>
        </p:nvGrpSpPr>
        <p:grpSpPr>
          <a:xfrm>
            <a:off x="-868657" y="2304387"/>
            <a:ext cx="2912577" cy="2839113"/>
            <a:chOff x="0" y="0"/>
            <a:chExt cx="4589780" cy="4578350"/>
          </a:xfrm>
        </p:grpSpPr>
        <p:sp>
          <p:nvSpPr>
            <p:cNvPr id="23" name="Freeform 23"/>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24" name="Freeform 24"/>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5" name="Google Shape;503;p8">
            <a:extLst>
              <a:ext uri="{FF2B5EF4-FFF2-40B4-BE49-F238E27FC236}">
                <a16:creationId xmlns:a16="http://schemas.microsoft.com/office/drawing/2014/main" id="{BB5F8905-CE26-41D9-BC4B-FF3B097C667B}"/>
              </a:ext>
            </a:extLst>
          </p:cNvPr>
          <p:cNvSpPr txBox="1"/>
          <p:nvPr/>
        </p:nvSpPr>
        <p:spPr>
          <a:xfrm flipH="1">
            <a:off x="4538470" y="1848722"/>
            <a:ext cx="13749530" cy="6297068"/>
          </a:xfrm>
          <a:prstGeom prst="rect">
            <a:avLst/>
          </a:prstGeom>
          <a:noFill/>
          <a:ln>
            <a:noFill/>
          </a:ln>
        </p:spPr>
        <p:txBody>
          <a:bodyPr spcFirstLastPara="1" wrap="square" lIns="91425" tIns="45700" rIns="91425" bIns="45700" anchor="t" anchorCtr="0">
            <a:spAutoFit/>
          </a:bodyPr>
          <a:lstStyle/>
          <a:p>
            <a:pPr algn="just">
              <a:lnSpc>
                <a:spcPct val="120000"/>
              </a:lnSpc>
            </a:pPr>
            <a:r>
              <a:rPr lang="en-US" sz="2800" dirty="0">
                <a:solidFill>
                  <a:schemeClr val="tx1">
                    <a:lumMod val="95000"/>
                    <a:lumOff val="5000"/>
                  </a:schemeClr>
                </a:solidFill>
                <a:latin typeface="Inter" panose="020B0604020202020204" charset="0"/>
                <a:ea typeface="Inter" panose="020B0604020202020204" charset="0"/>
              </a:rPr>
              <a:t>Tahap </a:t>
            </a:r>
            <a:r>
              <a:rPr lang="en-US" sz="2800" dirty="0" err="1">
                <a:solidFill>
                  <a:schemeClr val="tx1">
                    <a:lumMod val="95000"/>
                    <a:lumOff val="5000"/>
                  </a:schemeClr>
                </a:solidFill>
                <a:latin typeface="Inter" panose="020B0604020202020204" charset="0"/>
                <a:ea typeface="Inter" panose="020B0604020202020204" charset="0"/>
              </a:rPr>
              <a:t>implementasi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merupakan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penerapan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desain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VLAN pada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nyata</a:t>
            </a:r>
            <a:r>
              <a:rPr lang="en-US" sz="2800" dirty="0">
                <a:solidFill>
                  <a:schemeClr val="tx1">
                    <a:lumMod val="95000"/>
                    <a:lumOff val="5000"/>
                  </a:schemeClr>
                </a:solidFill>
                <a:latin typeface="Inter" panose="020B0604020202020204" charset="0"/>
                <a:ea typeface="Inter" panose="020B0604020202020204" charset="0"/>
              </a:rPr>
              <a:t> di MIN 3 Pontianak. </a:t>
            </a:r>
            <a:r>
              <a:rPr lang="en-US" sz="2800" dirty="0" err="1">
                <a:solidFill>
                  <a:schemeClr val="tx1">
                    <a:lumMod val="95000"/>
                    <a:lumOff val="5000"/>
                  </a:schemeClr>
                </a:solidFill>
                <a:latin typeface="Inter" panose="020B0604020202020204" charset="0"/>
                <a:ea typeface="Inter" panose="020B0604020202020204" charset="0"/>
              </a:rPr>
              <a:t>Implementasi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meliputi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konfigurasi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perangkat</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seperti</a:t>
            </a:r>
            <a:r>
              <a:rPr lang="en-US" sz="2800" dirty="0">
                <a:solidFill>
                  <a:schemeClr val="tx1">
                    <a:lumMod val="95000"/>
                    <a:lumOff val="5000"/>
                  </a:schemeClr>
                </a:solidFill>
                <a:latin typeface="Inter" panose="020B0604020202020204" charset="0"/>
                <a:ea typeface="Inter" panose="020B0604020202020204" charset="0"/>
              </a:rPr>
              <a:t> router dan access point, </a:t>
            </a:r>
            <a:r>
              <a:rPr lang="en-US" sz="2800" dirty="0" err="1">
                <a:solidFill>
                  <a:schemeClr val="tx1">
                    <a:lumMod val="95000"/>
                    <a:lumOff val="5000"/>
                  </a:schemeClr>
                </a:solidFill>
                <a:latin typeface="Inter" panose="020B0604020202020204" charset="0"/>
                <a:ea typeface="Inter" panose="020B0604020202020204" charset="0"/>
              </a:rPr>
              <a:t>penerapan</a:t>
            </a:r>
            <a:r>
              <a:rPr lang="en-US" sz="2800" dirty="0">
                <a:solidFill>
                  <a:schemeClr val="tx1">
                    <a:lumMod val="95000"/>
                    <a:lumOff val="5000"/>
                  </a:schemeClr>
                </a:solidFill>
                <a:latin typeface="Inter" panose="020B0604020202020204" charset="0"/>
                <a:ea typeface="Inter" panose="020B0604020202020204" charset="0"/>
              </a:rPr>
              <a:t> VLAN </a:t>
            </a:r>
            <a:r>
              <a:rPr lang="en-US" sz="2800" dirty="0" err="1">
                <a:solidFill>
                  <a:schemeClr val="tx1">
                    <a:lumMod val="95000"/>
                    <a:lumOff val="5000"/>
                  </a:schemeClr>
                </a:solidFill>
                <a:latin typeface="Inter" panose="020B0604020202020204" charset="0"/>
                <a:ea typeface="Inter" panose="020B0604020202020204" charset="0"/>
              </a:rPr>
              <a:t>sesuai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hasil</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perancangan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Setelah</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implementasi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dilakukan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pengujian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untuk</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memastikan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jaringan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berfungsi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baik</a:t>
            </a:r>
            <a:r>
              <a:rPr lang="en-US" sz="2800" dirty="0">
                <a:solidFill>
                  <a:schemeClr val="tx1">
                    <a:lumMod val="95000"/>
                    <a:lumOff val="5000"/>
                  </a:schemeClr>
                </a:solidFill>
                <a:latin typeface="Inter" panose="020B0604020202020204" charset="0"/>
                <a:ea typeface="Inter" panose="020B0604020202020204" charset="0"/>
              </a:rPr>
              <a:t> dan </a:t>
            </a:r>
            <a:r>
              <a:rPr lang="en-US" sz="2800" dirty="0" err="1">
                <a:solidFill>
                  <a:schemeClr val="tx1">
                    <a:lumMod val="95000"/>
                    <a:lumOff val="5000"/>
                  </a:schemeClr>
                </a:solidFill>
                <a:latin typeface="Inter" panose="020B0604020202020204" charset="0"/>
                <a:ea typeface="Inter" panose="020B0604020202020204" charset="0"/>
              </a:rPr>
              <a:t>sesuai</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dengan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tujuan</a:t>
            </a:r>
            <a:r>
              <a:rPr lang="en-US" sz="2800" dirty="0">
                <a:solidFill>
                  <a:schemeClr val="tx1">
                    <a:lumMod val="95000"/>
                    <a:lumOff val="5000"/>
                  </a:schemeClr>
                </a:solidFill>
                <a:latin typeface="Inter" panose="020B0604020202020204" charset="0"/>
                <a:ea typeface="Inter" panose="020B0604020202020204" charset="0"/>
              </a:rPr>
              <a:t> </a:t>
            </a:r>
            <a:r>
              <a:rPr lang="en-US" sz="2800" dirty="0" err="1">
                <a:solidFill>
                  <a:schemeClr val="tx1">
                    <a:lumMod val="95000"/>
                    <a:lumOff val="5000"/>
                  </a:schemeClr>
                </a:solidFill>
                <a:latin typeface="Inter" panose="020B0604020202020204" charset="0"/>
                <a:ea typeface="Inter" panose="020B0604020202020204" charset="0"/>
              </a:rPr>
              <a:t>penelitian</a:t>
            </a:r>
            <a:r>
              <a:rPr lang="en-US" sz="2800" dirty="0">
                <a:solidFill>
                  <a:schemeClr val="tx1">
                    <a:lumMod val="95000"/>
                    <a:lumOff val="5000"/>
                  </a:schemeClr>
                </a:solidFill>
                <a:latin typeface="Inter" panose="020B0604020202020204" charset="0"/>
                <a:ea typeface="Inter" panose="020B0604020202020204" charset="0"/>
              </a:rPr>
              <a:t>.</a:t>
            </a:r>
          </a:p>
          <a:p>
            <a:pPr lvl="0" algn="just">
              <a:lnSpc>
                <a:spcPct val="120000"/>
              </a:lnSpc>
            </a:pPr>
            <a:endParaRPr lang="en-US" sz="2800" dirty="0">
              <a:solidFill>
                <a:schemeClr val="tx1">
                  <a:lumMod val="95000"/>
                  <a:lumOff val="5000"/>
                </a:schemeClr>
              </a:solidFill>
              <a:latin typeface="Inter" panose="020B0604020202020204" charset="0"/>
              <a:ea typeface="Inter" panose="020B0604020202020204" charset="0"/>
              <a:cs typeface="Roboto Light"/>
              <a:sym typeface="Roboto Light"/>
            </a:endParaRPr>
          </a:p>
          <a:p>
            <a:pPr lvl="0" algn="just">
              <a:lnSpc>
                <a:spcPct val="120000"/>
              </a:lnSpc>
            </a:pP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Tahap monitoring dan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manajemen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dilakukan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untuk</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mengawasi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kinerja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secara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berkelanjutan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setelah</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implementasi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Monitoring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mencakup</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pemantauan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trafik</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penggunaan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bandwidth, dan parameter QoS. Hasil monitoring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digunakan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sebagai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dasar</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dalam</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manajemen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seperti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penyesuaian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konfigurasi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VLAN dan QoS,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guna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menjaga</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stabilitas</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efisiensi</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dan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kualitas</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layanan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a:t>
            </a:r>
            <a:r>
              <a:rPr lang="en-US" sz="2800" dirty="0" err="1">
                <a:solidFill>
                  <a:schemeClr val="tx1">
                    <a:lumMod val="95000"/>
                    <a:lumOff val="5000"/>
                  </a:schemeClr>
                </a:solidFill>
                <a:latin typeface="Inter" panose="020B0604020202020204" charset="0"/>
                <a:ea typeface="Inter" panose="020B0604020202020204" charset="0"/>
                <a:cs typeface="Roboto Light"/>
                <a:sym typeface="Roboto Light"/>
              </a:rPr>
              <a:t>jaringan</a:t>
            </a:r>
            <a:r>
              <a:rPr lang="en-US" sz="2800" dirty="0">
                <a:solidFill>
                  <a:schemeClr val="tx1">
                    <a:lumMod val="95000"/>
                    <a:lumOff val="5000"/>
                  </a:schemeClr>
                </a:solidFill>
                <a:latin typeface="Inter" panose="020B0604020202020204" charset="0"/>
                <a:ea typeface="Inter" panose="020B0604020202020204" charset="0"/>
                <a:cs typeface="Roboto Light"/>
                <a:sym typeface="Roboto Light"/>
              </a:rPr>
              <a:t> di MIN 3 Pontianak.</a:t>
            </a:r>
            <a:endParaRPr lang="en-US" sz="2800" dirty="0">
              <a:solidFill>
                <a:schemeClr val="tx1">
                  <a:lumMod val="95000"/>
                  <a:lumOff val="5000"/>
                </a:schemeClr>
              </a:solidFill>
              <a:latin typeface="Inter" panose="020B0604020202020204" charset="0"/>
              <a:ea typeface="Inter" panose="020B0604020202020204" charset="0"/>
            </a:endParaRPr>
          </a:p>
        </p:txBody>
      </p:sp>
      <p:sp>
        <p:nvSpPr>
          <p:cNvPr id="13" name="Rectangle 6">
            <a:extLst>
              <a:ext uri="{FF2B5EF4-FFF2-40B4-BE49-F238E27FC236}">
                <a16:creationId xmlns:a16="http://schemas.microsoft.com/office/drawing/2014/main" id="{D150FE03-5692-96A3-1D07-145BD97B5571}"/>
              </a:ext>
            </a:extLst>
          </p:cNvPr>
          <p:cNvSpPr>
            <a:spLocks noChangeArrowheads="1"/>
          </p:cNvSpPr>
          <p:nvPr/>
        </p:nvSpPr>
        <p:spPr bwMode="auto">
          <a:xfrm flipV="1">
            <a:off x="4952999" y="9395789"/>
            <a:ext cx="354574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 name="TextBox 6">
            <a:extLst>
              <a:ext uri="{FF2B5EF4-FFF2-40B4-BE49-F238E27FC236}">
                <a16:creationId xmlns:a16="http://schemas.microsoft.com/office/drawing/2014/main" id="{9E3E1000-1FA2-12F2-C781-DF0F7055E7E7}"/>
              </a:ext>
            </a:extLst>
          </p:cNvPr>
          <p:cNvSpPr txBox="1"/>
          <p:nvPr/>
        </p:nvSpPr>
        <p:spPr>
          <a:xfrm>
            <a:off x="76200" y="38100"/>
            <a:ext cx="2996933" cy="2696316"/>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13</a:t>
            </a:r>
          </a:p>
        </p:txBody>
      </p:sp>
    </p:spTree>
    <p:extLst>
      <p:ext uri="{BB962C8B-B14F-4D97-AF65-F5344CB8AC3E}">
        <p14:creationId xmlns:p14="http://schemas.microsoft.com/office/powerpoint/2010/main" val="4191926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45412" y="2781300"/>
            <a:ext cx="5674233" cy="5674233"/>
            <a:chOff x="0" y="0"/>
            <a:chExt cx="6350000" cy="6350000"/>
          </a:xfrm>
        </p:grpSpPr>
        <p:sp>
          <p:nvSpPr>
            <p:cNvPr id="3" name="Freeform 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7" name="AutoShape 7"/>
          <p:cNvSpPr/>
          <p:nvPr/>
        </p:nvSpPr>
        <p:spPr>
          <a:xfrm>
            <a:off x="-443075" y="9720640"/>
            <a:ext cx="18865925" cy="1140393"/>
          </a:xfrm>
          <a:prstGeom prst="rect">
            <a:avLst/>
          </a:prstGeom>
          <a:solidFill>
            <a:srgbClr val="2ED47B"/>
          </a:solidFill>
        </p:spPr>
      </p:sp>
      <p:grpSp>
        <p:nvGrpSpPr>
          <p:cNvPr id="8" name="Group 8"/>
          <p:cNvGrpSpPr/>
          <p:nvPr/>
        </p:nvGrpSpPr>
        <p:grpSpPr>
          <a:xfrm>
            <a:off x="14590736" y="615615"/>
            <a:ext cx="2912577" cy="2839113"/>
            <a:chOff x="0" y="0"/>
            <a:chExt cx="4589780" cy="4578350"/>
          </a:xfrm>
        </p:grpSpPr>
        <p:sp>
          <p:nvSpPr>
            <p:cNvPr id="9" name="Freeform 9"/>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p:cNvGrpSpPr/>
          <p:nvPr/>
        </p:nvGrpSpPr>
        <p:grpSpPr>
          <a:xfrm>
            <a:off x="566358" y="6741648"/>
            <a:ext cx="2912577" cy="2839113"/>
            <a:chOff x="0" y="0"/>
            <a:chExt cx="4589780" cy="4578350"/>
          </a:xfrm>
        </p:grpSpPr>
        <p:sp>
          <p:nvSpPr>
            <p:cNvPr id="12" name="Freeform 12"/>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2BC78DE7-C717-4879-873D-FDE7EB4DE331}"/>
              </a:ext>
            </a:extLst>
          </p:cNvPr>
          <p:cNvSpPr txBox="1"/>
          <p:nvPr/>
        </p:nvSpPr>
        <p:spPr>
          <a:xfrm>
            <a:off x="76200" y="3810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14</a:t>
            </a:r>
          </a:p>
        </p:txBody>
      </p:sp>
      <p:sp>
        <p:nvSpPr>
          <p:cNvPr id="15" name="TextBox 2">
            <a:extLst>
              <a:ext uri="{FF2B5EF4-FFF2-40B4-BE49-F238E27FC236}">
                <a16:creationId xmlns:a16="http://schemas.microsoft.com/office/drawing/2014/main" id="{599AB136-E271-7DFF-D5D8-21DACA60CB0F}"/>
              </a:ext>
            </a:extLst>
          </p:cNvPr>
          <p:cNvSpPr txBox="1"/>
          <p:nvPr/>
        </p:nvSpPr>
        <p:spPr>
          <a:xfrm>
            <a:off x="5791200" y="745805"/>
            <a:ext cx="7696581" cy="1122359"/>
          </a:xfrm>
          <a:prstGeom prst="rect">
            <a:avLst/>
          </a:prstGeom>
        </p:spPr>
        <p:txBody>
          <a:bodyPr lIns="0" tIns="0" rIns="0" bIns="0" rtlCol="0" anchor="t">
            <a:spAutoFit/>
          </a:bodyPr>
          <a:lstStyle/>
          <a:p>
            <a:pPr>
              <a:lnSpc>
                <a:spcPts val="9600"/>
              </a:lnSpc>
            </a:pPr>
            <a:r>
              <a:rPr lang="en-US" sz="6600" dirty="0" err="1">
                <a:solidFill>
                  <a:srgbClr val="242725"/>
                </a:solidFill>
                <a:latin typeface="Inter Bold"/>
              </a:rPr>
              <a:t>Tinjauan</a:t>
            </a:r>
            <a:r>
              <a:rPr lang="en-US" sz="6600" dirty="0">
                <a:solidFill>
                  <a:srgbClr val="242725"/>
                </a:solidFill>
                <a:latin typeface="Inter Bold"/>
              </a:rPr>
              <a:t> Pustaka</a:t>
            </a:r>
          </a:p>
        </p:txBody>
      </p:sp>
      <p:graphicFrame>
        <p:nvGraphicFramePr>
          <p:cNvPr id="16" name="Table 15">
            <a:extLst>
              <a:ext uri="{FF2B5EF4-FFF2-40B4-BE49-F238E27FC236}">
                <a16:creationId xmlns:a16="http://schemas.microsoft.com/office/drawing/2014/main" id="{ED735F1D-687A-33CB-3E6B-99736D16A15B}"/>
              </a:ext>
            </a:extLst>
          </p:cNvPr>
          <p:cNvGraphicFramePr>
            <a:graphicFrameLocks noGrp="1"/>
          </p:cNvGraphicFramePr>
          <p:nvPr>
            <p:extLst>
              <p:ext uri="{D42A27DB-BD31-4B8C-83A1-F6EECF244321}">
                <p14:modId xmlns:p14="http://schemas.microsoft.com/office/powerpoint/2010/main" val="2475400629"/>
              </p:ext>
            </p:extLst>
          </p:nvPr>
        </p:nvGraphicFramePr>
        <p:xfrm>
          <a:off x="778994" y="1865372"/>
          <a:ext cx="16154400" cy="7858061"/>
        </p:xfrm>
        <a:graphic>
          <a:graphicData uri="http://schemas.openxmlformats.org/drawingml/2006/table">
            <a:tbl>
              <a:tblPr firstRow="1" firstCol="1" bandRow="1">
                <a:tableStyleId>{F5AB1C69-6EDB-4FF4-983F-18BD219EF322}</a:tableStyleId>
              </a:tblPr>
              <a:tblGrid>
                <a:gridCol w="471349">
                  <a:extLst>
                    <a:ext uri="{9D8B030D-6E8A-4147-A177-3AD203B41FA5}">
                      <a16:colId xmlns:a16="http://schemas.microsoft.com/office/drawing/2014/main" val="4157997169"/>
                    </a:ext>
                  </a:extLst>
                </a:gridCol>
                <a:gridCol w="3062371">
                  <a:extLst>
                    <a:ext uri="{9D8B030D-6E8A-4147-A177-3AD203B41FA5}">
                      <a16:colId xmlns:a16="http://schemas.microsoft.com/office/drawing/2014/main" val="4185249863"/>
                    </a:ext>
                  </a:extLst>
                </a:gridCol>
                <a:gridCol w="5757152">
                  <a:extLst>
                    <a:ext uri="{9D8B030D-6E8A-4147-A177-3AD203B41FA5}">
                      <a16:colId xmlns:a16="http://schemas.microsoft.com/office/drawing/2014/main" val="4114133666"/>
                    </a:ext>
                  </a:extLst>
                </a:gridCol>
                <a:gridCol w="6863528">
                  <a:extLst>
                    <a:ext uri="{9D8B030D-6E8A-4147-A177-3AD203B41FA5}">
                      <a16:colId xmlns:a16="http://schemas.microsoft.com/office/drawing/2014/main" val="1486597567"/>
                    </a:ext>
                  </a:extLst>
                </a:gridCol>
              </a:tblGrid>
              <a:tr h="602980">
                <a:tc>
                  <a:txBody>
                    <a:bodyPr/>
                    <a:lstStyle/>
                    <a:p>
                      <a:pPr algn="ctr">
                        <a:lnSpc>
                          <a:spcPct val="106000"/>
                        </a:lnSpc>
                        <a:spcBef>
                          <a:spcPts val="400"/>
                        </a:spcBef>
                        <a:spcAft>
                          <a:spcPts val="400"/>
                        </a:spcAft>
                      </a:pPr>
                      <a:r>
                        <a:rPr lang="en-US" sz="2000" dirty="0">
                          <a:effectLst/>
                        </a:rPr>
                        <a:t>No.</a:t>
                      </a:r>
                      <a:endParaRPr lang="en-US" sz="20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dirty="0" err="1">
                          <a:effectLst/>
                        </a:rPr>
                        <a:t>Peneliti</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a:effectLst/>
                        </a:rPr>
                        <a:t>Judul</a:t>
                      </a:r>
                      <a:endParaRPr lang="en-US" sz="280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a:effectLst/>
                        </a:rPr>
                        <a:t>Hasil</a:t>
                      </a:r>
                      <a:endParaRPr lang="en-US" sz="2800">
                        <a:effectLst/>
                        <a:latin typeface="Inter" panose="020B0604020202020204" charset="0"/>
                        <a:ea typeface="Inter" panose="020B0604020202020204" charset="0"/>
                        <a:cs typeface="Times New Roman" panose="02020603050405020304" pitchFamily="18" charset="0"/>
                      </a:endParaRPr>
                    </a:p>
                  </a:txBody>
                  <a:tcPr marL="35399" marR="35399" marT="0" marB="0" anchor="ctr"/>
                </a:tc>
                <a:extLst>
                  <a:ext uri="{0D108BD9-81ED-4DB2-BD59-A6C34878D82A}">
                    <a16:rowId xmlns:a16="http://schemas.microsoft.com/office/drawing/2014/main" val="45003960"/>
                  </a:ext>
                </a:extLst>
              </a:tr>
              <a:tr h="2141107">
                <a:tc>
                  <a:txBody>
                    <a:bodyPr/>
                    <a:lstStyle/>
                    <a:p>
                      <a:pPr algn="ctr">
                        <a:lnSpc>
                          <a:spcPct val="106000"/>
                        </a:lnSpc>
                        <a:spcBef>
                          <a:spcPts val="400"/>
                        </a:spcBef>
                        <a:spcAft>
                          <a:spcPts val="400"/>
                        </a:spcAft>
                      </a:pPr>
                      <a:r>
                        <a:rPr lang="en-US" sz="2800" dirty="0">
                          <a:effectLst/>
                        </a:rPr>
                        <a:t>1</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it-IT" sz="2800" dirty="0">
                          <a:effectLst/>
                        </a:rPr>
                        <a:t>Kurniawan, E., &amp; Effendi, R. (2021). </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lnB w="12700" cmpd="sng">
                      <a:noFill/>
                    </a:lnB>
                  </a:tcPr>
                </a:tc>
                <a:tc>
                  <a:txBody>
                    <a:bodyPr/>
                    <a:lstStyle/>
                    <a:p>
                      <a:pPr algn="ctr">
                        <a:lnSpc>
                          <a:spcPct val="106000"/>
                        </a:lnSpc>
                        <a:spcBef>
                          <a:spcPts val="400"/>
                        </a:spcBef>
                        <a:spcAft>
                          <a:spcPts val="400"/>
                        </a:spcAft>
                      </a:pPr>
                      <a:r>
                        <a:rPr lang="en-US" sz="2800" dirty="0">
                          <a:effectLst/>
                        </a:rPr>
                        <a:t>Quality of Service pada Virtual Local Area Network</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dirty="0">
                          <a:effectLst/>
                        </a:rPr>
                        <a:t>“Berdasarkan </a:t>
                      </a:r>
                      <a:r>
                        <a:rPr lang="en-US" sz="2800" dirty="0" err="1">
                          <a:effectLst/>
                        </a:rPr>
                        <a:t>hasil</a:t>
                      </a:r>
                      <a:r>
                        <a:rPr lang="en-US" sz="2800" dirty="0">
                          <a:effectLst/>
                        </a:rPr>
                        <a:t> </a:t>
                      </a:r>
                      <a:r>
                        <a:rPr lang="en-US" sz="2800" dirty="0" err="1">
                          <a:effectLst/>
                        </a:rPr>
                        <a:t>pengujian</a:t>
                      </a:r>
                      <a:r>
                        <a:rPr lang="en-US" sz="2800" dirty="0">
                          <a:effectLst/>
                        </a:rPr>
                        <a:t> yang </a:t>
                      </a:r>
                      <a:r>
                        <a:rPr lang="en-US" sz="2800" dirty="0" err="1">
                          <a:effectLst/>
                        </a:rPr>
                        <a:t>telah</a:t>
                      </a:r>
                      <a:r>
                        <a:rPr lang="en-US" sz="2800" dirty="0">
                          <a:effectLst/>
                        </a:rPr>
                        <a:t> </a:t>
                      </a:r>
                      <a:r>
                        <a:rPr lang="en-US" sz="2800" dirty="0" err="1">
                          <a:effectLst/>
                        </a:rPr>
                        <a:t>dilakukan</a:t>
                      </a:r>
                      <a:r>
                        <a:rPr lang="en-US" sz="2800" dirty="0">
                          <a:effectLst/>
                        </a:rPr>
                        <a:t>, </a:t>
                      </a:r>
                      <a:r>
                        <a:rPr lang="en-US" sz="2800" dirty="0" err="1">
                          <a:effectLst/>
                        </a:rPr>
                        <a:t>dapat</a:t>
                      </a:r>
                      <a:r>
                        <a:rPr lang="en-US" sz="2800" dirty="0">
                          <a:effectLst/>
                        </a:rPr>
                        <a:t> </a:t>
                      </a:r>
                      <a:r>
                        <a:rPr lang="en-US" sz="2800" dirty="0" err="1">
                          <a:effectLst/>
                        </a:rPr>
                        <a:t>diketahui</a:t>
                      </a:r>
                      <a:r>
                        <a:rPr lang="en-US" sz="2800" dirty="0">
                          <a:effectLst/>
                        </a:rPr>
                        <a:t> </a:t>
                      </a:r>
                      <a:r>
                        <a:rPr lang="en-US" sz="2800" dirty="0" err="1">
                          <a:effectLst/>
                        </a:rPr>
                        <a:t>bahwa</a:t>
                      </a:r>
                      <a:r>
                        <a:rPr lang="en-US" sz="2800" dirty="0">
                          <a:effectLst/>
                        </a:rPr>
                        <a:t> </a:t>
                      </a:r>
                      <a:r>
                        <a:rPr lang="en-US" sz="2800" dirty="0" err="1">
                          <a:effectLst/>
                        </a:rPr>
                        <a:t>perancangan</a:t>
                      </a:r>
                      <a:r>
                        <a:rPr lang="en-US" sz="2800" dirty="0">
                          <a:effectLst/>
                        </a:rPr>
                        <a:t> </a:t>
                      </a:r>
                      <a:r>
                        <a:rPr lang="en-US" sz="2800" dirty="0" err="1">
                          <a:effectLst/>
                        </a:rPr>
                        <a:t>jaringan</a:t>
                      </a:r>
                      <a:r>
                        <a:rPr lang="en-US" sz="2800" dirty="0">
                          <a:effectLst/>
                        </a:rPr>
                        <a:t> Virtual Local Area Network (VLAN) </a:t>
                      </a:r>
                      <a:r>
                        <a:rPr lang="en-US" sz="2800" dirty="0" err="1">
                          <a:effectLst/>
                        </a:rPr>
                        <a:t>ini</a:t>
                      </a:r>
                      <a:r>
                        <a:rPr lang="en-US" sz="2800" dirty="0">
                          <a:effectLst/>
                        </a:rPr>
                        <a:t> </a:t>
                      </a:r>
                      <a:r>
                        <a:rPr lang="en-US" sz="2800" dirty="0" err="1">
                          <a:effectLst/>
                        </a:rPr>
                        <a:t>layak</a:t>
                      </a:r>
                      <a:r>
                        <a:rPr lang="en-US" sz="2800" dirty="0">
                          <a:effectLst/>
                        </a:rPr>
                        <a:t> </a:t>
                      </a:r>
                      <a:r>
                        <a:rPr lang="en-US" sz="2800" dirty="0" err="1">
                          <a:effectLst/>
                        </a:rPr>
                        <a:t>untuk</a:t>
                      </a:r>
                      <a:r>
                        <a:rPr lang="en-US" sz="2800" dirty="0">
                          <a:effectLst/>
                        </a:rPr>
                        <a:t> </a:t>
                      </a:r>
                      <a:r>
                        <a:rPr lang="en-US" sz="2800" dirty="0" err="1">
                          <a:effectLst/>
                        </a:rPr>
                        <a:t>diimplementasikan</a:t>
                      </a:r>
                      <a:r>
                        <a:rPr lang="en-US" sz="2800" dirty="0">
                          <a:effectLst/>
                        </a:rPr>
                        <a:t>.”</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extLst>
                  <a:ext uri="{0D108BD9-81ED-4DB2-BD59-A6C34878D82A}">
                    <a16:rowId xmlns:a16="http://schemas.microsoft.com/office/drawing/2014/main" val="1266692384"/>
                  </a:ext>
                </a:extLst>
              </a:tr>
              <a:tr h="2421510">
                <a:tc>
                  <a:txBody>
                    <a:bodyPr/>
                    <a:lstStyle/>
                    <a:p>
                      <a:pPr algn="ctr">
                        <a:lnSpc>
                          <a:spcPct val="106000"/>
                        </a:lnSpc>
                        <a:spcBef>
                          <a:spcPts val="400"/>
                        </a:spcBef>
                        <a:spcAft>
                          <a:spcPts val="400"/>
                        </a:spcAft>
                      </a:pPr>
                      <a:r>
                        <a:rPr lang="en-US" sz="2800">
                          <a:effectLst/>
                        </a:rPr>
                        <a:t>2</a:t>
                      </a:r>
                      <a:endParaRPr lang="en-US" sz="2800">
                        <a:effectLst/>
                        <a:latin typeface="Inter" panose="020B0604020202020204" charset="0"/>
                        <a:ea typeface="Inter" panose="020B0604020202020204" charset="0"/>
                        <a:cs typeface="Times New Roman" panose="02020603050405020304" pitchFamily="18" charset="0"/>
                      </a:endParaRPr>
                    </a:p>
                  </a:txBody>
                  <a:tcPr marL="35399" marR="35399" marT="0" marB="0" anchor="ctr">
                    <a:lnR w="12700" cmpd="sng">
                      <a:noFill/>
                    </a:lnR>
                  </a:tcPr>
                </a:tc>
                <a:tc>
                  <a:txBody>
                    <a:bodyPr/>
                    <a:lstStyle/>
                    <a:p>
                      <a:pPr algn="ctr">
                        <a:lnSpc>
                          <a:spcPct val="106000"/>
                        </a:lnSpc>
                        <a:spcBef>
                          <a:spcPts val="400"/>
                        </a:spcBef>
                        <a:spcAft>
                          <a:spcPts val="400"/>
                        </a:spcAft>
                      </a:pPr>
                      <a:r>
                        <a:rPr lang="it-IT" sz="2800" dirty="0">
                          <a:effectLst/>
                        </a:rPr>
                        <a:t>Noviriandini, A., Bachtiar, D., &amp; Indriyani, L. (2023).</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06000"/>
                        </a:lnSpc>
                        <a:spcBef>
                          <a:spcPts val="400"/>
                        </a:spcBef>
                        <a:spcAft>
                          <a:spcPts val="400"/>
                        </a:spcAft>
                      </a:pPr>
                      <a:r>
                        <a:rPr lang="en-US" sz="2800" dirty="0">
                          <a:effectLst/>
                        </a:rPr>
                        <a:t>Perancangan </a:t>
                      </a:r>
                      <a:r>
                        <a:rPr lang="en-US" sz="2800" dirty="0" err="1">
                          <a:effectLst/>
                        </a:rPr>
                        <a:t>jaringan</a:t>
                      </a:r>
                      <a:r>
                        <a:rPr lang="en-US" sz="2800" dirty="0">
                          <a:effectLst/>
                        </a:rPr>
                        <a:t> Virtual Local Area Network </a:t>
                      </a:r>
                      <a:r>
                        <a:rPr lang="en-US" sz="2800" dirty="0" err="1">
                          <a:effectLst/>
                        </a:rPr>
                        <a:t>menggunakan</a:t>
                      </a:r>
                      <a:r>
                        <a:rPr lang="en-US" sz="2800" dirty="0">
                          <a:effectLst/>
                        </a:rPr>
                        <a:t> Cisco Packet Tracer pada SMK Islam </a:t>
                      </a:r>
                      <a:r>
                        <a:rPr lang="en-US" sz="2800" dirty="0" err="1">
                          <a:effectLst/>
                        </a:rPr>
                        <a:t>Assa’adatul</a:t>
                      </a:r>
                      <a:r>
                        <a:rPr lang="en-US" sz="2800" dirty="0">
                          <a:effectLst/>
                        </a:rPr>
                        <a:t> </a:t>
                      </a:r>
                      <a:r>
                        <a:rPr lang="en-US" sz="2800" dirty="0" err="1">
                          <a:effectLst/>
                        </a:rPr>
                        <a:t>Abadiyah</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lnL w="12700" cmpd="sng">
                      <a:noFill/>
                    </a:lnL>
                  </a:tcPr>
                </a:tc>
                <a:tc>
                  <a:txBody>
                    <a:bodyPr/>
                    <a:lstStyle/>
                    <a:p>
                      <a:pPr algn="ctr">
                        <a:lnSpc>
                          <a:spcPct val="106000"/>
                        </a:lnSpc>
                        <a:spcBef>
                          <a:spcPts val="400"/>
                        </a:spcBef>
                        <a:spcAft>
                          <a:spcPts val="400"/>
                        </a:spcAft>
                      </a:pPr>
                      <a:r>
                        <a:rPr lang="en-US" sz="2800" dirty="0">
                          <a:effectLst/>
                        </a:rPr>
                        <a:t>“</a:t>
                      </a:r>
                      <a:r>
                        <a:rPr lang="en-US" sz="2800" dirty="0" err="1">
                          <a:effectLst/>
                        </a:rPr>
                        <a:t>Penerapan</a:t>
                      </a:r>
                      <a:r>
                        <a:rPr lang="en-US" sz="2800" dirty="0">
                          <a:effectLst/>
                        </a:rPr>
                        <a:t> </a:t>
                      </a:r>
                      <a:r>
                        <a:rPr lang="en-US" sz="2800" dirty="0" err="1">
                          <a:effectLst/>
                        </a:rPr>
                        <a:t>topologi</a:t>
                      </a:r>
                      <a:r>
                        <a:rPr lang="en-US" sz="2800" dirty="0">
                          <a:effectLst/>
                        </a:rPr>
                        <a:t> VLAN </a:t>
                      </a:r>
                      <a:r>
                        <a:rPr lang="en-US" sz="2800" dirty="0" err="1">
                          <a:effectLst/>
                        </a:rPr>
                        <a:t>mampu</a:t>
                      </a:r>
                      <a:r>
                        <a:rPr lang="en-US" sz="2800" dirty="0">
                          <a:effectLst/>
                        </a:rPr>
                        <a:t> </a:t>
                      </a:r>
                      <a:r>
                        <a:rPr lang="en-US" sz="2800" dirty="0" err="1">
                          <a:effectLst/>
                        </a:rPr>
                        <a:t>mengelompokkan</a:t>
                      </a:r>
                      <a:r>
                        <a:rPr lang="en-US" sz="2800" dirty="0">
                          <a:effectLst/>
                        </a:rPr>
                        <a:t> </a:t>
                      </a:r>
                      <a:r>
                        <a:rPr lang="en-US" sz="2800" dirty="0" err="1">
                          <a:effectLst/>
                        </a:rPr>
                        <a:t>jaringan</a:t>
                      </a:r>
                      <a:r>
                        <a:rPr lang="en-US" sz="2800" dirty="0">
                          <a:effectLst/>
                        </a:rPr>
                        <a:t> </a:t>
                      </a:r>
                      <a:r>
                        <a:rPr lang="en-US" sz="2800" dirty="0" err="1">
                          <a:effectLst/>
                        </a:rPr>
                        <a:t>tanpa</a:t>
                      </a:r>
                      <a:r>
                        <a:rPr lang="en-US" sz="2800" dirty="0">
                          <a:effectLst/>
                        </a:rPr>
                        <a:t> </a:t>
                      </a:r>
                      <a:r>
                        <a:rPr lang="en-US" sz="2800" dirty="0" err="1">
                          <a:effectLst/>
                        </a:rPr>
                        <a:t>bergantung</a:t>
                      </a:r>
                      <a:r>
                        <a:rPr lang="en-US" sz="2800" dirty="0">
                          <a:effectLst/>
                        </a:rPr>
                        <a:t> pada </a:t>
                      </a:r>
                      <a:r>
                        <a:rPr lang="en-US" sz="2800" dirty="0" err="1">
                          <a:effectLst/>
                        </a:rPr>
                        <a:t>lokasi</a:t>
                      </a:r>
                      <a:r>
                        <a:rPr lang="en-US" sz="2800" dirty="0">
                          <a:effectLst/>
                        </a:rPr>
                        <a:t> </a:t>
                      </a:r>
                      <a:r>
                        <a:rPr lang="en-US" sz="2800" dirty="0" err="1">
                          <a:effectLst/>
                        </a:rPr>
                        <a:t>fisik</a:t>
                      </a:r>
                      <a:r>
                        <a:rPr lang="en-US" sz="2800" dirty="0">
                          <a:effectLst/>
                        </a:rPr>
                        <a:t> </a:t>
                      </a:r>
                      <a:r>
                        <a:rPr lang="en-US" sz="2800" dirty="0" err="1">
                          <a:effectLst/>
                        </a:rPr>
                        <a:t>medianya</a:t>
                      </a:r>
                      <a:r>
                        <a:rPr lang="en-US" sz="2800" dirty="0">
                          <a:effectLst/>
                        </a:rPr>
                        <a:t>, </a:t>
                      </a:r>
                      <a:r>
                        <a:rPr lang="en-US" sz="2800" dirty="0" err="1">
                          <a:effectLst/>
                        </a:rPr>
                        <a:t>sehingga</a:t>
                      </a:r>
                      <a:r>
                        <a:rPr lang="en-US" sz="2800" dirty="0">
                          <a:effectLst/>
                        </a:rPr>
                        <a:t> </a:t>
                      </a:r>
                      <a:r>
                        <a:rPr lang="en-US" sz="2800" dirty="0" err="1">
                          <a:effectLst/>
                        </a:rPr>
                        <a:t>memudahkan</a:t>
                      </a:r>
                      <a:r>
                        <a:rPr lang="en-US" sz="2800" dirty="0">
                          <a:effectLst/>
                        </a:rPr>
                        <a:t> </a:t>
                      </a:r>
                      <a:r>
                        <a:rPr lang="en-US" sz="2800" dirty="0" err="1">
                          <a:effectLst/>
                        </a:rPr>
                        <a:t>dalam</a:t>
                      </a:r>
                      <a:r>
                        <a:rPr lang="en-US" sz="2800" dirty="0">
                          <a:effectLst/>
                        </a:rPr>
                        <a:t> </a:t>
                      </a:r>
                      <a:r>
                        <a:rPr lang="en-US" sz="2800" dirty="0" err="1">
                          <a:effectLst/>
                        </a:rPr>
                        <a:t>pengelolaan</a:t>
                      </a:r>
                      <a:r>
                        <a:rPr lang="en-US" sz="2800" dirty="0">
                          <a:effectLst/>
                        </a:rPr>
                        <a:t> </a:t>
                      </a:r>
                      <a:r>
                        <a:rPr lang="en-US" sz="2800" dirty="0" err="1">
                          <a:effectLst/>
                        </a:rPr>
                        <a:t>jaringan</a:t>
                      </a:r>
                      <a:r>
                        <a:rPr lang="en-US" sz="2800" dirty="0">
                          <a:effectLst/>
                        </a:rPr>
                        <a:t>.”</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extLst>
                  <a:ext uri="{0D108BD9-81ED-4DB2-BD59-A6C34878D82A}">
                    <a16:rowId xmlns:a16="http://schemas.microsoft.com/office/drawing/2014/main" val="3633688022"/>
                  </a:ext>
                </a:extLst>
              </a:tr>
              <a:tr h="1975236">
                <a:tc>
                  <a:txBody>
                    <a:bodyPr/>
                    <a:lstStyle/>
                    <a:p>
                      <a:pPr algn="ctr">
                        <a:lnSpc>
                          <a:spcPct val="106000"/>
                        </a:lnSpc>
                        <a:spcBef>
                          <a:spcPts val="400"/>
                        </a:spcBef>
                        <a:spcAft>
                          <a:spcPts val="400"/>
                        </a:spcAft>
                      </a:pPr>
                      <a:r>
                        <a:rPr lang="en-US" sz="2800">
                          <a:effectLst/>
                        </a:rPr>
                        <a:t>3</a:t>
                      </a:r>
                      <a:endParaRPr lang="en-US" sz="280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dirty="0">
                          <a:effectLst/>
                        </a:rPr>
                        <a:t>Bayu, K., </a:t>
                      </a:r>
                      <a:r>
                        <a:rPr lang="en-US" sz="2800" dirty="0" err="1">
                          <a:effectLst/>
                        </a:rPr>
                        <a:t>Nurcahyo</a:t>
                      </a:r>
                      <a:r>
                        <a:rPr lang="en-US" sz="2800" dirty="0">
                          <a:effectLst/>
                        </a:rPr>
                        <a:t>, A., &amp; </a:t>
                      </a:r>
                      <a:r>
                        <a:rPr lang="en-US" sz="2800" dirty="0" err="1">
                          <a:effectLst/>
                        </a:rPr>
                        <a:t>Prihanto</a:t>
                      </a:r>
                      <a:r>
                        <a:rPr lang="en-US" sz="2800" dirty="0">
                          <a:effectLst/>
                        </a:rPr>
                        <a:t>, A. (2021). </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lnT w="12700" cmpd="sng">
                      <a:noFill/>
                    </a:lnT>
                  </a:tcPr>
                </a:tc>
                <a:tc>
                  <a:txBody>
                    <a:bodyPr/>
                    <a:lstStyle/>
                    <a:p>
                      <a:pPr algn="ctr">
                        <a:lnSpc>
                          <a:spcPct val="106000"/>
                        </a:lnSpc>
                        <a:spcBef>
                          <a:spcPts val="400"/>
                        </a:spcBef>
                        <a:spcAft>
                          <a:spcPts val="400"/>
                        </a:spcAft>
                      </a:pPr>
                      <a:r>
                        <a:rPr lang="en-US" sz="2800" dirty="0">
                          <a:effectLst/>
                        </a:rPr>
                        <a:t>Analisis Quality of Service (QoS) pada </a:t>
                      </a:r>
                      <a:r>
                        <a:rPr lang="en-US" sz="2800" dirty="0" err="1">
                          <a:effectLst/>
                        </a:rPr>
                        <a:t>jaringan</a:t>
                      </a:r>
                      <a:r>
                        <a:rPr lang="en-US" sz="2800" dirty="0">
                          <a:effectLst/>
                        </a:rPr>
                        <a:t> VLAN (Virtual Local Area Network). </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tc>
                  <a:txBody>
                    <a:bodyPr/>
                    <a:lstStyle/>
                    <a:p>
                      <a:pPr algn="ctr">
                        <a:lnSpc>
                          <a:spcPct val="106000"/>
                        </a:lnSpc>
                        <a:spcBef>
                          <a:spcPts val="400"/>
                        </a:spcBef>
                        <a:spcAft>
                          <a:spcPts val="400"/>
                        </a:spcAft>
                      </a:pPr>
                      <a:r>
                        <a:rPr lang="en-US" sz="2800" dirty="0">
                          <a:effectLst/>
                        </a:rPr>
                        <a:t>“</a:t>
                      </a:r>
                      <a:r>
                        <a:rPr lang="en-US" sz="2800" dirty="0" err="1">
                          <a:effectLst/>
                        </a:rPr>
                        <a:t>Setelah</a:t>
                      </a:r>
                      <a:r>
                        <a:rPr lang="en-US" sz="2800" dirty="0">
                          <a:effectLst/>
                        </a:rPr>
                        <a:t> </a:t>
                      </a:r>
                      <a:r>
                        <a:rPr lang="en-US" sz="2800" dirty="0" err="1">
                          <a:effectLst/>
                        </a:rPr>
                        <a:t>diterapkan</a:t>
                      </a:r>
                      <a:r>
                        <a:rPr lang="en-US" sz="2800" dirty="0">
                          <a:effectLst/>
                        </a:rPr>
                        <a:t> VLAN, </a:t>
                      </a:r>
                      <a:r>
                        <a:rPr lang="en-US" sz="2800" dirty="0" err="1">
                          <a:effectLst/>
                        </a:rPr>
                        <a:t>performansi</a:t>
                      </a:r>
                      <a:r>
                        <a:rPr lang="en-US" sz="2800" dirty="0">
                          <a:effectLst/>
                        </a:rPr>
                        <a:t> </a:t>
                      </a:r>
                      <a:r>
                        <a:rPr lang="en-US" sz="2800" dirty="0" err="1">
                          <a:effectLst/>
                        </a:rPr>
                        <a:t>jaringan</a:t>
                      </a:r>
                      <a:r>
                        <a:rPr lang="en-US" sz="2800" dirty="0">
                          <a:effectLst/>
                        </a:rPr>
                        <a:t> </a:t>
                      </a:r>
                      <a:r>
                        <a:rPr lang="en-US" sz="2800" dirty="0" err="1">
                          <a:effectLst/>
                        </a:rPr>
                        <a:t>menjadi</a:t>
                      </a:r>
                      <a:r>
                        <a:rPr lang="en-US" sz="2800" dirty="0">
                          <a:effectLst/>
                        </a:rPr>
                        <a:t> </a:t>
                      </a:r>
                      <a:r>
                        <a:rPr lang="en-US" sz="2800" dirty="0" err="1">
                          <a:effectLst/>
                        </a:rPr>
                        <a:t>jauh</a:t>
                      </a:r>
                      <a:r>
                        <a:rPr lang="en-US" sz="2800" dirty="0">
                          <a:effectLst/>
                        </a:rPr>
                        <a:t> </a:t>
                      </a:r>
                      <a:r>
                        <a:rPr lang="en-US" sz="2800" dirty="0" err="1">
                          <a:effectLst/>
                        </a:rPr>
                        <a:t>lebih</a:t>
                      </a:r>
                      <a:r>
                        <a:rPr lang="en-US" sz="2800" dirty="0">
                          <a:effectLst/>
                        </a:rPr>
                        <a:t> </a:t>
                      </a:r>
                      <a:r>
                        <a:rPr lang="en-US" sz="2800" dirty="0" err="1">
                          <a:effectLst/>
                        </a:rPr>
                        <a:t>baik</a:t>
                      </a:r>
                      <a:r>
                        <a:rPr lang="en-US" sz="2800" dirty="0">
                          <a:effectLst/>
                        </a:rPr>
                        <a:t> </a:t>
                      </a:r>
                      <a:r>
                        <a:rPr lang="en-US" sz="2800" dirty="0" err="1">
                          <a:effectLst/>
                        </a:rPr>
                        <a:t>karena</a:t>
                      </a:r>
                      <a:r>
                        <a:rPr lang="en-US" sz="2800" dirty="0">
                          <a:effectLst/>
                        </a:rPr>
                        <a:t> pada </a:t>
                      </a:r>
                      <a:r>
                        <a:rPr lang="en-US" sz="2800" dirty="0" err="1">
                          <a:effectLst/>
                        </a:rPr>
                        <a:t>topologi</a:t>
                      </a:r>
                      <a:r>
                        <a:rPr lang="en-US" sz="2800" dirty="0">
                          <a:effectLst/>
                        </a:rPr>
                        <a:t> </a:t>
                      </a:r>
                      <a:r>
                        <a:rPr lang="en-US" sz="2800" dirty="0" err="1">
                          <a:effectLst/>
                        </a:rPr>
                        <a:t>tersebut</a:t>
                      </a:r>
                      <a:r>
                        <a:rPr lang="en-US" sz="2800" dirty="0">
                          <a:effectLst/>
                        </a:rPr>
                        <a:t> </a:t>
                      </a:r>
                      <a:r>
                        <a:rPr lang="en-US" sz="2800" dirty="0" err="1">
                          <a:effectLst/>
                        </a:rPr>
                        <a:t>setiap</a:t>
                      </a:r>
                      <a:r>
                        <a:rPr lang="en-US" sz="2800" dirty="0">
                          <a:effectLst/>
                        </a:rPr>
                        <a:t> network </a:t>
                      </a:r>
                      <a:r>
                        <a:rPr lang="en-US" sz="2800" dirty="0" err="1">
                          <a:effectLst/>
                        </a:rPr>
                        <a:t>hanya</a:t>
                      </a:r>
                      <a:r>
                        <a:rPr lang="en-US" sz="2800" dirty="0">
                          <a:effectLst/>
                        </a:rPr>
                        <a:t> </a:t>
                      </a:r>
                      <a:r>
                        <a:rPr lang="en-US" sz="2800" dirty="0" err="1">
                          <a:effectLst/>
                        </a:rPr>
                        <a:t>menerima</a:t>
                      </a:r>
                      <a:r>
                        <a:rPr lang="en-US" sz="2800" dirty="0">
                          <a:effectLst/>
                        </a:rPr>
                        <a:t> broadcast ARP </a:t>
                      </a:r>
                      <a:r>
                        <a:rPr lang="en-US" sz="2800" dirty="0" err="1">
                          <a:effectLst/>
                        </a:rPr>
                        <a:t>sesuai</a:t>
                      </a:r>
                      <a:r>
                        <a:rPr lang="en-US" sz="2800" dirty="0">
                          <a:effectLst/>
                        </a:rPr>
                        <a:t> </a:t>
                      </a:r>
                      <a:r>
                        <a:rPr lang="en-US" sz="2800" dirty="0" err="1">
                          <a:effectLst/>
                        </a:rPr>
                        <a:t>dengan</a:t>
                      </a:r>
                      <a:r>
                        <a:rPr lang="en-US" sz="2800" dirty="0">
                          <a:effectLst/>
                        </a:rPr>
                        <a:t> VLAN-</a:t>
                      </a:r>
                      <a:r>
                        <a:rPr lang="en-US" sz="2800" dirty="0" err="1">
                          <a:effectLst/>
                        </a:rPr>
                        <a:t>nya</a:t>
                      </a:r>
                      <a:r>
                        <a:rPr lang="en-US" sz="2800" dirty="0">
                          <a:effectLst/>
                        </a:rPr>
                        <a:t>, </a:t>
                      </a:r>
                      <a:r>
                        <a:rPr lang="en-US" sz="2800" dirty="0" err="1">
                          <a:effectLst/>
                        </a:rPr>
                        <a:t>sehingga</a:t>
                      </a:r>
                      <a:r>
                        <a:rPr lang="en-US" sz="2800" dirty="0">
                          <a:effectLst/>
                        </a:rPr>
                        <a:t> </a:t>
                      </a:r>
                      <a:r>
                        <a:rPr lang="en-US" sz="2800" dirty="0" err="1">
                          <a:effectLst/>
                        </a:rPr>
                        <a:t>tiap-tiap</a:t>
                      </a:r>
                      <a:r>
                        <a:rPr lang="en-US" sz="2800" dirty="0">
                          <a:effectLst/>
                        </a:rPr>
                        <a:t> </a:t>
                      </a:r>
                      <a:r>
                        <a:rPr lang="en-US" sz="2800" dirty="0" err="1">
                          <a:effectLst/>
                        </a:rPr>
                        <a:t>ruangan</a:t>
                      </a:r>
                      <a:r>
                        <a:rPr lang="en-US" sz="2800" dirty="0">
                          <a:effectLst/>
                        </a:rPr>
                        <a:t> </a:t>
                      </a:r>
                      <a:r>
                        <a:rPr lang="en-US" sz="2800" dirty="0" err="1">
                          <a:effectLst/>
                        </a:rPr>
                        <a:t>dapat</a:t>
                      </a:r>
                      <a:r>
                        <a:rPr lang="en-US" sz="2800" dirty="0">
                          <a:effectLst/>
                        </a:rPr>
                        <a:t> </a:t>
                      </a:r>
                      <a:r>
                        <a:rPr lang="en-US" sz="2800" dirty="0" err="1">
                          <a:effectLst/>
                        </a:rPr>
                        <a:t>saling</a:t>
                      </a:r>
                      <a:r>
                        <a:rPr lang="en-US" sz="2800" dirty="0">
                          <a:effectLst/>
                        </a:rPr>
                        <a:t> </a:t>
                      </a:r>
                      <a:r>
                        <a:rPr lang="en-US" sz="2800" dirty="0" err="1">
                          <a:effectLst/>
                        </a:rPr>
                        <a:t>terhubung</a:t>
                      </a:r>
                      <a:r>
                        <a:rPr lang="en-US" sz="2800" dirty="0">
                          <a:effectLst/>
                        </a:rPr>
                        <a:t> </a:t>
                      </a:r>
                      <a:r>
                        <a:rPr lang="en-US" sz="2800" dirty="0" err="1">
                          <a:effectLst/>
                        </a:rPr>
                        <a:t>secara</a:t>
                      </a:r>
                      <a:r>
                        <a:rPr lang="en-US" sz="2800" dirty="0">
                          <a:effectLst/>
                        </a:rPr>
                        <a:t> </a:t>
                      </a:r>
                      <a:r>
                        <a:rPr lang="en-US" sz="2800" dirty="0" err="1">
                          <a:effectLst/>
                        </a:rPr>
                        <a:t>lebih</a:t>
                      </a:r>
                      <a:r>
                        <a:rPr lang="en-US" sz="2800" dirty="0">
                          <a:effectLst/>
                        </a:rPr>
                        <a:t> optimal.”</a:t>
                      </a:r>
                      <a:endParaRPr lang="en-US" sz="2800" dirty="0">
                        <a:effectLst/>
                        <a:latin typeface="Inter" panose="020B0604020202020204" charset="0"/>
                        <a:ea typeface="Inter" panose="020B0604020202020204" charset="0"/>
                        <a:cs typeface="Times New Roman" panose="02020603050405020304" pitchFamily="18" charset="0"/>
                      </a:endParaRPr>
                    </a:p>
                  </a:txBody>
                  <a:tcPr marL="35399" marR="35399" marT="0" marB="0" anchor="ctr"/>
                </a:tc>
                <a:extLst>
                  <a:ext uri="{0D108BD9-81ED-4DB2-BD59-A6C34878D82A}">
                    <a16:rowId xmlns:a16="http://schemas.microsoft.com/office/drawing/2014/main" val="2417645865"/>
                  </a:ext>
                </a:extLst>
              </a:tr>
            </a:tbl>
          </a:graphicData>
        </a:graphic>
      </p:graphicFrame>
    </p:spTree>
    <p:extLst>
      <p:ext uri="{BB962C8B-B14F-4D97-AF65-F5344CB8AC3E}">
        <p14:creationId xmlns:p14="http://schemas.microsoft.com/office/powerpoint/2010/main" val="3910792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935A-DEE5-825D-0ECB-D2F81A09D96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8016D47-3995-5EBA-9D79-25E7749659AF}"/>
              </a:ext>
            </a:extLst>
          </p:cNvPr>
          <p:cNvSpPr txBox="1"/>
          <p:nvPr/>
        </p:nvSpPr>
        <p:spPr>
          <a:xfrm>
            <a:off x="1028700" y="1291526"/>
            <a:ext cx="12559128" cy="1228340"/>
          </a:xfrm>
          <a:prstGeom prst="rect">
            <a:avLst/>
          </a:prstGeom>
        </p:spPr>
        <p:txBody>
          <a:bodyPr lIns="0" tIns="0" rIns="0" bIns="0" rtlCol="0" anchor="t">
            <a:spAutoFit/>
          </a:bodyPr>
          <a:lstStyle/>
          <a:p>
            <a:pPr>
              <a:lnSpc>
                <a:spcPts val="9600"/>
              </a:lnSpc>
            </a:pPr>
            <a:r>
              <a:rPr lang="en-US" sz="8000" dirty="0">
                <a:solidFill>
                  <a:srgbClr val="242725"/>
                </a:solidFill>
                <a:latin typeface="Inter Bold"/>
              </a:rPr>
              <a:t>Analisis </a:t>
            </a:r>
            <a:r>
              <a:rPr lang="en-US" sz="8000" dirty="0" err="1">
                <a:solidFill>
                  <a:srgbClr val="242725"/>
                </a:solidFill>
                <a:latin typeface="Inter Bold"/>
              </a:rPr>
              <a:t>Kebutuhan</a:t>
            </a:r>
            <a:endParaRPr lang="en-US" sz="8000" dirty="0">
              <a:solidFill>
                <a:srgbClr val="242725"/>
              </a:solidFill>
              <a:latin typeface="Inter Bold"/>
            </a:endParaRPr>
          </a:p>
        </p:txBody>
      </p:sp>
      <p:sp>
        <p:nvSpPr>
          <p:cNvPr id="5" name="TextBox 5">
            <a:extLst>
              <a:ext uri="{FF2B5EF4-FFF2-40B4-BE49-F238E27FC236}">
                <a16:creationId xmlns:a16="http://schemas.microsoft.com/office/drawing/2014/main" id="{65CE02FC-8EDE-EECB-D02F-B76859C4ADB6}"/>
              </a:ext>
            </a:extLst>
          </p:cNvPr>
          <p:cNvSpPr txBox="1"/>
          <p:nvPr/>
        </p:nvSpPr>
        <p:spPr>
          <a:xfrm>
            <a:off x="7845487" y="3390900"/>
            <a:ext cx="3997105" cy="5574924"/>
          </a:xfrm>
          <a:prstGeom prst="rect">
            <a:avLst/>
          </a:prstGeom>
        </p:spPr>
        <p:txBody>
          <a:bodyPr wrap="square" lIns="0" tIns="0" rIns="0" bIns="0" rtlCol="0" anchor="t">
            <a:spAutoFit/>
          </a:bodyPr>
          <a:lstStyle/>
          <a:p>
            <a:pPr>
              <a:spcBef>
                <a:spcPct val="0"/>
              </a:spcBef>
            </a:pPr>
            <a:r>
              <a:rPr lang="en-US" sz="4800" b="1" dirty="0">
                <a:solidFill>
                  <a:srgbClr val="242725"/>
                </a:solidFill>
                <a:latin typeface="Inter"/>
              </a:rPr>
              <a:t>Hardware</a:t>
            </a:r>
          </a:p>
          <a:p>
            <a:pPr>
              <a:spcBef>
                <a:spcPct val="0"/>
              </a:spcBef>
            </a:pPr>
            <a:endParaRPr lang="en-US" sz="3200" dirty="0">
              <a:solidFill>
                <a:srgbClr val="242725"/>
              </a:solidFill>
              <a:latin typeface="Inter"/>
            </a:endParaRPr>
          </a:p>
          <a:p>
            <a:pPr>
              <a:lnSpc>
                <a:spcPct val="150000"/>
              </a:lnSpc>
              <a:spcBef>
                <a:spcPct val="0"/>
              </a:spcBef>
            </a:pPr>
            <a:r>
              <a:rPr lang="en-US" sz="3200" dirty="0">
                <a:solidFill>
                  <a:srgbClr val="242725"/>
                </a:solidFill>
                <a:latin typeface="Inter"/>
              </a:rPr>
              <a:t>Laptop</a:t>
            </a:r>
          </a:p>
          <a:p>
            <a:pPr>
              <a:lnSpc>
                <a:spcPct val="150000"/>
              </a:lnSpc>
              <a:spcBef>
                <a:spcPct val="0"/>
              </a:spcBef>
            </a:pPr>
            <a:r>
              <a:rPr lang="en-US" sz="3200" dirty="0">
                <a:solidFill>
                  <a:srgbClr val="242725"/>
                </a:solidFill>
                <a:latin typeface="Inter"/>
              </a:rPr>
              <a:t>Modem</a:t>
            </a:r>
          </a:p>
          <a:p>
            <a:pPr>
              <a:lnSpc>
                <a:spcPct val="150000"/>
              </a:lnSpc>
              <a:spcBef>
                <a:spcPct val="0"/>
              </a:spcBef>
            </a:pPr>
            <a:r>
              <a:rPr lang="en-US" sz="3200" dirty="0">
                <a:solidFill>
                  <a:srgbClr val="242725"/>
                </a:solidFill>
                <a:latin typeface="Inter"/>
              </a:rPr>
              <a:t>Router </a:t>
            </a:r>
            <a:r>
              <a:rPr lang="en-US" sz="3200" dirty="0" err="1">
                <a:solidFill>
                  <a:srgbClr val="242725"/>
                </a:solidFill>
                <a:latin typeface="Inter"/>
              </a:rPr>
              <a:t>Mikrotik</a:t>
            </a:r>
            <a:endParaRPr lang="en-US" sz="3200" dirty="0">
              <a:solidFill>
                <a:srgbClr val="242725"/>
              </a:solidFill>
              <a:latin typeface="Inter"/>
            </a:endParaRPr>
          </a:p>
          <a:p>
            <a:pPr>
              <a:lnSpc>
                <a:spcPct val="150000"/>
              </a:lnSpc>
              <a:spcBef>
                <a:spcPct val="0"/>
              </a:spcBef>
            </a:pPr>
            <a:r>
              <a:rPr lang="en-US" sz="3200" dirty="0" err="1">
                <a:solidFill>
                  <a:srgbClr val="242725"/>
                </a:solidFill>
                <a:latin typeface="Inter"/>
              </a:rPr>
              <a:t>Mikrotik</a:t>
            </a:r>
            <a:r>
              <a:rPr lang="en-US" sz="3200" dirty="0">
                <a:solidFill>
                  <a:srgbClr val="242725"/>
                </a:solidFill>
                <a:latin typeface="Inter"/>
              </a:rPr>
              <a:t> </a:t>
            </a:r>
            <a:r>
              <a:rPr lang="en-US" sz="3200" dirty="0" err="1">
                <a:solidFill>
                  <a:srgbClr val="242725"/>
                </a:solidFill>
                <a:latin typeface="Inter"/>
              </a:rPr>
              <a:t>cAP</a:t>
            </a:r>
            <a:r>
              <a:rPr lang="en-US" sz="3200" dirty="0">
                <a:solidFill>
                  <a:srgbClr val="242725"/>
                </a:solidFill>
                <a:latin typeface="Inter"/>
              </a:rPr>
              <a:t> ac Speaker</a:t>
            </a:r>
          </a:p>
          <a:p>
            <a:pPr>
              <a:lnSpc>
                <a:spcPct val="150000"/>
              </a:lnSpc>
              <a:spcBef>
                <a:spcPct val="0"/>
              </a:spcBef>
            </a:pPr>
            <a:r>
              <a:rPr lang="en-US" sz="3200" dirty="0">
                <a:solidFill>
                  <a:srgbClr val="242725"/>
                </a:solidFill>
                <a:latin typeface="Inter"/>
              </a:rPr>
              <a:t>Handphone</a:t>
            </a:r>
          </a:p>
        </p:txBody>
      </p:sp>
      <p:grpSp>
        <p:nvGrpSpPr>
          <p:cNvPr id="6" name="Group 6">
            <a:extLst>
              <a:ext uri="{FF2B5EF4-FFF2-40B4-BE49-F238E27FC236}">
                <a16:creationId xmlns:a16="http://schemas.microsoft.com/office/drawing/2014/main" id="{8849A128-16BC-1462-60C1-59CE1546AA22}"/>
              </a:ext>
            </a:extLst>
          </p:cNvPr>
          <p:cNvGrpSpPr/>
          <p:nvPr/>
        </p:nvGrpSpPr>
        <p:grpSpPr>
          <a:xfrm>
            <a:off x="1644396" y="4465546"/>
            <a:ext cx="4565737" cy="4565737"/>
            <a:chOff x="0" y="0"/>
            <a:chExt cx="6350000" cy="6350000"/>
          </a:xfrm>
        </p:grpSpPr>
        <p:sp>
          <p:nvSpPr>
            <p:cNvPr id="7" name="Freeform 7">
              <a:extLst>
                <a:ext uri="{FF2B5EF4-FFF2-40B4-BE49-F238E27FC236}">
                  <a16:creationId xmlns:a16="http://schemas.microsoft.com/office/drawing/2014/main" id="{AC1DDBB1-D992-C7EE-4125-9DAAB416FD40}"/>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9" name="AutoShape 9">
            <a:extLst>
              <a:ext uri="{FF2B5EF4-FFF2-40B4-BE49-F238E27FC236}">
                <a16:creationId xmlns:a16="http://schemas.microsoft.com/office/drawing/2014/main" id="{398ED1E6-5A13-36F4-D2DC-725FFBC22715}"/>
              </a:ext>
            </a:extLst>
          </p:cNvPr>
          <p:cNvSpPr/>
          <p:nvPr/>
        </p:nvSpPr>
        <p:spPr>
          <a:xfrm>
            <a:off x="-443075" y="9720640"/>
            <a:ext cx="18865925" cy="566360"/>
          </a:xfrm>
          <a:prstGeom prst="rect">
            <a:avLst/>
          </a:prstGeom>
          <a:solidFill>
            <a:srgbClr val="2ED47B"/>
          </a:solidFill>
        </p:spPr>
      </p:sp>
      <p:grpSp>
        <p:nvGrpSpPr>
          <p:cNvPr id="17" name="Group 17">
            <a:extLst>
              <a:ext uri="{FF2B5EF4-FFF2-40B4-BE49-F238E27FC236}">
                <a16:creationId xmlns:a16="http://schemas.microsoft.com/office/drawing/2014/main" id="{BACEAD3A-02C3-831E-506B-B92A86F01393}"/>
              </a:ext>
            </a:extLst>
          </p:cNvPr>
          <p:cNvGrpSpPr/>
          <p:nvPr/>
        </p:nvGrpSpPr>
        <p:grpSpPr>
          <a:xfrm>
            <a:off x="3927264" y="3045989"/>
            <a:ext cx="2912577" cy="2839113"/>
            <a:chOff x="0" y="0"/>
            <a:chExt cx="4589780" cy="4578350"/>
          </a:xfrm>
        </p:grpSpPr>
        <p:sp>
          <p:nvSpPr>
            <p:cNvPr id="18" name="Freeform 18">
              <a:extLst>
                <a:ext uri="{FF2B5EF4-FFF2-40B4-BE49-F238E27FC236}">
                  <a16:creationId xmlns:a16="http://schemas.microsoft.com/office/drawing/2014/main" id="{2A2082BD-B524-8CF5-9E6C-3AD67A59AC4E}"/>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9" name="Freeform 19">
              <a:extLst>
                <a:ext uri="{FF2B5EF4-FFF2-40B4-BE49-F238E27FC236}">
                  <a16:creationId xmlns:a16="http://schemas.microsoft.com/office/drawing/2014/main" id="{1A4D1618-E22F-E16A-5CB9-850125ACDACB}"/>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20" name="TextBox 6">
            <a:extLst>
              <a:ext uri="{FF2B5EF4-FFF2-40B4-BE49-F238E27FC236}">
                <a16:creationId xmlns:a16="http://schemas.microsoft.com/office/drawing/2014/main" id="{201E33E3-BEA8-3882-79BE-B0A53FEAA80B}"/>
              </a:ext>
            </a:extLst>
          </p:cNvPr>
          <p:cNvSpPr txBox="1"/>
          <p:nvPr/>
        </p:nvSpPr>
        <p:spPr>
          <a:xfrm>
            <a:off x="14262367" y="704850"/>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15</a:t>
            </a:r>
          </a:p>
        </p:txBody>
      </p:sp>
      <p:grpSp>
        <p:nvGrpSpPr>
          <p:cNvPr id="21" name="Group 14">
            <a:extLst>
              <a:ext uri="{FF2B5EF4-FFF2-40B4-BE49-F238E27FC236}">
                <a16:creationId xmlns:a16="http://schemas.microsoft.com/office/drawing/2014/main" id="{45C82598-7D7A-29B9-1633-95A4DFBC2B40}"/>
              </a:ext>
            </a:extLst>
          </p:cNvPr>
          <p:cNvGrpSpPr/>
          <p:nvPr/>
        </p:nvGrpSpPr>
        <p:grpSpPr>
          <a:xfrm>
            <a:off x="7069122" y="6286500"/>
            <a:ext cx="332402" cy="332402"/>
            <a:chOff x="0" y="0"/>
            <a:chExt cx="6350000" cy="6350000"/>
          </a:xfrm>
        </p:grpSpPr>
        <p:sp>
          <p:nvSpPr>
            <p:cNvPr id="22" name="Freeform 15">
              <a:extLst>
                <a:ext uri="{FF2B5EF4-FFF2-40B4-BE49-F238E27FC236}">
                  <a16:creationId xmlns:a16="http://schemas.microsoft.com/office/drawing/2014/main" id="{2090BFA7-893D-DB53-BC68-8E4AF32AD6D3}"/>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sp>
        <p:nvSpPr>
          <p:cNvPr id="23" name="Freeform 15">
            <a:extLst>
              <a:ext uri="{FF2B5EF4-FFF2-40B4-BE49-F238E27FC236}">
                <a16:creationId xmlns:a16="http://schemas.microsoft.com/office/drawing/2014/main" id="{0F051BD5-74AF-F7F7-157F-A97F43A83140}"/>
              </a:ext>
            </a:extLst>
          </p:cNvPr>
          <p:cNvSpPr/>
          <p:nvPr/>
        </p:nvSpPr>
        <p:spPr>
          <a:xfrm>
            <a:off x="7065384" y="84963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7" name="Freeform 15">
            <a:extLst>
              <a:ext uri="{FF2B5EF4-FFF2-40B4-BE49-F238E27FC236}">
                <a16:creationId xmlns:a16="http://schemas.microsoft.com/office/drawing/2014/main" id="{28EEDBA7-299B-21ED-5213-00C530DCA147}"/>
              </a:ext>
            </a:extLst>
          </p:cNvPr>
          <p:cNvSpPr/>
          <p:nvPr/>
        </p:nvSpPr>
        <p:spPr>
          <a:xfrm>
            <a:off x="7069864" y="55730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8" name="Freeform 15">
            <a:extLst>
              <a:ext uri="{FF2B5EF4-FFF2-40B4-BE49-F238E27FC236}">
                <a16:creationId xmlns:a16="http://schemas.microsoft.com/office/drawing/2014/main" id="{9A58152B-6AB7-31AD-C689-A6017A46FFCF}"/>
              </a:ext>
            </a:extLst>
          </p:cNvPr>
          <p:cNvSpPr/>
          <p:nvPr/>
        </p:nvSpPr>
        <p:spPr>
          <a:xfrm>
            <a:off x="7069864" y="70485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29" name="Freeform 15">
            <a:extLst>
              <a:ext uri="{FF2B5EF4-FFF2-40B4-BE49-F238E27FC236}">
                <a16:creationId xmlns:a16="http://schemas.microsoft.com/office/drawing/2014/main" id="{73EE2F40-213A-F688-F0FB-8EC51B2191C4}"/>
              </a:ext>
            </a:extLst>
          </p:cNvPr>
          <p:cNvSpPr/>
          <p:nvPr/>
        </p:nvSpPr>
        <p:spPr>
          <a:xfrm>
            <a:off x="7069864" y="77828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3" name="TextBox 5">
            <a:extLst>
              <a:ext uri="{FF2B5EF4-FFF2-40B4-BE49-F238E27FC236}">
                <a16:creationId xmlns:a16="http://schemas.microsoft.com/office/drawing/2014/main" id="{D398D31D-E7FD-7605-92E9-65730F433149}"/>
              </a:ext>
            </a:extLst>
          </p:cNvPr>
          <p:cNvSpPr txBox="1"/>
          <p:nvPr/>
        </p:nvSpPr>
        <p:spPr>
          <a:xfrm>
            <a:off x="12881287" y="3390900"/>
            <a:ext cx="3806513" cy="4836260"/>
          </a:xfrm>
          <a:prstGeom prst="rect">
            <a:avLst/>
          </a:prstGeom>
        </p:spPr>
        <p:txBody>
          <a:bodyPr wrap="square" lIns="0" tIns="0" rIns="0" bIns="0" rtlCol="0" anchor="t">
            <a:spAutoFit/>
          </a:bodyPr>
          <a:lstStyle/>
          <a:p>
            <a:pPr>
              <a:spcBef>
                <a:spcPct val="0"/>
              </a:spcBef>
            </a:pPr>
            <a:r>
              <a:rPr lang="en-US" sz="4800" b="1" dirty="0">
                <a:solidFill>
                  <a:srgbClr val="242725"/>
                </a:solidFill>
                <a:latin typeface="Inter"/>
              </a:rPr>
              <a:t>Software</a:t>
            </a:r>
          </a:p>
          <a:p>
            <a:pPr>
              <a:spcBef>
                <a:spcPct val="0"/>
              </a:spcBef>
            </a:pPr>
            <a:endParaRPr lang="en-US" sz="3200" dirty="0">
              <a:solidFill>
                <a:srgbClr val="242725"/>
              </a:solidFill>
              <a:latin typeface="Inter"/>
            </a:endParaRPr>
          </a:p>
          <a:p>
            <a:pPr>
              <a:lnSpc>
                <a:spcPct val="150000"/>
              </a:lnSpc>
              <a:spcBef>
                <a:spcPct val="0"/>
              </a:spcBef>
            </a:pPr>
            <a:r>
              <a:rPr lang="en-US" sz="3200" dirty="0">
                <a:solidFill>
                  <a:srgbClr val="242725"/>
                </a:solidFill>
                <a:latin typeface="Inter"/>
              </a:rPr>
              <a:t>Cisco</a:t>
            </a:r>
          </a:p>
          <a:p>
            <a:pPr>
              <a:lnSpc>
                <a:spcPct val="150000"/>
              </a:lnSpc>
              <a:spcBef>
                <a:spcPct val="0"/>
              </a:spcBef>
            </a:pPr>
            <a:r>
              <a:rPr lang="en-US" sz="3200" dirty="0" err="1">
                <a:solidFill>
                  <a:srgbClr val="242725"/>
                </a:solidFill>
                <a:latin typeface="Inter"/>
              </a:rPr>
              <a:t>WinBox</a:t>
            </a:r>
            <a:endParaRPr lang="en-US" sz="3200" dirty="0">
              <a:solidFill>
                <a:srgbClr val="242725"/>
              </a:solidFill>
              <a:latin typeface="Inter"/>
            </a:endParaRPr>
          </a:p>
          <a:p>
            <a:pPr>
              <a:lnSpc>
                <a:spcPct val="150000"/>
              </a:lnSpc>
              <a:spcBef>
                <a:spcPct val="0"/>
              </a:spcBef>
            </a:pPr>
            <a:r>
              <a:rPr lang="en-US" sz="3200" dirty="0">
                <a:solidFill>
                  <a:srgbClr val="242725"/>
                </a:solidFill>
                <a:latin typeface="Inter"/>
              </a:rPr>
              <a:t>Wireshark</a:t>
            </a:r>
          </a:p>
          <a:p>
            <a:pPr>
              <a:lnSpc>
                <a:spcPct val="150000"/>
              </a:lnSpc>
              <a:spcBef>
                <a:spcPct val="0"/>
              </a:spcBef>
            </a:pPr>
            <a:r>
              <a:rPr lang="en-US" sz="3200" dirty="0">
                <a:solidFill>
                  <a:srgbClr val="242725"/>
                </a:solidFill>
                <a:latin typeface="Inter"/>
              </a:rPr>
              <a:t>Chrome</a:t>
            </a:r>
          </a:p>
          <a:p>
            <a:pPr>
              <a:lnSpc>
                <a:spcPct val="150000"/>
              </a:lnSpc>
              <a:spcBef>
                <a:spcPct val="0"/>
              </a:spcBef>
            </a:pPr>
            <a:r>
              <a:rPr lang="en-US" sz="3200" dirty="0" err="1">
                <a:solidFill>
                  <a:srgbClr val="242725"/>
                </a:solidFill>
                <a:latin typeface="Inter"/>
              </a:rPr>
              <a:t>Sistem</a:t>
            </a:r>
            <a:r>
              <a:rPr lang="en-US" sz="3200" dirty="0">
                <a:solidFill>
                  <a:srgbClr val="242725"/>
                </a:solidFill>
                <a:latin typeface="Inter"/>
              </a:rPr>
              <a:t> </a:t>
            </a:r>
            <a:r>
              <a:rPr lang="en-US" sz="3200" dirty="0" err="1">
                <a:solidFill>
                  <a:srgbClr val="242725"/>
                </a:solidFill>
                <a:latin typeface="Inter"/>
              </a:rPr>
              <a:t>Operasi</a:t>
            </a:r>
            <a:endParaRPr lang="en-US" sz="3200" dirty="0">
              <a:solidFill>
                <a:srgbClr val="242725"/>
              </a:solidFill>
              <a:latin typeface="Inter"/>
            </a:endParaRPr>
          </a:p>
        </p:txBody>
      </p:sp>
      <p:sp>
        <p:nvSpPr>
          <p:cNvPr id="4" name="Freeform 15">
            <a:extLst>
              <a:ext uri="{FF2B5EF4-FFF2-40B4-BE49-F238E27FC236}">
                <a16:creationId xmlns:a16="http://schemas.microsoft.com/office/drawing/2014/main" id="{65E5BFC3-27EF-8008-D800-F0912536B053}"/>
              </a:ext>
            </a:extLst>
          </p:cNvPr>
          <p:cNvSpPr/>
          <p:nvPr/>
        </p:nvSpPr>
        <p:spPr>
          <a:xfrm>
            <a:off x="7086600" y="48387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nvGrpSpPr>
          <p:cNvPr id="10" name="Group 14">
            <a:extLst>
              <a:ext uri="{FF2B5EF4-FFF2-40B4-BE49-F238E27FC236}">
                <a16:creationId xmlns:a16="http://schemas.microsoft.com/office/drawing/2014/main" id="{FEDAAB47-614A-7A16-48AA-471C4FB3D77C}"/>
              </a:ext>
            </a:extLst>
          </p:cNvPr>
          <p:cNvGrpSpPr/>
          <p:nvPr/>
        </p:nvGrpSpPr>
        <p:grpSpPr>
          <a:xfrm>
            <a:off x="12195738" y="6286500"/>
            <a:ext cx="332402" cy="332402"/>
            <a:chOff x="0" y="0"/>
            <a:chExt cx="6350000" cy="6350000"/>
          </a:xfrm>
        </p:grpSpPr>
        <p:sp>
          <p:nvSpPr>
            <p:cNvPr id="11" name="Freeform 15">
              <a:extLst>
                <a:ext uri="{FF2B5EF4-FFF2-40B4-BE49-F238E27FC236}">
                  <a16:creationId xmlns:a16="http://schemas.microsoft.com/office/drawing/2014/main" id="{4C9912BF-8538-97FE-1D9D-E6314F4D08FF}"/>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grpSp>
      <p:sp>
        <p:nvSpPr>
          <p:cNvPr id="13" name="Freeform 15">
            <a:extLst>
              <a:ext uri="{FF2B5EF4-FFF2-40B4-BE49-F238E27FC236}">
                <a16:creationId xmlns:a16="http://schemas.microsoft.com/office/drawing/2014/main" id="{E17B1E52-8364-C62F-9FC3-BAB42F31A67D}"/>
              </a:ext>
            </a:extLst>
          </p:cNvPr>
          <p:cNvSpPr/>
          <p:nvPr/>
        </p:nvSpPr>
        <p:spPr>
          <a:xfrm>
            <a:off x="12196480" y="55730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14" name="Freeform 15">
            <a:extLst>
              <a:ext uri="{FF2B5EF4-FFF2-40B4-BE49-F238E27FC236}">
                <a16:creationId xmlns:a16="http://schemas.microsoft.com/office/drawing/2014/main" id="{51D4D421-A8FC-FCFF-4FAD-DA4747FE2D54}"/>
              </a:ext>
            </a:extLst>
          </p:cNvPr>
          <p:cNvSpPr/>
          <p:nvPr/>
        </p:nvSpPr>
        <p:spPr>
          <a:xfrm>
            <a:off x="12196480" y="70485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sp>
        <p:nvSpPr>
          <p:cNvPr id="16" name="Freeform 15">
            <a:extLst>
              <a:ext uri="{FF2B5EF4-FFF2-40B4-BE49-F238E27FC236}">
                <a16:creationId xmlns:a16="http://schemas.microsoft.com/office/drawing/2014/main" id="{ECC418EC-2E66-2492-C7C1-5B6F7624F91D}"/>
              </a:ext>
            </a:extLst>
          </p:cNvPr>
          <p:cNvSpPr/>
          <p:nvPr/>
        </p:nvSpPr>
        <p:spPr>
          <a:xfrm>
            <a:off x="12213216" y="4838700"/>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sp>
      <p:pic>
        <p:nvPicPr>
          <p:cNvPr id="12" name="Picture 11" descr="A person and person sitting at desks with laptops">
            <a:extLst>
              <a:ext uri="{FF2B5EF4-FFF2-40B4-BE49-F238E27FC236}">
                <a16:creationId xmlns:a16="http://schemas.microsoft.com/office/drawing/2014/main" id="{71E6C53E-D321-F9DC-136E-443C4162CC83}"/>
              </a:ext>
            </a:extLst>
          </p:cNvPr>
          <p:cNvPicPr>
            <a:picLocks noChangeAspect="1"/>
          </p:cNvPicPr>
          <p:nvPr/>
        </p:nvPicPr>
        <p:blipFill>
          <a:blip r:embed="rId3">
            <a:extLst>
              <a:ext uri="{28A0092B-C50C-407E-A947-70E740481C1C}">
                <a14:useLocalDpi xmlns:a14="http://schemas.microsoft.com/office/drawing/2010/main" val="0"/>
              </a:ext>
            </a:extLst>
          </a:blip>
          <a:srcRect l="14953" t="22593" r="55590" b="44885"/>
          <a:stretch/>
        </p:blipFill>
        <p:spPr>
          <a:xfrm>
            <a:off x="0" y="4630445"/>
            <a:ext cx="6950381" cy="5115796"/>
          </a:xfrm>
          <a:prstGeom prst="rect">
            <a:avLst/>
          </a:prstGeom>
        </p:spPr>
      </p:pic>
      <p:sp>
        <p:nvSpPr>
          <p:cNvPr id="8" name="Freeform 15">
            <a:extLst>
              <a:ext uri="{FF2B5EF4-FFF2-40B4-BE49-F238E27FC236}">
                <a16:creationId xmlns:a16="http://schemas.microsoft.com/office/drawing/2014/main" id="{14C2FF4F-42A2-A6C1-0A47-3A6F4901CD0A}"/>
              </a:ext>
            </a:extLst>
          </p:cNvPr>
          <p:cNvSpPr/>
          <p:nvPr/>
        </p:nvSpPr>
        <p:spPr>
          <a:xfrm>
            <a:off x="12192000" y="7782898"/>
            <a:ext cx="330919" cy="33240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D47B"/>
          </a:solidFill>
        </p:spPr>
        <p:txBody>
          <a:bodyPr/>
          <a:lstStyle/>
          <a:p>
            <a:endParaRPr lang="en-ID" dirty="0"/>
          </a:p>
        </p:txBody>
      </p:sp>
    </p:spTree>
    <p:extLst>
      <p:ext uri="{BB962C8B-B14F-4D97-AF65-F5344CB8AC3E}">
        <p14:creationId xmlns:p14="http://schemas.microsoft.com/office/powerpoint/2010/main" val="492575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45412" y="2857500"/>
            <a:ext cx="5674233" cy="5674233"/>
            <a:chOff x="0" y="0"/>
            <a:chExt cx="6350000" cy="6350000"/>
          </a:xfrm>
        </p:grpSpPr>
        <p:sp>
          <p:nvSpPr>
            <p:cNvPr id="3" name="Freeform 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Perancangan </a:t>
            </a:r>
            <a:r>
              <a:rPr lang="en-US" sz="5400" dirty="0" err="1">
                <a:solidFill>
                  <a:srgbClr val="242725"/>
                </a:solidFill>
                <a:latin typeface="Inter Bold"/>
              </a:rPr>
              <a:t>Topologi</a:t>
            </a:r>
            <a:r>
              <a:rPr lang="en-US" sz="5400" dirty="0">
                <a:solidFill>
                  <a:srgbClr val="242725"/>
                </a:solidFill>
                <a:latin typeface="Inter Bold"/>
              </a:rPr>
              <a:t> Baru</a:t>
            </a:r>
          </a:p>
        </p:txBody>
      </p:sp>
      <p:sp>
        <p:nvSpPr>
          <p:cNvPr id="7" name="AutoShape 7"/>
          <p:cNvSpPr/>
          <p:nvPr/>
        </p:nvSpPr>
        <p:spPr>
          <a:xfrm>
            <a:off x="-443075" y="9720640"/>
            <a:ext cx="18865925" cy="1140393"/>
          </a:xfrm>
          <a:prstGeom prst="rect">
            <a:avLst/>
          </a:prstGeom>
          <a:solidFill>
            <a:srgbClr val="2ED47B"/>
          </a:solidFill>
        </p:spPr>
      </p:sp>
      <p:grpSp>
        <p:nvGrpSpPr>
          <p:cNvPr id="8" name="Group 8"/>
          <p:cNvGrpSpPr/>
          <p:nvPr/>
        </p:nvGrpSpPr>
        <p:grpSpPr>
          <a:xfrm>
            <a:off x="14590736" y="615615"/>
            <a:ext cx="2912577" cy="2839113"/>
            <a:chOff x="0" y="0"/>
            <a:chExt cx="4589780" cy="4578350"/>
          </a:xfrm>
        </p:grpSpPr>
        <p:sp>
          <p:nvSpPr>
            <p:cNvPr id="9" name="Freeform 9"/>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p:cNvGrpSpPr/>
          <p:nvPr/>
        </p:nvGrpSpPr>
        <p:grpSpPr>
          <a:xfrm>
            <a:off x="566358" y="6741648"/>
            <a:ext cx="2912577" cy="2839113"/>
            <a:chOff x="0" y="0"/>
            <a:chExt cx="4589780" cy="4578350"/>
          </a:xfrm>
        </p:grpSpPr>
        <p:sp>
          <p:nvSpPr>
            <p:cNvPr id="12" name="Freeform 12"/>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2BC78DE7-C717-4879-873D-FDE7EB4DE331}"/>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16</a:t>
            </a:r>
          </a:p>
        </p:txBody>
      </p:sp>
      <p:sp>
        <p:nvSpPr>
          <p:cNvPr id="17" name="AutoShape 14" descr="Sejarah Awal Mula Perjalanan Debian - Loka Baca">
            <a:extLst>
              <a:ext uri="{FF2B5EF4-FFF2-40B4-BE49-F238E27FC236}">
                <a16:creationId xmlns:a16="http://schemas.microsoft.com/office/drawing/2014/main" id="{CD1CACF1-C365-F358-A8AC-F2604DD4B32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0EFA64F3-4C26-183B-8029-2B187AB838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3527" y="2200071"/>
            <a:ext cx="11890250" cy="8406473"/>
          </a:xfrm>
          <a:prstGeom prst="rect">
            <a:avLst/>
          </a:prstGeom>
          <a:noFill/>
          <a:ln>
            <a:noFill/>
          </a:ln>
        </p:spPr>
      </p:pic>
    </p:spTree>
    <p:extLst>
      <p:ext uri="{BB962C8B-B14F-4D97-AF65-F5344CB8AC3E}">
        <p14:creationId xmlns:p14="http://schemas.microsoft.com/office/powerpoint/2010/main" val="1115949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endParaRPr lang="en-US" sz="5400" dirty="0">
              <a:solidFill>
                <a:srgbClr val="242725"/>
              </a:solidFill>
              <a:latin typeface="Inter Bold"/>
            </a:endParaRP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696316"/>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17</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9A179BDA-39FB-D61C-8D8F-4121C187019E}"/>
              </a:ext>
            </a:extLst>
          </p:cNvPr>
          <p:cNvSpPr txBox="1"/>
          <p:nvPr/>
        </p:nvSpPr>
        <p:spPr>
          <a:xfrm>
            <a:off x="228600" y="2291257"/>
            <a:ext cx="17830799" cy="6863417"/>
          </a:xfrm>
          <a:prstGeom prst="rect">
            <a:avLst/>
          </a:prstGeom>
          <a:noFill/>
        </p:spPr>
        <p:txBody>
          <a:bodyPr wrap="square">
            <a:spAutoFit/>
          </a:bodyPr>
          <a:lstStyle/>
          <a:p>
            <a:pPr algn="just"/>
            <a:r>
              <a:rPr lang="en-US" sz="4000" dirty="0">
                <a:effectLst/>
                <a:latin typeface="Inter" panose="020B0604020202020204" charset="0"/>
                <a:ea typeface="Inter" panose="020B0604020202020204" charset="0"/>
              </a:rPr>
              <a:t>	</a:t>
            </a:r>
            <a:r>
              <a:rPr lang="id-ID" sz="4000" dirty="0">
                <a:effectLst/>
                <a:latin typeface="Inter" panose="020B0604020202020204" charset="0"/>
                <a:ea typeface="Inter" panose="020B0604020202020204" charset="0"/>
              </a:rPr>
              <a:t>Dalam pengujian kualitas jaringan menggunakan parameter Quality of Service (QoS) di MIN 3 Pontianak, penulis melakukan tiga skenario pengujian.</a:t>
            </a:r>
            <a:endParaRPr lang="en-US" sz="4000" dirty="0">
              <a:effectLst/>
              <a:latin typeface="Inter" panose="020B0604020202020204" charset="0"/>
              <a:ea typeface="Inter" panose="020B0604020202020204" charset="0"/>
            </a:endParaRPr>
          </a:p>
          <a:p>
            <a:pPr algn="just"/>
            <a:endParaRPr lang="en-US" sz="4000" dirty="0">
              <a:effectLst/>
              <a:latin typeface="Inter" panose="020B0604020202020204" charset="0"/>
              <a:ea typeface="Inter" panose="020B0604020202020204" charset="0"/>
            </a:endParaRPr>
          </a:p>
          <a:p>
            <a:pPr algn="just"/>
            <a:r>
              <a:rPr lang="en-ID" sz="4000" dirty="0">
                <a:latin typeface="Inter" panose="020B0604020202020204" charset="0"/>
                <a:ea typeface="Inter" panose="020B0604020202020204" charset="0"/>
              </a:rPr>
              <a:t>- 	Pengujian </a:t>
            </a:r>
            <a:r>
              <a:rPr lang="en-ID" sz="4000" dirty="0" err="1">
                <a:latin typeface="Inter" panose="020B0604020202020204" charset="0"/>
                <a:ea typeface="Inter" panose="020B0604020202020204" charset="0"/>
              </a:rPr>
              <a:t>pertama</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dilakukan</a:t>
            </a:r>
            <a:r>
              <a:rPr lang="en-ID" sz="4000" dirty="0">
                <a:latin typeface="Inter" panose="020B0604020202020204" charset="0"/>
                <a:ea typeface="Inter" panose="020B0604020202020204" charset="0"/>
              </a:rPr>
              <a:t> pada </a:t>
            </a:r>
            <a:r>
              <a:rPr lang="en-ID" sz="4000" dirty="0" err="1">
                <a:latin typeface="Inter" panose="020B0604020202020204" charset="0"/>
                <a:ea typeface="Inter" panose="020B0604020202020204" charset="0"/>
              </a:rPr>
              <a:t>jaringan</a:t>
            </a:r>
            <a:r>
              <a:rPr lang="en-ID" sz="4000" dirty="0">
                <a:latin typeface="Inter" panose="020B0604020202020204" charset="0"/>
                <a:ea typeface="Inter" panose="020B0604020202020204" charset="0"/>
              </a:rPr>
              <a:t> WLAN </a:t>
            </a:r>
            <a:r>
              <a:rPr lang="en-ID" sz="4000" dirty="0" err="1">
                <a:latin typeface="Inter" panose="020B0604020202020204" charset="0"/>
                <a:ea typeface="Inter" panose="020B0604020202020204" charset="0"/>
              </a:rPr>
              <a:t>tanpa</a:t>
            </a:r>
            <a:r>
              <a:rPr lang="en-ID" sz="4000" dirty="0">
                <a:latin typeface="Inter" panose="020B0604020202020204" charset="0"/>
                <a:ea typeface="Inter" panose="020B0604020202020204" charset="0"/>
              </a:rPr>
              <a:t> VLAN pada 	</a:t>
            </a:r>
            <a:r>
              <a:rPr lang="en-ID" sz="4000" dirty="0" err="1">
                <a:latin typeface="Inter" panose="020B0604020202020204" charset="0"/>
                <a:ea typeface="Inter" panose="020B0604020202020204" charset="0"/>
              </a:rPr>
              <a:t>kondisi</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 dan </a:t>
            </a:r>
            <a:r>
              <a:rPr lang="en-ID" sz="4000" dirty="0" err="1">
                <a:latin typeface="Inter" panose="020B0604020202020204" charset="0"/>
                <a:ea typeface="Inter" panose="020B0604020202020204" charset="0"/>
              </a:rPr>
              <a:t>tidak</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a:t>
            </a:r>
          </a:p>
          <a:p>
            <a:pPr algn="just"/>
            <a:r>
              <a:rPr lang="en-ID" sz="4000" dirty="0">
                <a:latin typeface="Inter" panose="020B0604020202020204" charset="0"/>
                <a:ea typeface="Inter" panose="020B0604020202020204" charset="0"/>
              </a:rPr>
              <a:t>- 	Pengujian </a:t>
            </a:r>
            <a:r>
              <a:rPr lang="en-ID" sz="4000" dirty="0" err="1">
                <a:latin typeface="Inter" panose="020B0604020202020204" charset="0"/>
                <a:ea typeface="Inter" panose="020B0604020202020204" charset="0"/>
              </a:rPr>
              <a:t>kedua</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dilakukan</a:t>
            </a:r>
            <a:r>
              <a:rPr lang="en-ID" sz="4000" dirty="0">
                <a:latin typeface="Inter" panose="020B0604020202020204" charset="0"/>
                <a:ea typeface="Inter" panose="020B0604020202020204" charset="0"/>
              </a:rPr>
              <a:t> pada </a:t>
            </a:r>
            <a:r>
              <a:rPr lang="en-ID" sz="4000" dirty="0" err="1">
                <a:latin typeface="Inter" panose="020B0604020202020204" charset="0"/>
                <a:ea typeface="Inter" panose="020B0604020202020204" charset="0"/>
              </a:rPr>
              <a:t>jaringan</a:t>
            </a:r>
            <a:r>
              <a:rPr lang="en-ID" sz="4000" dirty="0">
                <a:latin typeface="Inter" panose="020B0604020202020204" charset="0"/>
                <a:ea typeface="Inter" panose="020B0604020202020204" charset="0"/>
              </a:rPr>
              <a:t> WLAN yang </a:t>
            </a:r>
            <a:r>
              <a:rPr lang="en-ID" sz="4000" dirty="0" err="1">
                <a:latin typeface="Inter" panose="020B0604020202020204" charset="0"/>
                <a:ea typeface="Inter" panose="020B0604020202020204" charset="0"/>
              </a:rPr>
              <a:t>telah</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menerapkan</a:t>
            </a:r>
            <a:r>
              <a:rPr lang="en-ID" sz="4000" dirty="0">
                <a:latin typeface="Inter" panose="020B0604020202020204" charset="0"/>
                <a:ea typeface="Inter" panose="020B0604020202020204" charset="0"/>
              </a:rPr>
              <a:t> 	VLAN pada </a:t>
            </a:r>
            <a:r>
              <a:rPr lang="en-ID" sz="4000" dirty="0" err="1">
                <a:latin typeface="Inter" panose="020B0604020202020204" charset="0"/>
                <a:ea typeface="Inter" panose="020B0604020202020204" charset="0"/>
              </a:rPr>
              <a:t>kondisi</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 dan </a:t>
            </a:r>
            <a:r>
              <a:rPr lang="en-ID" sz="4000" dirty="0" err="1">
                <a:latin typeface="Inter" panose="020B0604020202020204" charset="0"/>
                <a:ea typeface="Inter" panose="020B0604020202020204" charset="0"/>
              </a:rPr>
              <a:t>tidak</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a:t>
            </a:r>
          </a:p>
          <a:p>
            <a:pPr algn="just"/>
            <a:r>
              <a:rPr lang="en-ID" sz="4000" dirty="0">
                <a:latin typeface="Inter" panose="020B0604020202020204" charset="0"/>
                <a:ea typeface="Inter" panose="020B0604020202020204" charset="0"/>
              </a:rPr>
              <a:t>- 	Pengujian </a:t>
            </a:r>
            <a:r>
              <a:rPr lang="en-ID" sz="4000" dirty="0" err="1">
                <a:latin typeface="Inter" panose="020B0604020202020204" charset="0"/>
                <a:ea typeface="Inter" panose="020B0604020202020204" charset="0"/>
              </a:rPr>
              <a:t>ketiga</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dilakukan</a:t>
            </a:r>
            <a:r>
              <a:rPr lang="en-ID" sz="4000" dirty="0">
                <a:latin typeface="Inter" panose="020B0604020202020204" charset="0"/>
                <a:ea typeface="Inter" panose="020B0604020202020204" charset="0"/>
              </a:rPr>
              <a:t> pada </a:t>
            </a:r>
            <a:r>
              <a:rPr lang="en-ID" sz="4000" dirty="0" err="1">
                <a:latin typeface="Inter" panose="020B0604020202020204" charset="0"/>
                <a:ea typeface="Inter" panose="020B0604020202020204" charset="0"/>
              </a:rPr>
              <a:t>jaringan</a:t>
            </a:r>
            <a:r>
              <a:rPr lang="en-ID" sz="4000" dirty="0">
                <a:latin typeface="Inter" panose="020B0604020202020204" charset="0"/>
                <a:ea typeface="Inter" panose="020B0604020202020204" charset="0"/>
              </a:rPr>
              <a:t> WLAN yang </a:t>
            </a:r>
            <a:r>
              <a:rPr lang="en-ID" sz="4000" dirty="0" err="1">
                <a:latin typeface="Inter" panose="020B0604020202020204" charset="0"/>
                <a:ea typeface="Inter" panose="020B0604020202020204" charset="0"/>
              </a:rPr>
              <a:t>telah</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menerapkan</a:t>
            </a:r>
            <a:r>
              <a:rPr lang="en-ID" sz="4000" dirty="0">
                <a:latin typeface="Inter" panose="020B0604020202020204" charset="0"/>
                <a:ea typeface="Inter" panose="020B0604020202020204" charset="0"/>
              </a:rPr>
              <a:t> VLAN </a:t>
            </a:r>
            <a:r>
              <a:rPr lang="en-ID" sz="4000" dirty="0" err="1">
                <a:latin typeface="Inter" panose="020B0604020202020204" charset="0"/>
                <a:ea typeface="Inter" panose="020B0604020202020204" charset="0"/>
              </a:rPr>
              <a:t>dengan</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pembatasan</a:t>
            </a:r>
            <a:r>
              <a:rPr lang="en-ID" sz="4000" dirty="0">
                <a:latin typeface="Inter" panose="020B0604020202020204" charset="0"/>
                <a:ea typeface="Inter" panose="020B0604020202020204" charset="0"/>
              </a:rPr>
              <a:t> bandwidth pada </a:t>
            </a:r>
            <a:r>
              <a:rPr lang="en-ID" sz="4000" dirty="0" err="1">
                <a:latin typeface="Inter" panose="020B0604020202020204" charset="0"/>
                <a:ea typeface="Inter" panose="020B0604020202020204" charset="0"/>
              </a:rPr>
              <a:t>jaringan</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tidak</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prioritas</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baik</a:t>
            </a:r>
            <a:r>
              <a:rPr lang="en-ID" sz="4000" dirty="0">
                <a:latin typeface="Inter" panose="020B0604020202020204" charset="0"/>
                <a:ea typeface="Inter" panose="020B0604020202020204" charset="0"/>
              </a:rPr>
              <a:t> pada </a:t>
            </a:r>
            <a:r>
              <a:rPr lang="en-ID" sz="4000" dirty="0" err="1">
                <a:latin typeface="Inter" panose="020B0604020202020204" charset="0"/>
                <a:ea typeface="Inter" panose="020B0604020202020204" charset="0"/>
              </a:rPr>
              <a:t>kondisi</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maupun</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tidak</a:t>
            </a:r>
            <a:r>
              <a:rPr lang="en-ID" sz="4000" dirty="0">
                <a:latin typeface="Inter" panose="020B0604020202020204" charset="0"/>
                <a:ea typeface="Inter" panose="020B0604020202020204" charset="0"/>
              </a:rPr>
              <a:t> </a:t>
            </a:r>
            <a:r>
              <a:rPr lang="en-ID" sz="4000" dirty="0" err="1">
                <a:latin typeface="Inter" panose="020B0604020202020204" charset="0"/>
                <a:ea typeface="Inter" panose="020B0604020202020204" charset="0"/>
              </a:rPr>
              <a:t>sibuk</a:t>
            </a:r>
            <a:r>
              <a:rPr lang="en-ID" sz="4000" dirty="0">
                <a:latin typeface="Inter" panose="020B0604020202020204" charset="0"/>
                <a:ea typeface="Inter" panose="020B0604020202020204" charset="0"/>
              </a:rPr>
              <a:t>.</a:t>
            </a:r>
          </a:p>
        </p:txBody>
      </p:sp>
    </p:spTree>
    <p:extLst>
      <p:ext uri="{BB962C8B-B14F-4D97-AF65-F5344CB8AC3E}">
        <p14:creationId xmlns:p14="http://schemas.microsoft.com/office/powerpoint/2010/main" val="3158159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endParaRPr lang="en-US" sz="5400" dirty="0">
              <a:solidFill>
                <a:srgbClr val="242725"/>
              </a:solidFill>
              <a:latin typeface="Inter Bold"/>
            </a:endParaRP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18</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9A179BDA-39FB-D61C-8D8F-4121C187019E}"/>
              </a:ext>
            </a:extLst>
          </p:cNvPr>
          <p:cNvSpPr txBox="1"/>
          <p:nvPr/>
        </p:nvSpPr>
        <p:spPr>
          <a:xfrm>
            <a:off x="228600" y="2291257"/>
            <a:ext cx="17830799" cy="6186309"/>
          </a:xfrm>
          <a:prstGeom prst="rect">
            <a:avLst/>
          </a:prstGeom>
          <a:noFill/>
        </p:spPr>
        <p:txBody>
          <a:bodyPr wrap="square">
            <a:spAutoFit/>
          </a:bodyPr>
          <a:lstStyle/>
          <a:p>
            <a:pPr algn="just"/>
            <a:r>
              <a:rPr lang="en-ID" sz="4400" dirty="0">
                <a:latin typeface="Inter" panose="020B0604020202020204" charset="0"/>
                <a:ea typeface="Inter" panose="020B0604020202020204" charset="0"/>
              </a:rPr>
              <a:t>	Adapun </a:t>
            </a:r>
            <a:r>
              <a:rPr lang="en-ID" sz="4400" dirty="0" err="1">
                <a:latin typeface="Inter" panose="020B0604020202020204" charset="0"/>
                <a:ea typeface="Inter" panose="020B0604020202020204" charset="0"/>
              </a:rPr>
              <a:t>pembagian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jumlah</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klien</a:t>
            </a:r>
            <a:r>
              <a:rPr lang="en-ID" sz="4400" dirty="0">
                <a:latin typeface="Inter" panose="020B0604020202020204" charset="0"/>
                <a:ea typeface="Inter" panose="020B0604020202020204" charset="0"/>
              </a:rPr>
              <a:t> yang </a:t>
            </a:r>
            <a:r>
              <a:rPr lang="en-ID" sz="4400" dirty="0" err="1">
                <a:latin typeface="Inter" panose="020B0604020202020204" charset="0"/>
                <a:ea typeface="Inter" panose="020B0604020202020204" charset="0"/>
              </a:rPr>
              <a:t>digunakan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selama</a:t>
            </a:r>
            <a:r>
              <a:rPr lang="en-ID" sz="4400" dirty="0">
                <a:latin typeface="Inter" panose="020B0604020202020204" charset="0"/>
                <a:ea typeface="Inter" panose="020B0604020202020204" charset="0"/>
              </a:rPr>
              <a:t> proses </a:t>
            </a:r>
            <a:r>
              <a:rPr lang="en-ID" sz="4400" dirty="0" err="1">
                <a:latin typeface="Inter" panose="020B0604020202020204" charset="0"/>
                <a:ea typeface="Inter" panose="020B0604020202020204" charset="0"/>
              </a:rPr>
              <a:t>pengujian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adalah</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sebagai</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berikut</a:t>
            </a:r>
            <a:r>
              <a:rPr lang="en-ID" sz="4400" dirty="0">
                <a:latin typeface="Inter" panose="020B0604020202020204" charset="0"/>
                <a:ea typeface="Inter" panose="020B0604020202020204" charset="0"/>
              </a:rPr>
              <a:t>:</a:t>
            </a:r>
          </a:p>
          <a:p>
            <a:pPr marL="1028700" lvl="1" indent="-571500" algn="just">
              <a:buFontTx/>
              <a:buChar char="-"/>
            </a:pPr>
            <a:r>
              <a:rPr lang="en-ID" sz="4400" dirty="0" err="1">
                <a:latin typeface="Inter" panose="020B0604020202020204" charset="0"/>
                <a:ea typeface="Inter" panose="020B0604020202020204" charset="0"/>
              </a:rPr>
              <a:t>Kondisi</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sibuk</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dengan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jumlah</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klien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sebanyak</a:t>
            </a:r>
            <a:r>
              <a:rPr lang="en-ID" sz="4400" dirty="0">
                <a:latin typeface="Inter" panose="020B0604020202020204" charset="0"/>
                <a:ea typeface="Inter" panose="020B0604020202020204" charset="0"/>
              </a:rPr>
              <a:t> 30 </a:t>
            </a:r>
            <a:r>
              <a:rPr lang="en-ID" sz="4400" dirty="0" err="1">
                <a:latin typeface="Inter" panose="020B0604020202020204" charset="0"/>
                <a:ea typeface="Inter" panose="020B0604020202020204" charset="0"/>
              </a:rPr>
              <a:t>klien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yaitu</a:t>
            </a:r>
            <a:r>
              <a:rPr lang="en-ID" sz="4400" dirty="0">
                <a:latin typeface="Inter" panose="020B0604020202020204" charset="0"/>
                <a:ea typeface="Inter" panose="020B0604020202020204" charset="0"/>
              </a:rPr>
              <a:t> pada </a:t>
            </a:r>
            <a:r>
              <a:rPr lang="en-ID" sz="4400" dirty="0" err="1">
                <a:latin typeface="Inter" panose="020B0604020202020204" charset="0"/>
                <a:ea typeface="Inter" panose="020B0604020202020204" charset="0"/>
              </a:rPr>
              <a:t>saat</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aktivitas</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jaringan</a:t>
            </a:r>
            <a:r>
              <a:rPr lang="en-ID" sz="4400" dirty="0">
                <a:latin typeface="Inter" panose="020B0604020202020204" charset="0"/>
                <a:ea typeface="Inter" panose="020B0604020202020204" charset="0"/>
              </a:rPr>
              <a:t> di MIN 3 Pontianak </a:t>
            </a:r>
            <a:r>
              <a:rPr lang="en-ID" sz="4400" dirty="0" err="1">
                <a:latin typeface="Inter" panose="020B0604020202020204" charset="0"/>
                <a:ea typeface="Inter" panose="020B0604020202020204" charset="0"/>
              </a:rPr>
              <a:t>relatif</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tinggi</a:t>
            </a:r>
            <a:r>
              <a:rPr lang="en-ID" sz="4400" dirty="0">
                <a:latin typeface="Inter" panose="020B0604020202020204" charset="0"/>
                <a:ea typeface="Inter" panose="020B0604020202020204" charset="0"/>
              </a:rPr>
              <a:t>.</a:t>
            </a:r>
          </a:p>
          <a:p>
            <a:pPr marL="1028700" lvl="1" indent="-571500" algn="just">
              <a:buFontTx/>
              <a:buChar char="-"/>
            </a:pPr>
            <a:r>
              <a:rPr lang="en-ID" sz="4400" dirty="0" err="1">
                <a:latin typeface="Inter" panose="020B0604020202020204" charset="0"/>
                <a:ea typeface="Inter" panose="020B0604020202020204" charset="0"/>
              </a:rPr>
              <a:t>Kondisi</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tidak</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sibuk</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dengan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jumlah</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klien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sebanyak</a:t>
            </a:r>
            <a:r>
              <a:rPr lang="en-ID" sz="4400" dirty="0">
                <a:latin typeface="Inter" panose="020B0604020202020204" charset="0"/>
                <a:ea typeface="Inter" panose="020B0604020202020204" charset="0"/>
              </a:rPr>
              <a:t> 10 	</a:t>
            </a:r>
            <a:r>
              <a:rPr lang="en-ID" sz="4400" dirty="0" err="1">
                <a:latin typeface="Inter" panose="020B0604020202020204" charset="0"/>
                <a:ea typeface="Inter" panose="020B0604020202020204" charset="0"/>
              </a:rPr>
              <a:t>klien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yaitu</a:t>
            </a:r>
            <a:r>
              <a:rPr lang="en-ID" sz="4400" dirty="0">
                <a:latin typeface="Inter" panose="020B0604020202020204" charset="0"/>
                <a:ea typeface="Inter" panose="020B0604020202020204" charset="0"/>
              </a:rPr>
              <a:t> pada </a:t>
            </a:r>
            <a:r>
              <a:rPr lang="en-ID" sz="4400" dirty="0" err="1">
                <a:latin typeface="Inter" panose="020B0604020202020204" charset="0"/>
                <a:ea typeface="Inter" panose="020B0604020202020204" charset="0"/>
              </a:rPr>
              <a:t>saat</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aktivitas</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jaringan</a:t>
            </a:r>
            <a:r>
              <a:rPr lang="en-ID" sz="4400" dirty="0">
                <a:latin typeface="Inter" panose="020B0604020202020204" charset="0"/>
                <a:ea typeface="Inter" panose="020B0604020202020204" charset="0"/>
              </a:rPr>
              <a:t> di MIN 3 Pontianak </a:t>
            </a:r>
            <a:r>
              <a:rPr lang="en-ID" sz="4400" dirty="0" err="1">
                <a:latin typeface="Inter" panose="020B0604020202020204" charset="0"/>
                <a:ea typeface="Inter" panose="020B0604020202020204" charset="0"/>
              </a:rPr>
              <a:t>relatif</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rendah</a:t>
            </a:r>
            <a:r>
              <a:rPr lang="en-ID" sz="4400" dirty="0">
                <a:latin typeface="Inter" panose="020B0604020202020204" charset="0"/>
                <a:ea typeface="Inter" panose="020B0604020202020204" charset="0"/>
              </a:rPr>
              <a:t>.</a:t>
            </a:r>
          </a:p>
          <a:p>
            <a:pPr marL="1028700" lvl="1" indent="-571500" algn="just">
              <a:buFontTx/>
              <a:buChar char="-"/>
            </a:pPr>
            <a:r>
              <a:rPr lang="en-ID" sz="4400" dirty="0">
                <a:latin typeface="Inter" panose="020B0604020202020204" charset="0"/>
                <a:ea typeface="Inter" panose="020B0604020202020204" charset="0"/>
              </a:rPr>
              <a:t>Pada </a:t>
            </a:r>
            <a:r>
              <a:rPr lang="en-ID" sz="4400" dirty="0" err="1">
                <a:latin typeface="Inter" panose="020B0604020202020204" charset="0"/>
                <a:ea typeface="Inter" panose="020B0604020202020204" charset="0"/>
              </a:rPr>
              <a:t>saat</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Pengujian</a:t>
            </a:r>
            <a:r>
              <a:rPr lang="en-ID" sz="4400" dirty="0">
                <a:latin typeface="Inter" panose="020B0604020202020204" charset="0"/>
                <a:ea typeface="Inter" panose="020B0604020202020204" charset="0"/>
              </a:rPr>
              <a:t> VLAN 100 </a:t>
            </a:r>
            <a:r>
              <a:rPr lang="en-ID" sz="4400" dirty="0" err="1">
                <a:latin typeface="Inter" panose="020B0604020202020204" charset="0"/>
                <a:ea typeface="Inter" panose="020B0604020202020204" charset="0"/>
              </a:rPr>
              <a:t>merupakan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jaringan</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prioritas</a:t>
            </a:r>
            <a:r>
              <a:rPr lang="en-ID" sz="4400" dirty="0">
                <a:latin typeface="Inter" panose="020B0604020202020204" charset="0"/>
                <a:ea typeface="Inter" panose="020B0604020202020204" charset="0"/>
              </a:rPr>
              <a:t> </a:t>
            </a:r>
            <a:r>
              <a:rPr lang="en-ID" sz="4400" dirty="0" err="1">
                <a:latin typeface="Inter" panose="020B0604020202020204" charset="0"/>
                <a:ea typeface="Inter" panose="020B0604020202020204" charset="0"/>
              </a:rPr>
              <a:t>sedangkan</a:t>
            </a:r>
            <a:r>
              <a:rPr lang="en-ID" sz="4400" dirty="0">
                <a:latin typeface="Inter" panose="020B0604020202020204" charset="0"/>
                <a:ea typeface="Inter" panose="020B0604020202020204" charset="0"/>
              </a:rPr>
              <a:t> VLAN 200 </a:t>
            </a:r>
            <a:r>
              <a:rPr lang="en-ID" sz="4400" dirty="0" err="1">
                <a:latin typeface="Inter" panose="020B0604020202020204" charset="0"/>
                <a:ea typeface="Inter" panose="020B0604020202020204" charset="0"/>
              </a:rPr>
              <a:t>tidak</a:t>
            </a:r>
            <a:endParaRPr lang="en-ID" sz="4400" dirty="0">
              <a:latin typeface="Inter" panose="020B0604020202020204" charset="0"/>
              <a:ea typeface="Inter" panose="020B0604020202020204" charset="0"/>
            </a:endParaRPr>
          </a:p>
        </p:txBody>
      </p:sp>
    </p:spTree>
    <p:extLst>
      <p:ext uri="{BB962C8B-B14F-4D97-AF65-F5344CB8AC3E}">
        <p14:creationId xmlns:p14="http://schemas.microsoft.com/office/powerpoint/2010/main" val="761025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r>
              <a:rPr lang="en-US" sz="5400" dirty="0">
                <a:solidFill>
                  <a:srgbClr val="242725"/>
                </a:solidFill>
                <a:latin typeface="Inter Bold"/>
              </a:rPr>
              <a:t> </a:t>
            </a:r>
            <a:r>
              <a:rPr lang="en-US" sz="5400" dirty="0" err="1">
                <a:solidFill>
                  <a:srgbClr val="242725"/>
                </a:solidFill>
                <a:latin typeface="Inter Bold"/>
              </a:rPr>
              <a:t>Troughput</a:t>
            </a:r>
            <a:endParaRPr lang="en-US" sz="5400" dirty="0">
              <a:solidFill>
                <a:srgbClr val="242725"/>
              </a:solidFill>
              <a:latin typeface="Inter Bold"/>
            </a:endParaRP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19</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FFACC4DD-B9E1-C225-4D21-E3D006B2620E}"/>
              </a:ext>
            </a:extLst>
          </p:cNvPr>
          <p:cNvPicPr>
            <a:picLocks noChangeAspect="1"/>
          </p:cNvPicPr>
          <p:nvPr/>
        </p:nvPicPr>
        <p:blipFill>
          <a:blip r:embed="rId3"/>
          <a:stretch>
            <a:fillRect/>
          </a:stretch>
        </p:blipFill>
        <p:spPr>
          <a:xfrm>
            <a:off x="228601" y="2857500"/>
            <a:ext cx="8762999" cy="4915625"/>
          </a:xfrm>
          <a:prstGeom prst="rect">
            <a:avLst/>
          </a:prstGeom>
        </p:spPr>
      </p:pic>
      <p:sp>
        <p:nvSpPr>
          <p:cNvPr id="15" name="TextBox 14">
            <a:extLst>
              <a:ext uri="{FF2B5EF4-FFF2-40B4-BE49-F238E27FC236}">
                <a16:creationId xmlns:a16="http://schemas.microsoft.com/office/drawing/2014/main" id="{9A179BDA-39FB-D61C-8D8F-4121C187019E}"/>
              </a:ext>
            </a:extLst>
          </p:cNvPr>
          <p:cNvSpPr txBox="1"/>
          <p:nvPr/>
        </p:nvSpPr>
        <p:spPr>
          <a:xfrm>
            <a:off x="9296400" y="2291257"/>
            <a:ext cx="8762999" cy="6001643"/>
          </a:xfrm>
          <a:prstGeom prst="rect">
            <a:avLst/>
          </a:prstGeom>
          <a:noFill/>
        </p:spPr>
        <p:txBody>
          <a:bodyPr wrap="square">
            <a:spAutoFit/>
          </a:bodyPr>
          <a:lstStyle/>
          <a:p>
            <a:pPr algn="just"/>
            <a:r>
              <a:rPr lang="id-ID" sz="3200" dirty="0">
                <a:effectLst/>
                <a:latin typeface="Inter" panose="020B0604020202020204" charset="0"/>
                <a:ea typeface="Inter" panose="020B0604020202020204" charset="0"/>
              </a:rPr>
              <a:t>Kesimpulan Throughput : Hasil pengujian menunjukkan bahwa penerapan VLAN memengaruhi nilai throughput, terutama pada kondisi jaringan sibuk. VLAN 100 memiliki kinerja yang relatif stabil dan mendekati Case 1, sedangkan VLAN 200 mengalami penurunan throughput paling besar, khususnya saat sibuk. Penerapan Simple Queue menyebabkan penurunan throughput yang signifikan pada VLAN 200 akibat adanya pembatasan bandwidth 5 Mbps.</a:t>
            </a:r>
            <a:endParaRPr lang="en-ID" sz="4000" dirty="0">
              <a:latin typeface="Inter" panose="020B0604020202020204" charset="0"/>
              <a:ea typeface="Inter" panose="020B0604020202020204" charset="0"/>
            </a:endParaRPr>
          </a:p>
        </p:txBody>
      </p:sp>
    </p:spTree>
    <p:extLst>
      <p:ext uri="{BB962C8B-B14F-4D97-AF65-F5344CB8AC3E}">
        <p14:creationId xmlns:p14="http://schemas.microsoft.com/office/powerpoint/2010/main" val="1907691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r>
              <a:rPr lang="en-US" sz="5400" dirty="0">
                <a:solidFill>
                  <a:srgbClr val="242725"/>
                </a:solidFill>
                <a:latin typeface="Inter Bold"/>
              </a:rPr>
              <a:t> Packet Loss</a:t>
            </a: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20</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9A179BDA-39FB-D61C-8D8F-4121C187019E}"/>
              </a:ext>
            </a:extLst>
          </p:cNvPr>
          <p:cNvSpPr txBox="1"/>
          <p:nvPr/>
        </p:nvSpPr>
        <p:spPr>
          <a:xfrm>
            <a:off x="9157168" y="2352812"/>
            <a:ext cx="8915399" cy="7417415"/>
          </a:xfrm>
          <a:prstGeom prst="rect">
            <a:avLst/>
          </a:prstGeom>
          <a:noFill/>
        </p:spPr>
        <p:txBody>
          <a:bodyPr wrap="square">
            <a:spAutoFit/>
          </a:bodyPr>
          <a:lstStyle/>
          <a:p>
            <a:pPr algn="just"/>
            <a:r>
              <a:rPr lang="id-ID" sz="2800" dirty="0">
                <a:effectLst/>
                <a:latin typeface="Inter" panose="020B0604020202020204" charset="0"/>
                <a:ea typeface="Inter" panose="020B0604020202020204" charset="0"/>
              </a:rPr>
              <a:t>Kesimpulan Packet Loss : Berdasarkan hasil pengujian, nilai packet loss pada seluruh skenario tergolong sangat rendah dan berada di bawah ambang batas 0,1%. Hal ini menunjukkan bahwa kualitas pengiriman data pada jaringan masih sangat baik baik pada kondisi sibuk maupun tidak sibuk. Implementasi VLAN maupun Simple Queue tidak menimbulkan peningkatan packet loss yang signifikan. Meskipun terdapat sedikit kenaikan packet loss pada VLAN 200, terutama saat kondisi sibuk dan saat penerapan Simple Queue, nilainya masih sangat kecil dan tidak berdampak nyata terhadap kualitas layanan jaringan. Dengan demikian, dapat disimpulkan bahwa mekanisme pengelolaan jaringan yang diterapkan tidak menyebabkan gangguan serius pada proses transmisi paket.</a:t>
            </a:r>
          </a:p>
        </p:txBody>
      </p:sp>
      <p:pic>
        <p:nvPicPr>
          <p:cNvPr id="4" name="Picture 3">
            <a:extLst>
              <a:ext uri="{FF2B5EF4-FFF2-40B4-BE49-F238E27FC236}">
                <a16:creationId xmlns:a16="http://schemas.microsoft.com/office/drawing/2014/main" id="{A7641C31-B524-E027-AB0B-7EB05E1ABEF3}"/>
              </a:ext>
            </a:extLst>
          </p:cNvPr>
          <p:cNvPicPr>
            <a:picLocks noChangeAspect="1"/>
          </p:cNvPicPr>
          <p:nvPr/>
        </p:nvPicPr>
        <p:blipFill>
          <a:blip r:embed="rId3"/>
          <a:stretch>
            <a:fillRect/>
          </a:stretch>
        </p:blipFill>
        <p:spPr>
          <a:xfrm>
            <a:off x="654895" y="2885871"/>
            <a:ext cx="7962034" cy="4467429"/>
          </a:xfrm>
          <a:prstGeom prst="rect">
            <a:avLst/>
          </a:prstGeom>
        </p:spPr>
      </p:pic>
    </p:spTree>
    <p:extLst>
      <p:ext uri="{BB962C8B-B14F-4D97-AF65-F5344CB8AC3E}">
        <p14:creationId xmlns:p14="http://schemas.microsoft.com/office/powerpoint/2010/main" val="1594462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r>
              <a:rPr lang="en-US" sz="5400" dirty="0">
                <a:solidFill>
                  <a:srgbClr val="242725"/>
                </a:solidFill>
                <a:latin typeface="Inter Bold"/>
              </a:rPr>
              <a:t> Delay</a:t>
            </a: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21</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9A179BDA-39FB-D61C-8D8F-4121C187019E}"/>
              </a:ext>
            </a:extLst>
          </p:cNvPr>
          <p:cNvSpPr txBox="1"/>
          <p:nvPr/>
        </p:nvSpPr>
        <p:spPr>
          <a:xfrm>
            <a:off x="9797196" y="2307236"/>
            <a:ext cx="8307360" cy="6894195"/>
          </a:xfrm>
          <a:prstGeom prst="rect">
            <a:avLst/>
          </a:prstGeom>
          <a:noFill/>
        </p:spPr>
        <p:txBody>
          <a:bodyPr wrap="square">
            <a:spAutoFit/>
          </a:bodyPr>
          <a:lstStyle/>
          <a:p>
            <a:pPr algn="just"/>
            <a:r>
              <a:rPr lang="id-ID" sz="2600" dirty="0">
                <a:effectLst/>
                <a:latin typeface="Inter" panose="020B0604020202020204" charset="0"/>
                <a:ea typeface="Inter" panose="020B0604020202020204" charset="0"/>
              </a:rPr>
              <a:t>Kesimpulan Delay : Berdasarkan hasil pengujian, VLAN 100 menunjukkan nilai delay yang relatif stabil dan tidak mengalami perubahan yang signifikan dibandingkan dengan Case 1, baik pada kondisi sibuk maupun tidak sibuk. Hal ini menunjukkan bahwa penerapan VLAN 100 tidak memberikan dampak berarti terhadap waktu tunda pengiriman paket. Sebaliknya, VLAN 200 mengalami peningkatan delay yang cukup signifikan, terutama pada kondisi sibuk. Peningkatan delay ini semakin besar pada Case 3, yang disebabkan oleh penerapan Simple Queue dengan pembatasan bandwidth. Dengan demikian, dapat disimpulkan bahwa kombinasi VLAN 200 dan Simple Queue berpengaruh signifikan terhadap peningkatan delay jaringan, sementara VLAN 100 tetap mampu menjaga performa delay yang baik.</a:t>
            </a:r>
          </a:p>
        </p:txBody>
      </p:sp>
      <p:pic>
        <p:nvPicPr>
          <p:cNvPr id="6" name="Picture 5">
            <a:extLst>
              <a:ext uri="{FF2B5EF4-FFF2-40B4-BE49-F238E27FC236}">
                <a16:creationId xmlns:a16="http://schemas.microsoft.com/office/drawing/2014/main" id="{754207E8-D39E-9D0B-B543-D48E3A5339BA}"/>
              </a:ext>
            </a:extLst>
          </p:cNvPr>
          <p:cNvPicPr>
            <a:picLocks noChangeAspect="1"/>
          </p:cNvPicPr>
          <p:nvPr/>
        </p:nvPicPr>
        <p:blipFill>
          <a:blip r:embed="rId3"/>
          <a:stretch>
            <a:fillRect/>
          </a:stretch>
        </p:blipFill>
        <p:spPr>
          <a:xfrm>
            <a:off x="260499" y="2568024"/>
            <a:ext cx="9493101" cy="5337596"/>
          </a:xfrm>
          <a:prstGeom prst="rect">
            <a:avLst/>
          </a:prstGeom>
        </p:spPr>
      </p:pic>
    </p:spTree>
    <p:extLst>
      <p:ext uri="{BB962C8B-B14F-4D97-AF65-F5344CB8AC3E}">
        <p14:creationId xmlns:p14="http://schemas.microsoft.com/office/powerpoint/2010/main" val="944519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6AB6-E9FF-AC9D-36F9-275734646C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F21D96-E236-7B93-3729-2D2638B075EF}"/>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05EDDF7-6A6D-A06C-6FD8-FCFA3CD8EB4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F311B18D-0BB1-66B3-C32B-E9F05FD670AF}"/>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Hasil </a:t>
            </a:r>
            <a:r>
              <a:rPr lang="en-US" sz="5400" dirty="0" err="1">
                <a:solidFill>
                  <a:srgbClr val="242725"/>
                </a:solidFill>
                <a:latin typeface="Inter Bold"/>
              </a:rPr>
              <a:t>Pengujian</a:t>
            </a:r>
            <a:r>
              <a:rPr lang="en-US" sz="5400" dirty="0">
                <a:solidFill>
                  <a:srgbClr val="242725"/>
                </a:solidFill>
                <a:latin typeface="Inter Bold"/>
              </a:rPr>
              <a:t> Jitter</a:t>
            </a:r>
          </a:p>
        </p:txBody>
      </p:sp>
      <p:sp>
        <p:nvSpPr>
          <p:cNvPr id="7" name="AutoShape 7">
            <a:extLst>
              <a:ext uri="{FF2B5EF4-FFF2-40B4-BE49-F238E27FC236}">
                <a16:creationId xmlns:a16="http://schemas.microsoft.com/office/drawing/2014/main" id="{CA58CE61-BF74-10FC-65FE-BEBD35802C8F}"/>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D14CD4B-3C62-B465-6688-8D89AD0E02E7}"/>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EBEC06D5-DECB-74E6-1157-F9B590AB109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0B56B437-B43C-A87F-0688-B089E5BC103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76DE4432-916A-EA0D-93FA-DF698EE9CD01}"/>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D3100F7A-6926-BE70-0724-7F60BD6FAE33}"/>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F078E0D3-D444-B4A9-9AF2-A2558A97AC90}"/>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3491AD64-5C24-70EC-799F-F39B5F2984E2}"/>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22</a:t>
            </a:r>
          </a:p>
        </p:txBody>
      </p:sp>
      <p:sp>
        <p:nvSpPr>
          <p:cNvPr id="17" name="AutoShape 14" descr="Sejarah Awal Mula Perjalanan Debian - Loka Baca">
            <a:extLst>
              <a:ext uri="{FF2B5EF4-FFF2-40B4-BE49-F238E27FC236}">
                <a16:creationId xmlns:a16="http://schemas.microsoft.com/office/drawing/2014/main" id="{3D46BE76-DA51-297F-BB94-C84F39B64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9A179BDA-39FB-D61C-8D8F-4121C187019E}"/>
              </a:ext>
            </a:extLst>
          </p:cNvPr>
          <p:cNvSpPr txBox="1"/>
          <p:nvPr/>
        </p:nvSpPr>
        <p:spPr>
          <a:xfrm>
            <a:off x="10058401" y="2511464"/>
            <a:ext cx="8229600" cy="6894195"/>
          </a:xfrm>
          <a:prstGeom prst="rect">
            <a:avLst/>
          </a:prstGeom>
          <a:noFill/>
        </p:spPr>
        <p:txBody>
          <a:bodyPr wrap="square">
            <a:spAutoFit/>
          </a:bodyPr>
          <a:lstStyle/>
          <a:p>
            <a:pPr algn="just"/>
            <a:r>
              <a:rPr lang="id-ID" sz="2600" dirty="0">
                <a:effectLst/>
                <a:latin typeface="Inter" panose="020B0604020202020204" charset="0"/>
                <a:ea typeface="Inter" panose="020B0604020202020204" charset="0"/>
              </a:rPr>
              <a:t>Kesimpulan Jitter : Berdasarkan hasil pengujian, VLAN 100 menunjukkan nilai jitter yang relatif stabil dan tidak mengalami perubahan signifikan dibandingkan dengan Case 1, baik pada kondisi sibuk maupun tidak sibuk. Hal ini menandakan bahwa penerapan VLAN 100 masih mampu menjaga kestabilan variasi waktu tunda paket. Sebaliknya, VLAN 200 mengalami peningkatan jitter yang cukup signifikan, terutama pada kondisi sibuk. Penerapan Simple Queue pada Case 3 menyebabkan kenaikan jitter yang lebih besar pada VLAN 200, akibat adanya pembatasan bandwidth yang memicu antrean paket. Dengan demikian, dapat disimpulkan bahwa kombinasi VLAN 200 dan Simple Queue berdampak signifikan terhadap peningkatan jitter jaringan, sementara VLAN 100 tetap memiliki performa yang lebih stabil.</a:t>
            </a:r>
          </a:p>
        </p:txBody>
      </p:sp>
      <p:pic>
        <p:nvPicPr>
          <p:cNvPr id="4" name="Picture 3">
            <a:extLst>
              <a:ext uri="{FF2B5EF4-FFF2-40B4-BE49-F238E27FC236}">
                <a16:creationId xmlns:a16="http://schemas.microsoft.com/office/drawing/2014/main" id="{BABAA01C-FD98-590C-2089-80A14EFF5317}"/>
              </a:ext>
            </a:extLst>
          </p:cNvPr>
          <p:cNvPicPr>
            <a:picLocks noChangeAspect="1"/>
          </p:cNvPicPr>
          <p:nvPr/>
        </p:nvPicPr>
        <p:blipFill>
          <a:blip r:embed="rId3"/>
          <a:stretch>
            <a:fillRect/>
          </a:stretch>
        </p:blipFill>
        <p:spPr>
          <a:xfrm>
            <a:off x="304801" y="2667296"/>
            <a:ext cx="9448800" cy="5346152"/>
          </a:xfrm>
          <a:prstGeom prst="rect">
            <a:avLst/>
          </a:prstGeom>
        </p:spPr>
      </p:pic>
    </p:spTree>
    <p:extLst>
      <p:ext uri="{BB962C8B-B14F-4D97-AF65-F5344CB8AC3E}">
        <p14:creationId xmlns:p14="http://schemas.microsoft.com/office/powerpoint/2010/main" val="311779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D01-3C4B-756C-0B25-1A2C953844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3F9049-6781-F919-6F07-4BC5974D75A3}"/>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1B622557-E545-3BBE-9591-7C2F313437A9}"/>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4E165382-6A65-299B-8ACD-0AF327E84F9E}"/>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Kesimpulan</a:t>
            </a:r>
          </a:p>
        </p:txBody>
      </p:sp>
      <p:sp>
        <p:nvSpPr>
          <p:cNvPr id="7" name="AutoShape 7">
            <a:extLst>
              <a:ext uri="{FF2B5EF4-FFF2-40B4-BE49-F238E27FC236}">
                <a16:creationId xmlns:a16="http://schemas.microsoft.com/office/drawing/2014/main" id="{88E780B9-5031-E473-CC22-ECF3B37D6C4E}"/>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68387BDB-FA83-CE44-0E30-1F9D9DA42F4B}"/>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3BDB73FD-5783-C8A8-632B-22E5ED8F5CAF}"/>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A735BDF0-4E2B-04A1-BD76-38ABFAB931BD}"/>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464C34EB-5BDA-57E7-2AE3-8F669CA656D7}"/>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94201CF5-433A-2E54-3A78-1CD0A097A40A}"/>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514773A0-0832-1055-2B51-1F8D77215534}"/>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F131381E-F030-DCA6-53DA-ADE97710BF76}"/>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23</a:t>
            </a:r>
          </a:p>
        </p:txBody>
      </p:sp>
      <p:sp>
        <p:nvSpPr>
          <p:cNvPr id="17" name="AutoShape 14" descr="Sejarah Awal Mula Perjalanan Debian - Loka Baca">
            <a:extLst>
              <a:ext uri="{FF2B5EF4-FFF2-40B4-BE49-F238E27FC236}">
                <a16:creationId xmlns:a16="http://schemas.microsoft.com/office/drawing/2014/main" id="{B130C720-3CEE-02EA-13F8-9A08BCBAF66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DF802B1-61E5-B4D0-E406-3C2B62321216}"/>
              </a:ext>
            </a:extLst>
          </p:cNvPr>
          <p:cNvSpPr txBox="1"/>
          <p:nvPr/>
        </p:nvSpPr>
        <p:spPr>
          <a:xfrm>
            <a:off x="1981200" y="2857500"/>
            <a:ext cx="14706600" cy="5566204"/>
          </a:xfrm>
          <a:prstGeom prst="rect">
            <a:avLst/>
          </a:prstGeom>
          <a:noFill/>
        </p:spPr>
        <p:txBody>
          <a:bodyPr wrap="square">
            <a:spAutoFit/>
          </a:bodyPr>
          <a:lstStyle/>
          <a:p>
            <a:pPr marL="0" marR="0" indent="457200" algn="just">
              <a:lnSpc>
                <a:spcPct val="150000"/>
              </a:lnSpc>
              <a:spcBef>
                <a:spcPts val="400"/>
              </a:spcBef>
              <a:spcAft>
                <a:spcPts val="400"/>
              </a:spcAft>
            </a:pPr>
            <a:r>
              <a:rPr lang="id-ID" sz="2400" dirty="0">
                <a:effectLst/>
                <a:latin typeface="Inter" panose="020B0604020202020204" charset="0"/>
                <a:ea typeface="Inter" panose="020B0604020202020204" charset="0"/>
                <a:cs typeface="Times New Roman" panose="02020603050405020304" pitchFamily="18" charset="0"/>
              </a:rPr>
              <a:t>Berdasarkan hasil penelitian yang telah dilakukan, dapat disimpulkan bahwa implementasi Virtual Local Area Network (VLAN) pada jaringan MIN 3 Pontianak mampu meningkatkan pengelolaan segmentasi jaringan secara lebih terstruktur dan terkontrol. Sebelum penerapan VLAN, jaringan di MIN 3 Pontianak belum memiliki segmentasi yang jelas sehingga distribusi bandwidth tidak terkontrol dan berpotensi menimbulkan gangguan antar pengguna ketika trafik jaringan meningkat. Pengujian dilakukan pada tiga kondisi, yaitu Case 1 (jaringan asli tanpa VLAN), Case 2 (implementasi VLAN), dan Case 3 (implementasi VLAN dengan pembatasan bandwidth menggunakan Simple Queue). Hasil pengujian menunjukkan bahwa penerapan VLAN memberikan dampak yang signifikan terhadap performa jaringan, khususnya dalam mengatur prioritas dan distribusi bandwidth sesuai dengan kebutuhan masing-masing VLAN.</a:t>
            </a:r>
            <a:endParaRPr lang="en-US" sz="2400" dirty="0">
              <a:effectLst/>
              <a:latin typeface="Inter" panose="020B0604020202020204"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2798485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D01-3C4B-756C-0B25-1A2C953844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3F9049-6781-F919-6F07-4BC5974D75A3}"/>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1B622557-E545-3BBE-9591-7C2F313437A9}"/>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4E165382-6A65-299B-8ACD-0AF327E84F9E}"/>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Kesimpulan</a:t>
            </a:r>
          </a:p>
        </p:txBody>
      </p:sp>
      <p:sp>
        <p:nvSpPr>
          <p:cNvPr id="7" name="AutoShape 7">
            <a:extLst>
              <a:ext uri="{FF2B5EF4-FFF2-40B4-BE49-F238E27FC236}">
                <a16:creationId xmlns:a16="http://schemas.microsoft.com/office/drawing/2014/main" id="{88E780B9-5031-E473-CC22-ECF3B37D6C4E}"/>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68387BDB-FA83-CE44-0E30-1F9D9DA42F4B}"/>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3BDB73FD-5783-C8A8-632B-22E5ED8F5CAF}"/>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A735BDF0-4E2B-04A1-BD76-38ABFAB931BD}"/>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464C34EB-5BDA-57E7-2AE3-8F669CA656D7}"/>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94201CF5-433A-2E54-3A78-1CD0A097A40A}"/>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514773A0-0832-1055-2B51-1F8D77215534}"/>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F131381E-F030-DCA6-53DA-ADE97710BF76}"/>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24</a:t>
            </a:r>
          </a:p>
        </p:txBody>
      </p:sp>
      <p:sp>
        <p:nvSpPr>
          <p:cNvPr id="17" name="AutoShape 14" descr="Sejarah Awal Mula Perjalanan Debian - Loka Baca">
            <a:extLst>
              <a:ext uri="{FF2B5EF4-FFF2-40B4-BE49-F238E27FC236}">
                <a16:creationId xmlns:a16="http://schemas.microsoft.com/office/drawing/2014/main" id="{B130C720-3CEE-02EA-13F8-9A08BCBAF66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DF802B1-61E5-B4D0-E406-3C2B62321216}"/>
              </a:ext>
            </a:extLst>
          </p:cNvPr>
          <p:cNvSpPr txBox="1"/>
          <p:nvPr/>
        </p:nvSpPr>
        <p:spPr>
          <a:xfrm>
            <a:off x="1943100" y="2311070"/>
            <a:ext cx="14706600" cy="6222794"/>
          </a:xfrm>
          <a:prstGeom prst="rect">
            <a:avLst/>
          </a:prstGeom>
          <a:noFill/>
        </p:spPr>
        <p:txBody>
          <a:bodyPr wrap="square">
            <a:spAutoFit/>
          </a:bodyPr>
          <a:lstStyle/>
          <a:p>
            <a:pPr indent="457200" algn="just">
              <a:lnSpc>
                <a:spcPct val="150000"/>
              </a:lnSpc>
              <a:spcBef>
                <a:spcPts val="400"/>
              </a:spcBef>
              <a:spcAft>
                <a:spcPts val="400"/>
              </a:spcAft>
            </a:pPr>
            <a:r>
              <a:rPr lang="id-ID" sz="2400" dirty="0">
                <a:effectLst/>
                <a:latin typeface="Inter" panose="020B0604020202020204" charset="0"/>
                <a:ea typeface="Inter" panose="020B0604020202020204" charset="0"/>
                <a:cs typeface="Arial" panose="020B0604020202020204" pitchFamily="34" charset="0"/>
              </a:rPr>
              <a:t>Dari paremeter </a:t>
            </a:r>
            <a:r>
              <a:rPr lang="id-ID" sz="2400" i="1" dirty="0">
                <a:effectLst/>
                <a:latin typeface="Inter" panose="020B0604020202020204" charset="0"/>
                <a:ea typeface="Inter" panose="020B0604020202020204" charset="0"/>
                <a:cs typeface="Arial" panose="020B0604020202020204" pitchFamily="34" charset="0"/>
              </a:rPr>
              <a:t>throughput</a:t>
            </a:r>
            <a:r>
              <a:rPr lang="id-ID" sz="2400" dirty="0">
                <a:effectLst/>
                <a:latin typeface="Inter" panose="020B0604020202020204" charset="0"/>
                <a:ea typeface="Inter" panose="020B0604020202020204" charset="0"/>
                <a:cs typeface="Arial" panose="020B0604020202020204" pitchFamily="34" charset="0"/>
              </a:rPr>
              <a:t>, VLAN 100 menunjukkan kinerja yang relatif stabil dan mendekati kondisi jaringan asli. Pada kondisi sibuk, </a:t>
            </a:r>
            <a:r>
              <a:rPr lang="id-ID" sz="2400" i="1" dirty="0">
                <a:effectLst/>
                <a:latin typeface="Inter" panose="020B0604020202020204" charset="0"/>
                <a:ea typeface="Inter" panose="020B0604020202020204" charset="0"/>
                <a:cs typeface="Arial" panose="020B0604020202020204" pitchFamily="34" charset="0"/>
              </a:rPr>
              <a:t>throughput</a:t>
            </a:r>
            <a:r>
              <a:rPr lang="id-ID" sz="2400" dirty="0">
                <a:effectLst/>
                <a:latin typeface="Inter" panose="020B0604020202020204" charset="0"/>
                <a:ea typeface="Inter" panose="020B0604020202020204" charset="0"/>
                <a:cs typeface="Arial" panose="020B0604020202020204" pitchFamily="34" charset="0"/>
              </a:rPr>
              <a:t> VLAN 100 berada pada rentang 3,23–10,67 Mbps, sedangkan pada kondisi tidak sibuk mencapai 13,68–19,95 Mbps. Sebaliknya, VLAN 200 mengalami penurunan </a:t>
            </a:r>
            <a:r>
              <a:rPr lang="id-ID" sz="2400" i="1" dirty="0">
                <a:effectLst/>
                <a:latin typeface="Inter" panose="020B0604020202020204" charset="0"/>
                <a:ea typeface="Inter" panose="020B0604020202020204" charset="0"/>
                <a:cs typeface="Arial" panose="020B0604020202020204" pitchFamily="34" charset="0"/>
              </a:rPr>
              <a:t>throughput</a:t>
            </a:r>
            <a:r>
              <a:rPr lang="id-ID" sz="2400" dirty="0">
                <a:effectLst/>
                <a:latin typeface="Inter" panose="020B0604020202020204" charset="0"/>
                <a:ea typeface="Inter" panose="020B0604020202020204" charset="0"/>
                <a:cs typeface="Arial" panose="020B0604020202020204" pitchFamily="34" charset="0"/>
              </a:rPr>
              <a:t> yang cukup signifikan, terutama setelah diterapkan </a:t>
            </a:r>
            <a:r>
              <a:rPr lang="id-ID" sz="2400" i="1" dirty="0">
                <a:effectLst/>
                <a:latin typeface="Inter" panose="020B0604020202020204" charset="0"/>
                <a:ea typeface="Inter" panose="020B0604020202020204" charset="0"/>
                <a:cs typeface="Arial" panose="020B0604020202020204" pitchFamily="34" charset="0"/>
              </a:rPr>
              <a:t>Simple</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Queue</a:t>
            </a:r>
            <a:r>
              <a:rPr lang="id-ID" sz="2400" dirty="0">
                <a:effectLst/>
                <a:latin typeface="Inter" panose="020B0604020202020204" charset="0"/>
                <a:ea typeface="Inter" panose="020B0604020202020204" charset="0"/>
                <a:cs typeface="Arial" panose="020B0604020202020204" pitchFamily="34" charset="0"/>
              </a:rPr>
              <a:t> dengan pembatasan </a:t>
            </a:r>
            <a:r>
              <a:rPr lang="id-ID" sz="2400" i="1" dirty="0">
                <a:effectLst/>
                <a:latin typeface="Inter" panose="020B0604020202020204" charset="0"/>
                <a:ea typeface="Inter" panose="020B0604020202020204" charset="0"/>
                <a:cs typeface="Arial" panose="020B0604020202020204" pitchFamily="34" charset="0"/>
              </a:rPr>
              <a:t>bandwidth</a:t>
            </a:r>
            <a:r>
              <a:rPr lang="id-ID" sz="2400" dirty="0">
                <a:effectLst/>
                <a:latin typeface="Inter" panose="020B0604020202020204" charset="0"/>
                <a:ea typeface="Inter" panose="020B0604020202020204" charset="0"/>
                <a:cs typeface="Arial" panose="020B0604020202020204" pitchFamily="34" charset="0"/>
              </a:rPr>
              <a:t> 5 Mbps, di mana </a:t>
            </a:r>
            <a:r>
              <a:rPr lang="id-ID" sz="2400" i="1" dirty="0">
                <a:effectLst/>
                <a:latin typeface="Inter" panose="020B0604020202020204" charset="0"/>
                <a:ea typeface="Inter" panose="020B0604020202020204" charset="0"/>
                <a:cs typeface="Arial" panose="020B0604020202020204" pitchFamily="34" charset="0"/>
              </a:rPr>
              <a:t>throughput</a:t>
            </a:r>
            <a:r>
              <a:rPr lang="id-ID" sz="2400" dirty="0">
                <a:effectLst/>
                <a:latin typeface="Inter" panose="020B0604020202020204" charset="0"/>
                <a:ea typeface="Inter" panose="020B0604020202020204" charset="0"/>
                <a:cs typeface="Arial" panose="020B0604020202020204" pitchFamily="34" charset="0"/>
              </a:rPr>
              <a:t> berada pada kisaran 2,11–4,09 Mbps. Hal ini menunjukkan bahwa VLAN penerapan </a:t>
            </a:r>
            <a:r>
              <a:rPr lang="id-ID" sz="2400" i="1" dirty="0">
                <a:effectLst/>
                <a:latin typeface="Inter" panose="020B0604020202020204" charset="0"/>
                <a:ea typeface="Inter" panose="020B0604020202020204" charset="0"/>
                <a:cs typeface="Arial" panose="020B0604020202020204" pitchFamily="34" charset="0"/>
              </a:rPr>
              <a:t>simple</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queue</a:t>
            </a:r>
            <a:r>
              <a:rPr lang="id-ID" sz="2400" dirty="0">
                <a:effectLst/>
                <a:latin typeface="Inter" panose="020B0604020202020204" charset="0"/>
                <a:ea typeface="Inter" panose="020B0604020202020204" charset="0"/>
                <a:cs typeface="Arial" panose="020B0604020202020204" pitchFamily="34" charset="0"/>
              </a:rPr>
              <a:t> berhasil untuk melimitasi </a:t>
            </a:r>
            <a:r>
              <a:rPr lang="id-ID" sz="2400" i="1" dirty="0">
                <a:effectLst/>
                <a:latin typeface="Inter" panose="020B0604020202020204" charset="0"/>
                <a:ea typeface="Inter" panose="020B0604020202020204" charset="0"/>
                <a:cs typeface="Arial" panose="020B0604020202020204" pitchFamily="34" charset="0"/>
              </a:rPr>
              <a:t>bandwidth</a:t>
            </a:r>
            <a:r>
              <a:rPr lang="id-ID" sz="2400" dirty="0">
                <a:effectLst/>
                <a:latin typeface="Inter" panose="020B0604020202020204" charset="0"/>
                <a:ea typeface="Inter" panose="020B0604020202020204" charset="0"/>
                <a:cs typeface="Arial" panose="020B0604020202020204" pitchFamily="34" charset="0"/>
              </a:rPr>
              <a:t>.</a:t>
            </a:r>
            <a:endParaRPr lang="en-ID" sz="2400" dirty="0">
              <a:effectLst/>
              <a:latin typeface="Inter" panose="020B0604020202020204" charset="0"/>
              <a:ea typeface="Inter" panose="020B0604020202020204" charset="0"/>
              <a:cs typeface="Arial" panose="020B0604020202020204" pitchFamily="34" charset="0"/>
            </a:endParaRPr>
          </a:p>
          <a:p>
            <a:pPr indent="457200" algn="just">
              <a:lnSpc>
                <a:spcPct val="150000"/>
              </a:lnSpc>
              <a:spcBef>
                <a:spcPts val="400"/>
              </a:spcBef>
              <a:spcAft>
                <a:spcPts val="400"/>
              </a:spcAft>
            </a:pPr>
            <a:r>
              <a:rPr lang="id-ID" sz="2400" dirty="0">
                <a:effectLst/>
                <a:latin typeface="Inter" panose="020B0604020202020204" charset="0"/>
                <a:ea typeface="Inter" panose="020B0604020202020204" charset="0"/>
                <a:cs typeface="Arial" panose="020B0604020202020204" pitchFamily="34" charset="0"/>
              </a:rPr>
              <a:t>Berdasarkan parameter </a:t>
            </a:r>
            <a:r>
              <a:rPr lang="id-ID" sz="2400" i="1" dirty="0">
                <a:effectLst/>
                <a:latin typeface="Inter" panose="020B0604020202020204" charset="0"/>
                <a:ea typeface="Inter" panose="020B0604020202020204" charset="0"/>
                <a:cs typeface="Arial" panose="020B0604020202020204" pitchFamily="34" charset="0"/>
              </a:rPr>
              <a:t>packet</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loss</a:t>
            </a:r>
            <a:r>
              <a:rPr lang="id-ID" sz="2400" dirty="0">
                <a:effectLst/>
                <a:latin typeface="Inter" panose="020B0604020202020204" charset="0"/>
                <a:ea typeface="Inter" panose="020B0604020202020204" charset="0"/>
                <a:cs typeface="Arial" panose="020B0604020202020204" pitchFamily="34" charset="0"/>
              </a:rPr>
              <a:t>, seluruh skenario pengujian menunjukkan nilai yang sangat rendah dan berada di bawah 0,1%, dengan rentang nilai antara 0,00% hingga 0,09%. Baik pada kondisi sibuk maupun tidak sibuk, implementasi VLAN dan </a:t>
            </a:r>
            <a:r>
              <a:rPr lang="id-ID" sz="2400" i="1" dirty="0">
                <a:effectLst/>
                <a:latin typeface="Inter" panose="020B0604020202020204" charset="0"/>
                <a:ea typeface="Inter" panose="020B0604020202020204" charset="0"/>
                <a:cs typeface="Arial" panose="020B0604020202020204" pitchFamily="34" charset="0"/>
              </a:rPr>
              <a:t>Simple</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Queue</a:t>
            </a:r>
            <a:r>
              <a:rPr lang="id-ID" sz="2400" dirty="0">
                <a:effectLst/>
                <a:latin typeface="Inter" panose="020B0604020202020204" charset="0"/>
                <a:ea typeface="Inter" panose="020B0604020202020204" charset="0"/>
                <a:cs typeface="Arial" panose="020B0604020202020204" pitchFamily="34" charset="0"/>
              </a:rPr>
              <a:t> tidak menyebabkan peningkatan </a:t>
            </a:r>
            <a:r>
              <a:rPr lang="id-ID" sz="2400" i="1" dirty="0">
                <a:effectLst/>
                <a:latin typeface="Inter" panose="020B0604020202020204" charset="0"/>
                <a:ea typeface="Inter" panose="020B0604020202020204" charset="0"/>
                <a:cs typeface="Arial" panose="020B0604020202020204" pitchFamily="34" charset="0"/>
              </a:rPr>
              <a:t>packet</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loss</a:t>
            </a:r>
            <a:r>
              <a:rPr lang="id-ID" sz="2400" dirty="0">
                <a:effectLst/>
                <a:latin typeface="Inter" panose="020B0604020202020204" charset="0"/>
                <a:ea typeface="Inter" panose="020B0604020202020204" charset="0"/>
                <a:cs typeface="Arial" panose="020B0604020202020204" pitchFamily="34" charset="0"/>
              </a:rPr>
              <a:t> yang signifikan. Hal ini menandakan bahwa kualitas transmisi data pada jaringan MIN 3 Pontianak tetap terjaga dengan baik dan tidak mengalami gangguan yang berarti.</a:t>
            </a:r>
            <a:endParaRPr lang="en-ID" sz="2400" dirty="0">
              <a:effectLst/>
              <a:latin typeface="Inter" panose="020B0604020202020204" charset="0"/>
              <a:ea typeface="Inter" panose="020B0604020202020204" charset="0"/>
              <a:cs typeface="Arial" panose="020B0604020202020204" pitchFamily="34" charset="0"/>
            </a:endParaRPr>
          </a:p>
        </p:txBody>
      </p:sp>
    </p:spTree>
    <p:extLst>
      <p:ext uri="{BB962C8B-B14F-4D97-AF65-F5344CB8AC3E}">
        <p14:creationId xmlns:p14="http://schemas.microsoft.com/office/powerpoint/2010/main" val="2913458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D01-3C4B-756C-0B25-1A2C953844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3F9049-6781-F919-6F07-4BC5974D75A3}"/>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1B622557-E545-3BBE-9591-7C2F313437A9}"/>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4E165382-6A65-299B-8ACD-0AF327E84F9E}"/>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Kesimpulan</a:t>
            </a:r>
          </a:p>
        </p:txBody>
      </p:sp>
      <p:sp>
        <p:nvSpPr>
          <p:cNvPr id="7" name="AutoShape 7">
            <a:extLst>
              <a:ext uri="{FF2B5EF4-FFF2-40B4-BE49-F238E27FC236}">
                <a16:creationId xmlns:a16="http://schemas.microsoft.com/office/drawing/2014/main" id="{88E780B9-5031-E473-CC22-ECF3B37D6C4E}"/>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68387BDB-FA83-CE44-0E30-1F9D9DA42F4B}"/>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3BDB73FD-5783-C8A8-632B-22E5ED8F5CAF}"/>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A735BDF0-4E2B-04A1-BD76-38ABFAB931BD}"/>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464C34EB-5BDA-57E7-2AE3-8F669CA656D7}"/>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94201CF5-433A-2E54-3A78-1CD0A097A40A}"/>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514773A0-0832-1055-2B51-1F8D77215534}"/>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F131381E-F030-DCA6-53DA-ADE97710BF76}"/>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25</a:t>
            </a:r>
          </a:p>
        </p:txBody>
      </p:sp>
      <p:sp>
        <p:nvSpPr>
          <p:cNvPr id="17" name="AutoShape 14" descr="Sejarah Awal Mula Perjalanan Debian - Loka Baca">
            <a:extLst>
              <a:ext uri="{FF2B5EF4-FFF2-40B4-BE49-F238E27FC236}">
                <a16:creationId xmlns:a16="http://schemas.microsoft.com/office/drawing/2014/main" id="{B130C720-3CEE-02EA-13F8-9A08BCBAF66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DF802B1-61E5-B4D0-E406-3C2B62321216}"/>
              </a:ext>
            </a:extLst>
          </p:cNvPr>
          <p:cNvSpPr txBox="1"/>
          <p:nvPr/>
        </p:nvSpPr>
        <p:spPr>
          <a:xfrm>
            <a:off x="1943100" y="2311070"/>
            <a:ext cx="14706600" cy="5668796"/>
          </a:xfrm>
          <a:prstGeom prst="rect">
            <a:avLst/>
          </a:prstGeom>
          <a:noFill/>
        </p:spPr>
        <p:txBody>
          <a:bodyPr wrap="square">
            <a:spAutoFit/>
          </a:bodyPr>
          <a:lstStyle/>
          <a:p>
            <a:pPr indent="457200" algn="just">
              <a:lnSpc>
                <a:spcPct val="150000"/>
              </a:lnSpc>
              <a:spcBef>
                <a:spcPts val="400"/>
              </a:spcBef>
              <a:spcAft>
                <a:spcPts val="400"/>
              </a:spcAft>
            </a:pPr>
            <a:r>
              <a:rPr lang="id-ID" sz="2400" dirty="0">
                <a:effectLst/>
                <a:latin typeface="Inter" panose="020B0604020202020204" charset="0"/>
                <a:ea typeface="Inter" panose="020B0604020202020204" charset="0"/>
                <a:cs typeface="Arial" panose="020B0604020202020204" pitchFamily="34" charset="0"/>
              </a:rPr>
              <a:t>Pada parameter Delay, VLAN 100 memiliki nilai </a:t>
            </a:r>
            <a:r>
              <a:rPr lang="id-ID" sz="2400" i="1" dirty="0">
                <a:effectLst/>
                <a:latin typeface="Inter" panose="020B0604020202020204" charset="0"/>
                <a:ea typeface="Inter" panose="020B0604020202020204" charset="0"/>
                <a:cs typeface="Arial" panose="020B0604020202020204" pitchFamily="34" charset="0"/>
              </a:rPr>
              <a:t>delay</a:t>
            </a:r>
            <a:r>
              <a:rPr lang="id-ID" sz="2400" dirty="0">
                <a:effectLst/>
                <a:latin typeface="Inter" panose="020B0604020202020204" charset="0"/>
                <a:ea typeface="Inter" panose="020B0604020202020204" charset="0"/>
                <a:cs typeface="Arial" panose="020B0604020202020204" pitchFamily="34" charset="0"/>
              </a:rPr>
              <a:t> yang relatif rendah dan stabil, yaitu berkisar antara 0,42–2,45 ms, baik pada kondisi sibuk maupun tidak sibuk. Sementara itu, VLAN 200 menunjukkan peningkatan </a:t>
            </a:r>
            <a:r>
              <a:rPr lang="id-ID" sz="2400" i="1" dirty="0">
                <a:effectLst/>
                <a:latin typeface="Inter" panose="020B0604020202020204" charset="0"/>
                <a:ea typeface="Inter" panose="020B0604020202020204" charset="0"/>
                <a:cs typeface="Arial" panose="020B0604020202020204" pitchFamily="34" charset="0"/>
              </a:rPr>
              <a:t>delay</a:t>
            </a:r>
            <a:r>
              <a:rPr lang="id-ID" sz="2400" dirty="0">
                <a:effectLst/>
                <a:latin typeface="Inter" panose="020B0604020202020204" charset="0"/>
                <a:ea typeface="Inter" panose="020B0604020202020204" charset="0"/>
                <a:cs typeface="Arial" panose="020B0604020202020204" pitchFamily="34" charset="0"/>
              </a:rPr>
              <a:t> yang cukup signifikan, khususnya pada Case 3, dengan nilai </a:t>
            </a:r>
            <a:r>
              <a:rPr lang="id-ID" sz="2400" i="1" dirty="0">
                <a:effectLst/>
                <a:latin typeface="Inter" panose="020B0604020202020204" charset="0"/>
                <a:ea typeface="Inter" panose="020B0604020202020204" charset="0"/>
                <a:cs typeface="Arial" panose="020B0604020202020204" pitchFamily="34" charset="0"/>
              </a:rPr>
              <a:t>delay</a:t>
            </a:r>
            <a:r>
              <a:rPr lang="id-ID" sz="2400" dirty="0">
                <a:effectLst/>
                <a:latin typeface="Inter" panose="020B0604020202020204" charset="0"/>
                <a:ea typeface="Inter" panose="020B0604020202020204" charset="0"/>
                <a:cs typeface="Arial" panose="020B0604020202020204" pitchFamily="34" charset="0"/>
              </a:rPr>
              <a:t> mencapai 1,75–3,17 ms. Peningkatan </a:t>
            </a:r>
            <a:r>
              <a:rPr lang="id-ID" sz="2400" i="1" dirty="0">
                <a:effectLst/>
                <a:latin typeface="Inter" panose="020B0604020202020204" charset="0"/>
                <a:ea typeface="Inter" panose="020B0604020202020204" charset="0"/>
                <a:cs typeface="Arial" panose="020B0604020202020204" pitchFamily="34" charset="0"/>
              </a:rPr>
              <a:t>delay</a:t>
            </a:r>
            <a:r>
              <a:rPr lang="id-ID" sz="2400" dirty="0">
                <a:effectLst/>
                <a:latin typeface="Inter" panose="020B0604020202020204" charset="0"/>
                <a:ea typeface="Inter" panose="020B0604020202020204" charset="0"/>
                <a:cs typeface="Arial" panose="020B0604020202020204" pitchFamily="34" charset="0"/>
              </a:rPr>
              <a:t> ini disebabkan oleh adanya antrean paket akibat pembatasan </a:t>
            </a:r>
            <a:r>
              <a:rPr lang="id-ID" sz="2400" i="1" dirty="0">
                <a:effectLst/>
                <a:latin typeface="Inter" panose="020B0604020202020204" charset="0"/>
                <a:ea typeface="Inter" panose="020B0604020202020204" charset="0"/>
                <a:cs typeface="Arial" panose="020B0604020202020204" pitchFamily="34" charset="0"/>
              </a:rPr>
              <a:t>bandwidth</a:t>
            </a:r>
            <a:r>
              <a:rPr lang="id-ID" sz="2400" dirty="0">
                <a:effectLst/>
                <a:latin typeface="Inter" panose="020B0604020202020204" charset="0"/>
                <a:ea typeface="Inter" panose="020B0604020202020204" charset="0"/>
                <a:cs typeface="Arial" panose="020B0604020202020204" pitchFamily="34" charset="0"/>
              </a:rPr>
              <a:t>, yang berdampak pada waktu tunda pengiriman data.</a:t>
            </a:r>
            <a:endParaRPr lang="en-ID" sz="2400" dirty="0">
              <a:effectLst/>
              <a:latin typeface="Inter" panose="020B0604020202020204" charset="0"/>
              <a:ea typeface="Inter" panose="020B0604020202020204" charset="0"/>
              <a:cs typeface="Arial" panose="020B0604020202020204" pitchFamily="34" charset="0"/>
            </a:endParaRPr>
          </a:p>
          <a:p>
            <a:pPr indent="457200" algn="just">
              <a:lnSpc>
                <a:spcPct val="150000"/>
              </a:lnSpc>
              <a:spcBef>
                <a:spcPts val="400"/>
              </a:spcBef>
              <a:spcAft>
                <a:spcPts val="400"/>
              </a:spcAft>
            </a:pPr>
            <a:r>
              <a:rPr lang="id-ID" sz="2400" dirty="0">
                <a:effectLst/>
                <a:latin typeface="Inter" panose="020B0604020202020204" charset="0"/>
                <a:ea typeface="Inter" panose="020B0604020202020204" charset="0"/>
                <a:cs typeface="Arial" panose="020B0604020202020204" pitchFamily="34" charset="0"/>
              </a:rPr>
              <a:t>Selanjutnya, pada parameter </a:t>
            </a:r>
            <a:r>
              <a:rPr lang="id-ID" sz="2400" i="1" dirty="0">
                <a:effectLst/>
                <a:latin typeface="Inter" panose="020B0604020202020204" charset="0"/>
                <a:ea typeface="Inter" panose="020B0604020202020204" charset="0"/>
                <a:cs typeface="Arial" panose="020B0604020202020204" pitchFamily="34" charset="0"/>
              </a:rPr>
              <a:t>jitter</a:t>
            </a:r>
            <a:r>
              <a:rPr lang="id-ID" sz="2400" dirty="0">
                <a:effectLst/>
                <a:latin typeface="Inter" panose="020B0604020202020204" charset="0"/>
                <a:ea typeface="Inter" panose="020B0604020202020204" charset="0"/>
                <a:cs typeface="Arial" panose="020B0604020202020204" pitchFamily="34" charset="0"/>
              </a:rPr>
              <a:t>, VLAN 100 juga menunjukkan performa yang stabil dengan nilai </a:t>
            </a:r>
            <a:r>
              <a:rPr lang="id-ID" sz="2400" i="1" dirty="0">
                <a:effectLst/>
                <a:latin typeface="Inter" panose="020B0604020202020204" charset="0"/>
                <a:ea typeface="Inter" panose="020B0604020202020204" charset="0"/>
                <a:cs typeface="Arial" panose="020B0604020202020204" pitchFamily="34" charset="0"/>
              </a:rPr>
              <a:t>jitter</a:t>
            </a:r>
            <a:r>
              <a:rPr lang="id-ID" sz="2400" dirty="0">
                <a:effectLst/>
                <a:latin typeface="Inter" panose="020B0604020202020204" charset="0"/>
                <a:ea typeface="Inter" panose="020B0604020202020204" charset="0"/>
                <a:cs typeface="Arial" panose="020B0604020202020204" pitchFamily="34" charset="0"/>
              </a:rPr>
              <a:t> berkisar antara 0,65–3,28 ms. Sebaliknya, VLAN 200 mengalami peningkatan </a:t>
            </a:r>
            <a:r>
              <a:rPr lang="id-ID" sz="2400" i="1" dirty="0">
                <a:effectLst/>
                <a:latin typeface="Inter" panose="020B0604020202020204" charset="0"/>
                <a:ea typeface="Inter" panose="020B0604020202020204" charset="0"/>
                <a:cs typeface="Arial" panose="020B0604020202020204" pitchFamily="34" charset="0"/>
              </a:rPr>
              <a:t>jitter</a:t>
            </a:r>
            <a:r>
              <a:rPr lang="id-ID" sz="2400" dirty="0">
                <a:effectLst/>
                <a:latin typeface="Inter" panose="020B0604020202020204" charset="0"/>
                <a:ea typeface="Inter" panose="020B0604020202020204" charset="0"/>
                <a:cs typeface="Arial" panose="020B0604020202020204" pitchFamily="34" charset="0"/>
              </a:rPr>
              <a:t> yang cukup tinggi, terutama setelah diterapkannya </a:t>
            </a:r>
            <a:r>
              <a:rPr lang="id-ID" sz="2400" i="1" dirty="0">
                <a:effectLst/>
                <a:latin typeface="Inter" panose="020B0604020202020204" charset="0"/>
                <a:ea typeface="Inter" panose="020B0604020202020204" charset="0"/>
                <a:cs typeface="Arial" panose="020B0604020202020204" pitchFamily="34" charset="0"/>
              </a:rPr>
              <a:t>Simple</a:t>
            </a:r>
            <a:r>
              <a:rPr lang="id-ID" sz="2400" dirty="0">
                <a:effectLst/>
                <a:latin typeface="Inter" panose="020B0604020202020204" charset="0"/>
                <a:ea typeface="Inter" panose="020B0604020202020204" charset="0"/>
                <a:cs typeface="Arial" panose="020B0604020202020204" pitchFamily="34" charset="0"/>
              </a:rPr>
              <a:t> </a:t>
            </a:r>
            <a:r>
              <a:rPr lang="id-ID" sz="2400" i="1" dirty="0">
                <a:effectLst/>
                <a:latin typeface="Inter" panose="020B0604020202020204" charset="0"/>
                <a:ea typeface="Inter" panose="020B0604020202020204" charset="0"/>
                <a:cs typeface="Arial" panose="020B0604020202020204" pitchFamily="34" charset="0"/>
              </a:rPr>
              <a:t>Queue</a:t>
            </a:r>
            <a:r>
              <a:rPr lang="id-ID" sz="2400" dirty="0">
                <a:effectLst/>
                <a:latin typeface="Inter" panose="020B0604020202020204" charset="0"/>
                <a:ea typeface="Inter" panose="020B0604020202020204" charset="0"/>
                <a:cs typeface="Arial" panose="020B0604020202020204" pitchFamily="34" charset="0"/>
              </a:rPr>
              <a:t>, dengan nilai </a:t>
            </a:r>
            <a:r>
              <a:rPr lang="id-ID" sz="2400" i="1" dirty="0">
                <a:effectLst/>
                <a:latin typeface="Inter" panose="020B0604020202020204" charset="0"/>
                <a:ea typeface="Inter" panose="020B0604020202020204" charset="0"/>
                <a:cs typeface="Arial" panose="020B0604020202020204" pitchFamily="34" charset="0"/>
              </a:rPr>
              <a:t>jitter</a:t>
            </a:r>
            <a:r>
              <a:rPr lang="id-ID" sz="2400" dirty="0">
                <a:effectLst/>
                <a:latin typeface="Inter" panose="020B0604020202020204" charset="0"/>
                <a:ea typeface="Inter" panose="020B0604020202020204" charset="0"/>
                <a:cs typeface="Arial" panose="020B0604020202020204" pitchFamily="34" charset="0"/>
              </a:rPr>
              <a:t> mencapai 2,87–4,96 ms. Kondisi ini menunjukkan bahwa pembatasan </a:t>
            </a:r>
            <a:r>
              <a:rPr lang="id-ID" sz="2400" i="1" dirty="0">
                <a:effectLst/>
                <a:latin typeface="Inter" panose="020B0604020202020204" charset="0"/>
                <a:ea typeface="Inter" panose="020B0604020202020204" charset="0"/>
                <a:cs typeface="Arial" panose="020B0604020202020204" pitchFamily="34" charset="0"/>
              </a:rPr>
              <a:t>bandwidth</a:t>
            </a:r>
            <a:r>
              <a:rPr lang="id-ID" sz="2400" dirty="0">
                <a:effectLst/>
                <a:latin typeface="Inter" panose="020B0604020202020204" charset="0"/>
                <a:ea typeface="Inter" panose="020B0604020202020204" charset="0"/>
                <a:cs typeface="Arial" panose="020B0604020202020204" pitchFamily="34" charset="0"/>
              </a:rPr>
              <a:t> pada VLAN 200 menyebabkan ketidakstabilan variasi waktu tunda paket, terutama pada saat trafik jaringan meningkat.</a:t>
            </a:r>
            <a:endParaRPr lang="en-ID" sz="2400" dirty="0">
              <a:effectLst/>
              <a:latin typeface="Inter" panose="020B0604020202020204" charset="0"/>
              <a:ea typeface="Inter" panose="020B0604020202020204" charset="0"/>
              <a:cs typeface="Arial" panose="020B0604020202020204" pitchFamily="34" charset="0"/>
            </a:endParaRPr>
          </a:p>
        </p:txBody>
      </p:sp>
    </p:spTree>
    <p:extLst>
      <p:ext uri="{BB962C8B-B14F-4D97-AF65-F5344CB8AC3E}">
        <p14:creationId xmlns:p14="http://schemas.microsoft.com/office/powerpoint/2010/main" val="2878009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D01-3C4B-756C-0B25-1A2C953844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3F9049-6781-F919-6F07-4BC5974D75A3}"/>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1B622557-E545-3BBE-9591-7C2F313437A9}"/>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4E165382-6A65-299B-8ACD-0AF327E84F9E}"/>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Kesimpulan</a:t>
            </a:r>
          </a:p>
        </p:txBody>
      </p:sp>
      <p:sp>
        <p:nvSpPr>
          <p:cNvPr id="7" name="AutoShape 7">
            <a:extLst>
              <a:ext uri="{FF2B5EF4-FFF2-40B4-BE49-F238E27FC236}">
                <a16:creationId xmlns:a16="http://schemas.microsoft.com/office/drawing/2014/main" id="{88E780B9-5031-E473-CC22-ECF3B37D6C4E}"/>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68387BDB-FA83-CE44-0E30-1F9D9DA42F4B}"/>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3BDB73FD-5783-C8A8-632B-22E5ED8F5CAF}"/>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A735BDF0-4E2B-04A1-BD76-38ABFAB931BD}"/>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464C34EB-5BDA-57E7-2AE3-8F669CA656D7}"/>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94201CF5-433A-2E54-3A78-1CD0A097A40A}"/>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514773A0-0832-1055-2B51-1F8D77215534}"/>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F131381E-F030-DCA6-53DA-ADE97710BF76}"/>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26</a:t>
            </a:r>
          </a:p>
        </p:txBody>
      </p:sp>
      <p:sp>
        <p:nvSpPr>
          <p:cNvPr id="17" name="AutoShape 14" descr="Sejarah Awal Mula Perjalanan Debian - Loka Baca">
            <a:extLst>
              <a:ext uri="{FF2B5EF4-FFF2-40B4-BE49-F238E27FC236}">
                <a16:creationId xmlns:a16="http://schemas.microsoft.com/office/drawing/2014/main" id="{B130C720-3CEE-02EA-13F8-9A08BCBAF66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DF802B1-61E5-B4D0-E406-3C2B62321216}"/>
              </a:ext>
            </a:extLst>
          </p:cNvPr>
          <p:cNvSpPr txBox="1"/>
          <p:nvPr/>
        </p:nvSpPr>
        <p:spPr>
          <a:xfrm>
            <a:off x="1943100" y="2311070"/>
            <a:ext cx="14706600" cy="7390806"/>
          </a:xfrm>
          <a:prstGeom prst="rect">
            <a:avLst/>
          </a:prstGeom>
          <a:noFill/>
        </p:spPr>
        <p:txBody>
          <a:bodyPr wrap="square">
            <a:spAutoFit/>
          </a:bodyPr>
          <a:lstStyle/>
          <a:p>
            <a:pPr indent="457200" algn="just">
              <a:lnSpc>
                <a:spcPct val="150000"/>
              </a:lnSpc>
              <a:spcBef>
                <a:spcPts val="400"/>
              </a:spcBef>
              <a:spcAft>
                <a:spcPts val="400"/>
              </a:spcAft>
            </a:pPr>
            <a:r>
              <a:rPr lang="id-ID" sz="3200" dirty="0">
                <a:effectLst/>
                <a:latin typeface="Inter" panose="020B0604020202020204" charset="0"/>
                <a:ea typeface="Inter" panose="020B0604020202020204" charset="0"/>
                <a:cs typeface="Arial" panose="020B0604020202020204" pitchFamily="34" charset="0"/>
              </a:rPr>
              <a:t>Secara keseluruhan, dapat disimpulkan bahwa </a:t>
            </a:r>
            <a:r>
              <a:rPr lang="id-ID" sz="3200" i="1" dirty="0">
                <a:effectLst/>
                <a:latin typeface="Inter" panose="020B0604020202020204" charset="0"/>
                <a:ea typeface="Inter" panose="020B0604020202020204" charset="0"/>
                <a:cs typeface="Arial" panose="020B0604020202020204" pitchFamily="34" charset="0"/>
              </a:rPr>
              <a:t>VLAN</a:t>
            </a:r>
            <a:r>
              <a:rPr lang="id-ID" sz="3200" dirty="0">
                <a:effectLst/>
                <a:latin typeface="Inter" panose="020B0604020202020204" charset="0"/>
                <a:ea typeface="Inter" panose="020B0604020202020204" charset="0"/>
                <a:cs typeface="Arial" panose="020B0604020202020204" pitchFamily="34" charset="0"/>
              </a:rPr>
              <a:t> 100 sudah bekerja secara optimal, ditandai dengan nilai </a:t>
            </a:r>
            <a:r>
              <a:rPr lang="id-ID" sz="3200" i="1" dirty="0">
                <a:effectLst/>
                <a:latin typeface="Inter" panose="020B0604020202020204" charset="0"/>
                <a:ea typeface="Inter" panose="020B0604020202020204" charset="0"/>
                <a:cs typeface="Arial" panose="020B0604020202020204" pitchFamily="34" charset="0"/>
              </a:rPr>
              <a:t>throughput</a:t>
            </a:r>
            <a:r>
              <a:rPr lang="id-ID" sz="3200" dirty="0">
                <a:effectLst/>
                <a:latin typeface="Inter" panose="020B0604020202020204" charset="0"/>
                <a:ea typeface="Inter" panose="020B0604020202020204" charset="0"/>
                <a:cs typeface="Arial" panose="020B0604020202020204" pitchFamily="34" charset="0"/>
              </a:rPr>
              <a:t> yang baik, </a:t>
            </a:r>
            <a:r>
              <a:rPr lang="id-ID" sz="3200" i="1" dirty="0">
                <a:effectLst/>
                <a:latin typeface="Inter" panose="020B0604020202020204" charset="0"/>
                <a:ea typeface="Inter" panose="020B0604020202020204" charset="0"/>
                <a:cs typeface="Arial" panose="020B0604020202020204" pitchFamily="34" charset="0"/>
              </a:rPr>
              <a:t>packet</a:t>
            </a:r>
            <a:r>
              <a:rPr lang="id-ID" sz="3200" dirty="0">
                <a:effectLst/>
                <a:latin typeface="Inter" panose="020B0604020202020204" charset="0"/>
                <a:ea typeface="Inter" panose="020B0604020202020204" charset="0"/>
                <a:cs typeface="Arial" panose="020B0604020202020204" pitchFamily="34" charset="0"/>
              </a:rPr>
              <a:t> </a:t>
            </a:r>
            <a:r>
              <a:rPr lang="id-ID" sz="3200" i="1" dirty="0">
                <a:effectLst/>
                <a:latin typeface="Inter" panose="020B0604020202020204" charset="0"/>
                <a:ea typeface="Inter" panose="020B0604020202020204" charset="0"/>
                <a:cs typeface="Arial" panose="020B0604020202020204" pitchFamily="34" charset="0"/>
              </a:rPr>
              <a:t>loss</a:t>
            </a:r>
            <a:r>
              <a:rPr lang="id-ID" sz="3200" dirty="0">
                <a:effectLst/>
                <a:latin typeface="Inter" panose="020B0604020202020204" charset="0"/>
                <a:ea typeface="Inter" panose="020B0604020202020204" charset="0"/>
                <a:cs typeface="Arial" panose="020B0604020202020204" pitchFamily="34" charset="0"/>
              </a:rPr>
              <a:t> yang sangat rendah, serta </a:t>
            </a:r>
            <a:r>
              <a:rPr lang="id-ID" sz="3200" i="1" dirty="0">
                <a:effectLst/>
                <a:latin typeface="Inter" panose="020B0604020202020204" charset="0"/>
                <a:ea typeface="Inter" panose="020B0604020202020204" charset="0"/>
                <a:cs typeface="Arial" panose="020B0604020202020204" pitchFamily="34" charset="0"/>
              </a:rPr>
              <a:t>delay</a:t>
            </a:r>
            <a:r>
              <a:rPr lang="id-ID" sz="3200" dirty="0">
                <a:effectLst/>
                <a:latin typeface="Inter" panose="020B0604020202020204" charset="0"/>
                <a:ea typeface="Inter" panose="020B0604020202020204" charset="0"/>
                <a:cs typeface="Arial" panose="020B0604020202020204" pitchFamily="34" charset="0"/>
              </a:rPr>
              <a:t> dan </a:t>
            </a:r>
            <a:r>
              <a:rPr lang="id-ID" sz="3200" i="1" dirty="0">
                <a:effectLst/>
                <a:latin typeface="Inter" panose="020B0604020202020204" charset="0"/>
                <a:ea typeface="Inter" panose="020B0604020202020204" charset="0"/>
                <a:cs typeface="Arial" panose="020B0604020202020204" pitchFamily="34" charset="0"/>
              </a:rPr>
              <a:t>jitter</a:t>
            </a:r>
            <a:r>
              <a:rPr lang="id-ID" sz="3200" dirty="0">
                <a:effectLst/>
                <a:latin typeface="Inter" panose="020B0604020202020204" charset="0"/>
                <a:ea typeface="Inter" panose="020B0604020202020204" charset="0"/>
                <a:cs typeface="Arial" panose="020B0604020202020204" pitchFamily="34" charset="0"/>
              </a:rPr>
              <a:t> yang stabil. Sementara itu, </a:t>
            </a:r>
            <a:r>
              <a:rPr lang="id-ID" sz="3200" i="1" dirty="0">
                <a:effectLst/>
                <a:latin typeface="Inter" panose="020B0604020202020204" charset="0"/>
                <a:ea typeface="Inter" panose="020B0604020202020204" charset="0"/>
                <a:cs typeface="Arial" panose="020B0604020202020204" pitchFamily="34" charset="0"/>
              </a:rPr>
              <a:t>VLAN</a:t>
            </a:r>
            <a:r>
              <a:rPr lang="id-ID" sz="3200" dirty="0">
                <a:effectLst/>
                <a:latin typeface="Inter" panose="020B0604020202020204" charset="0"/>
                <a:ea typeface="Inter" panose="020B0604020202020204" charset="0"/>
                <a:cs typeface="Arial" panose="020B0604020202020204" pitchFamily="34" charset="0"/>
              </a:rPr>
              <a:t> 200 berhasil untuk menerapkan pembatasan </a:t>
            </a:r>
            <a:r>
              <a:rPr lang="id-ID" sz="3200" i="1" dirty="0">
                <a:effectLst/>
                <a:latin typeface="Inter" panose="020B0604020202020204" charset="0"/>
                <a:ea typeface="Inter" panose="020B0604020202020204" charset="0"/>
                <a:cs typeface="Arial" panose="020B0604020202020204" pitchFamily="34" charset="0"/>
              </a:rPr>
              <a:t>bandwidth</a:t>
            </a:r>
            <a:r>
              <a:rPr lang="id-ID" sz="3200" dirty="0">
                <a:effectLst/>
                <a:latin typeface="Inter" panose="020B0604020202020204" charset="0"/>
                <a:ea typeface="Inter" panose="020B0604020202020204" charset="0"/>
                <a:cs typeface="Arial" panose="020B0604020202020204" pitchFamily="34" charset="0"/>
              </a:rPr>
              <a:t> namun menyebabkan penurunan throughput serta peningkatan </a:t>
            </a:r>
            <a:r>
              <a:rPr lang="id-ID" sz="3200" i="1" dirty="0">
                <a:effectLst/>
                <a:latin typeface="Inter" panose="020B0604020202020204" charset="0"/>
                <a:ea typeface="Inter" panose="020B0604020202020204" charset="0"/>
                <a:cs typeface="Arial" panose="020B0604020202020204" pitchFamily="34" charset="0"/>
              </a:rPr>
              <a:t>delay</a:t>
            </a:r>
            <a:r>
              <a:rPr lang="id-ID" sz="3200" dirty="0">
                <a:effectLst/>
                <a:latin typeface="Inter" panose="020B0604020202020204" charset="0"/>
                <a:ea typeface="Inter" panose="020B0604020202020204" charset="0"/>
                <a:cs typeface="Arial" panose="020B0604020202020204" pitchFamily="34" charset="0"/>
              </a:rPr>
              <a:t> dan </a:t>
            </a:r>
            <a:r>
              <a:rPr lang="id-ID" sz="3200" i="1" dirty="0">
                <a:effectLst/>
                <a:latin typeface="Inter" panose="020B0604020202020204" charset="0"/>
                <a:ea typeface="Inter" panose="020B0604020202020204" charset="0"/>
                <a:cs typeface="Arial" panose="020B0604020202020204" pitchFamily="34" charset="0"/>
              </a:rPr>
              <a:t>jitter</a:t>
            </a:r>
            <a:r>
              <a:rPr lang="id-ID" sz="3200" dirty="0">
                <a:effectLst/>
                <a:latin typeface="Inter" panose="020B0604020202020204" charset="0"/>
                <a:ea typeface="Inter" panose="020B0604020202020204" charset="0"/>
                <a:cs typeface="Arial" panose="020B0604020202020204" pitchFamily="34" charset="0"/>
              </a:rPr>
              <a:t>, meskipun nilai </a:t>
            </a:r>
            <a:r>
              <a:rPr lang="id-ID" sz="3200" i="1" dirty="0">
                <a:effectLst/>
                <a:latin typeface="Inter" panose="020B0604020202020204" charset="0"/>
                <a:ea typeface="Inter" panose="020B0604020202020204" charset="0"/>
                <a:cs typeface="Arial" panose="020B0604020202020204" pitchFamily="34" charset="0"/>
              </a:rPr>
              <a:t>packet</a:t>
            </a:r>
            <a:r>
              <a:rPr lang="id-ID" sz="3200" dirty="0">
                <a:effectLst/>
                <a:latin typeface="Inter" panose="020B0604020202020204" charset="0"/>
                <a:ea typeface="Inter" panose="020B0604020202020204" charset="0"/>
                <a:cs typeface="Arial" panose="020B0604020202020204" pitchFamily="34" charset="0"/>
              </a:rPr>
              <a:t> </a:t>
            </a:r>
            <a:r>
              <a:rPr lang="id-ID" sz="3200" i="1" dirty="0">
                <a:effectLst/>
                <a:latin typeface="Inter" panose="020B0604020202020204" charset="0"/>
                <a:ea typeface="Inter" panose="020B0604020202020204" charset="0"/>
                <a:cs typeface="Arial" panose="020B0604020202020204" pitchFamily="34" charset="0"/>
              </a:rPr>
              <a:t>loss</a:t>
            </a:r>
            <a:r>
              <a:rPr lang="id-ID" sz="3200" dirty="0">
                <a:effectLst/>
                <a:latin typeface="Inter" panose="020B0604020202020204" charset="0"/>
                <a:ea typeface="Inter" panose="020B0604020202020204" charset="0"/>
                <a:cs typeface="Arial" panose="020B0604020202020204" pitchFamily="34" charset="0"/>
              </a:rPr>
              <a:t> masih berada dalam batas yang dapat diterima. Dengan demikian, implementasi VLAN pada jaringan MIN 3 Pontianak telah berhasil mencapai tujuan penelitian, khususnya dalam pengelolaan segmentasi jaringan dan evaluasi kinerja jaringan berdasarkan parameter </a:t>
            </a:r>
            <a:r>
              <a:rPr lang="id-ID" sz="3200" i="1" dirty="0">
                <a:effectLst/>
                <a:latin typeface="Inter" panose="020B0604020202020204" charset="0"/>
                <a:ea typeface="Inter" panose="020B0604020202020204" charset="0"/>
                <a:cs typeface="Arial" panose="020B0604020202020204" pitchFamily="34" charset="0"/>
              </a:rPr>
              <a:t>Quality of Service (QoS)</a:t>
            </a:r>
            <a:r>
              <a:rPr lang="id-ID" sz="3200" dirty="0">
                <a:effectLst/>
                <a:latin typeface="Inter" panose="020B0604020202020204" charset="0"/>
                <a:ea typeface="Inter" panose="020B0604020202020204" charset="0"/>
                <a:cs typeface="Arial" panose="020B0604020202020204" pitchFamily="34" charset="0"/>
              </a:rPr>
              <a:t>.</a:t>
            </a:r>
            <a:endParaRPr lang="en-ID" sz="3200" dirty="0">
              <a:effectLst/>
              <a:latin typeface="Inter" panose="020B0604020202020204" charset="0"/>
              <a:ea typeface="Inter" panose="020B0604020202020204" charset="0"/>
              <a:cs typeface="Arial" panose="020B0604020202020204" pitchFamily="34" charset="0"/>
            </a:endParaRPr>
          </a:p>
        </p:txBody>
      </p:sp>
    </p:spTree>
    <p:extLst>
      <p:ext uri="{BB962C8B-B14F-4D97-AF65-F5344CB8AC3E}">
        <p14:creationId xmlns:p14="http://schemas.microsoft.com/office/powerpoint/2010/main" val="3661380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EC29-441C-1DB2-0B08-7076818DED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498A12E-3EC8-5BD7-D2D9-583CBEC08AA0}"/>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B1353340-F0AE-064E-FBE3-EAAC09F3E8C8}"/>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A6961EDF-B82C-932E-2175-36F4A04F6980}"/>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Saran</a:t>
            </a:r>
          </a:p>
        </p:txBody>
      </p:sp>
      <p:sp>
        <p:nvSpPr>
          <p:cNvPr id="7" name="AutoShape 7">
            <a:extLst>
              <a:ext uri="{FF2B5EF4-FFF2-40B4-BE49-F238E27FC236}">
                <a16:creationId xmlns:a16="http://schemas.microsoft.com/office/drawing/2014/main" id="{F67B8E31-4806-1837-84A9-F17A491408C1}"/>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4004C866-7257-D8A8-7BE6-621C94171BCD}"/>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71A2B5ED-5340-0B58-B780-8A35A8E81992}"/>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21E1D4F0-DF69-DD52-EB8C-80DDE4C874DC}"/>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651F7327-FE90-9C4F-C057-83770FEB0407}"/>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37F79D75-E512-E05D-82DD-301157441646}"/>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7B80CB27-9CE3-9621-0C61-59FAAD150BE4}"/>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15DD02F4-D073-C355-47F7-406A92D0122B}"/>
              </a:ext>
            </a:extLst>
          </p:cNvPr>
          <p:cNvSpPr txBox="1"/>
          <p:nvPr/>
        </p:nvSpPr>
        <p:spPr>
          <a:xfrm>
            <a:off x="702691" y="435282"/>
            <a:ext cx="2996933" cy="2803731"/>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27</a:t>
            </a:r>
          </a:p>
        </p:txBody>
      </p:sp>
      <p:sp>
        <p:nvSpPr>
          <p:cNvPr id="17" name="AutoShape 14" descr="Sejarah Awal Mula Perjalanan Debian - Loka Baca">
            <a:extLst>
              <a:ext uri="{FF2B5EF4-FFF2-40B4-BE49-F238E27FC236}">
                <a16:creationId xmlns:a16="http://schemas.microsoft.com/office/drawing/2014/main" id="{41FB7FF1-9A42-3DAF-7789-84FBABC8229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extBox 17">
            <a:extLst>
              <a:ext uri="{FF2B5EF4-FFF2-40B4-BE49-F238E27FC236}">
                <a16:creationId xmlns:a16="http://schemas.microsoft.com/office/drawing/2014/main" id="{A2A4693A-326E-729C-42DD-DA6B185343FA}"/>
              </a:ext>
            </a:extLst>
          </p:cNvPr>
          <p:cNvSpPr txBox="1"/>
          <p:nvPr/>
        </p:nvSpPr>
        <p:spPr>
          <a:xfrm>
            <a:off x="1638300" y="2243289"/>
            <a:ext cx="15316200" cy="7571303"/>
          </a:xfrm>
          <a:prstGeom prst="rect">
            <a:avLst/>
          </a:prstGeom>
          <a:noFill/>
        </p:spPr>
        <p:txBody>
          <a:bodyPr wrap="square">
            <a:spAutoFit/>
          </a:bodyPr>
          <a:lstStyle/>
          <a:p>
            <a:pPr indent="457200" algn="just">
              <a:lnSpc>
                <a:spcPct val="150000"/>
              </a:lnSpc>
              <a:spcBef>
                <a:spcPts val="400"/>
              </a:spcBef>
              <a:spcAft>
                <a:spcPts val="400"/>
              </a:spcAft>
            </a:pPr>
            <a:r>
              <a:rPr lang="id-ID" sz="2800" dirty="0">
                <a:effectLst/>
                <a:latin typeface="Inter" panose="020B0604020202020204" charset="0"/>
                <a:ea typeface="Inter" panose="020B0604020202020204" charset="0"/>
                <a:cs typeface="Arial" panose="020B0604020202020204" pitchFamily="34" charset="0"/>
              </a:rPr>
              <a:t>Berdasarkan hasil penelitian, disarankan agar pengelolaan jaringan di MIN 3 Pontianak terus ditingkatkan dengan mengoptimalkan penggunaan </a:t>
            </a:r>
            <a:r>
              <a:rPr lang="id-ID" sz="2800" i="1" dirty="0">
                <a:effectLst/>
                <a:latin typeface="Inter" panose="020B0604020202020204" charset="0"/>
                <a:ea typeface="Inter" panose="020B0604020202020204" charset="0"/>
                <a:cs typeface="Arial" panose="020B0604020202020204" pitchFamily="34" charset="0"/>
              </a:rPr>
              <a:t>switch</a:t>
            </a:r>
            <a:r>
              <a:rPr lang="id-ID" sz="2800" dirty="0">
                <a:effectLst/>
                <a:latin typeface="Inter" panose="020B0604020202020204" charset="0"/>
                <a:ea typeface="Inter" panose="020B0604020202020204" charset="0"/>
                <a:cs typeface="Arial" panose="020B0604020202020204" pitchFamily="34" charset="0"/>
              </a:rPr>
              <a:t> dalam implementasi VLAN. Pemanfaatan </a:t>
            </a:r>
            <a:r>
              <a:rPr lang="id-ID" sz="2800" i="1" dirty="0">
                <a:effectLst/>
                <a:latin typeface="Inter" panose="020B0604020202020204" charset="0"/>
                <a:ea typeface="Inter" panose="020B0604020202020204" charset="0"/>
                <a:cs typeface="Arial" panose="020B0604020202020204" pitchFamily="34" charset="0"/>
              </a:rPr>
              <a:t>switch</a:t>
            </a:r>
            <a:r>
              <a:rPr lang="id-ID" sz="2800" dirty="0">
                <a:effectLst/>
                <a:latin typeface="Inter" panose="020B0604020202020204" charset="0"/>
                <a:ea typeface="Inter" panose="020B0604020202020204" charset="0"/>
                <a:cs typeface="Arial" panose="020B0604020202020204" pitchFamily="34" charset="0"/>
              </a:rPr>
              <a:t>, khususnya </a:t>
            </a:r>
            <a:r>
              <a:rPr lang="id-ID" sz="2800" i="1" dirty="0">
                <a:effectLst/>
                <a:latin typeface="Inter" panose="020B0604020202020204" charset="0"/>
                <a:ea typeface="Inter" panose="020B0604020202020204" charset="0"/>
                <a:cs typeface="Arial" panose="020B0604020202020204" pitchFamily="34" charset="0"/>
              </a:rPr>
              <a:t>managed switch</a:t>
            </a:r>
            <a:r>
              <a:rPr lang="id-ID" sz="2800" dirty="0">
                <a:effectLst/>
                <a:latin typeface="Inter" panose="020B0604020202020204" charset="0"/>
                <a:ea typeface="Inter" panose="020B0604020202020204" charset="0"/>
                <a:cs typeface="Arial" panose="020B0604020202020204" pitchFamily="34" charset="0"/>
              </a:rPr>
              <a:t>, dapat mengurangi beban kerja router dalam menangani lalu lintas data antar segmen jaringan, sehingga kinerja jaringan menjadi lebih stabil dan efisien.</a:t>
            </a:r>
            <a:endParaRPr lang="en-ID" sz="2800" dirty="0">
              <a:effectLst/>
              <a:latin typeface="Inter" panose="020B0604020202020204" charset="0"/>
              <a:ea typeface="Inter" panose="020B0604020202020204" charset="0"/>
              <a:cs typeface="Arial" panose="020B0604020202020204" pitchFamily="34" charset="0"/>
            </a:endParaRPr>
          </a:p>
          <a:p>
            <a:pPr indent="457200" algn="just">
              <a:lnSpc>
                <a:spcPct val="150000"/>
              </a:lnSpc>
              <a:spcBef>
                <a:spcPts val="400"/>
              </a:spcBef>
              <a:spcAft>
                <a:spcPts val="400"/>
              </a:spcAft>
            </a:pPr>
            <a:r>
              <a:rPr lang="id-ID" sz="2800" dirty="0">
                <a:effectLst/>
                <a:latin typeface="Inter" panose="020B0604020202020204" charset="0"/>
                <a:ea typeface="Inter" panose="020B0604020202020204" charset="0"/>
                <a:cs typeface="Arial" panose="020B0604020202020204" pitchFamily="34" charset="0"/>
              </a:rPr>
              <a:t>Selain itu, disarankan untuk melakukan penambahan kecepatan atau kapasitas </a:t>
            </a:r>
            <a:r>
              <a:rPr lang="id-ID" sz="2800" i="1" dirty="0">
                <a:effectLst/>
                <a:latin typeface="Inter" panose="020B0604020202020204" charset="0"/>
                <a:ea typeface="Inter" panose="020B0604020202020204" charset="0"/>
                <a:cs typeface="Arial" panose="020B0604020202020204" pitchFamily="34" charset="0"/>
              </a:rPr>
              <a:t>bandwidth</a:t>
            </a:r>
            <a:r>
              <a:rPr lang="id-ID" sz="2800" dirty="0">
                <a:effectLst/>
                <a:latin typeface="Inter" panose="020B0604020202020204" charset="0"/>
                <a:ea typeface="Inter" panose="020B0604020202020204" charset="0"/>
                <a:cs typeface="Arial" panose="020B0604020202020204" pitchFamily="34" charset="0"/>
              </a:rPr>
              <a:t> internet guna mendukung kebutuhan akses jaringan yang semakin meningkat. Peningkatan </a:t>
            </a:r>
            <a:r>
              <a:rPr lang="id-ID" sz="2800" i="1" dirty="0">
                <a:effectLst/>
                <a:latin typeface="Inter" panose="020B0604020202020204" charset="0"/>
                <a:ea typeface="Inter" panose="020B0604020202020204" charset="0"/>
                <a:cs typeface="Arial" panose="020B0604020202020204" pitchFamily="34" charset="0"/>
              </a:rPr>
              <a:t>bandwidth</a:t>
            </a:r>
            <a:r>
              <a:rPr lang="id-ID" sz="2800" dirty="0">
                <a:effectLst/>
                <a:latin typeface="Inter" panose="020B0604020202020204" charset="0"/>
                <a:ea typeface="Inter" panose="020B0604020202020204" charset="0"/>
                <a:cs typeface="Arial" panose="020B0604020202020204" pitchFamily="34" charset="0"/>
              </a:rPr>
              <a:t> ini diharapkan dapat memperbaiki nilai </a:t>
            </a:r>
            <a:r>
              <a:rPr lang="id-ID" sz="2800" i="1" dirty="0">
                <a:effectLst/>
                <a:latin typeface="Inter" panose="020B0604020202020204" charset="0"/>
                <a:ea typeface="Inter" panose="020B0604020202020204" charset="0"/>
                <a:cs typeface="Arial" panose="020B0604020202020204" pitchFamily="34" charset="0"/>
              </a:rPr>
              <a:t>throughput</a:t>
            </a:r>
            <a:r>
              <a:rPr lang="id-ID" sz="2800" dirty="0">
                <a:effectLst/>
                <a:latin typeface="Inter" panose="020B0604020202020204" charset="0"/>
                <a:ea typeface="Inter" panose="020B0604020202020204" charset="0"/>
                <a:cs typeface="Arial" panose="020B0604020202020204" pitchFamily="34" charset="0"/>
              </a:rPr>
              <a:t> serta menekan </a:t>
            </a:r>
            <a:r>
              <a:rPr lang="id-ID" sz="2800" i="1" dirty="0">
                <a:effectLst/>
                <a:latin typeface="Inter" panose="020B0604020202020204" charset="0"/>
                <a:ea typeface="Inter" panose="020B0604020202020204" charset="0"/>
                <a:cs typeface="Arial" panose="020B0604020202020204" pitchFamily="34" charset="0"/>
              </a:rPr>
              <a:t>delay</a:t>
            </a:r>
            <a:r>
              <a:rPr lang="id-ID" sz="2800" dirty="0">
                <a:effectLst/>
                <a:latin typeface="Inter" panose="020B0604020202020204" charset="0"/>
                <a:ea typeface="Inter" panose="020B0604020202020204" charset="0"/>
                <a:cs typeface="Arial" panose="020B0604020202020204" pitchFamily="34" charset="0"/>
              </a:rPr>
              <a:t> dan </a:t>
            </a:r>
            <a:r>
              <a:rPr lang="id-ID" sz="2800" i="1" dirty="0">
                <a:effectLst/>
                <a:latin typeface="Inter" panose="020B0604020202020204" charset="0"/>
                <a:ea typeface="Inter" panose="020B0604020202020204" charset="0"/>
                <a:cs typeface="Arial" panose="020B0604020202020204" pitchFamily="34" charset="0"/>
              </a:rPr>
              <a:t>jitter</a:t>
            </a:r>
            <a:r>
              <a:rPr lang="id-ID" sz="2800" dirty="0">
                <a:effectLst/>
                <a:latin typeface="Inter" panose="020B0604020202020204" charset="0"/>
                <a:ea typeface="Inter" panose="020B0604020202020204" charset="0"/>
                <a:cs typeface="Arial" panose="020B0604020202020204" pitchFamily="34" charset="0"/>
              </a:rPr>
              <a:t>, sehingga kualitas layanan jaringan, baik pada VLAN 100 maupun VLAN 200, dapat berjalan lebih optimal dan tetap terjaga dalam jangka panjang.</a:t>
            </a:r>
            <a:endParaRPr lang="en-ID" sz="2800" dirty="0">
              <a:effectLst/>
              <a:latin typeface="Inter" panose="020B0604020202020204" charset="0"/>
              <a:ea typeface="Inter" panose="020B0604020202020204" charset="0"/>
              <a:cs typeface="Arial" panose="020B0604020202020204" pitchFamily="34" charset="0"/>
            </a:endParaRPr>
          </a:p>
          <a:p>
            <a:br>
              <a:rPr lang="id-ID" sz="2800" dirty="0">
                <a:effectLst/>
                <a:latin typeface="Inter" panose="020B0604020202020204" charset="0"/>
                <a:ea typeface="Inter" panose="020B0604020202020204" charset="0"/>
                <a:cs typeface="Arial" panose="020B0604020202020204" pitchFamily="34" charset="0"/>
              </a:rPr>
            </a:br>
            <a:endParaRPr lang="en-ID" sz="2800" dirty="0">
              <a:effectLst/>
              <a:latin typeface="Inter" panose="020B0604020202020204" charset="0"/>
              <a:ea typeface="Inter" panose="020B0604020202020204" charset="0"/>
              <a:cs typeface="Arial" panose="020B0604020202020204" pitchFamily="34" charset="0"/>
            </a:endParaRPr>
          </a:p>
        </p:txBody>
      </p:sp>
    </p:spTree>
    <p:extLst>
      <p:ext uri="{BB962C8B-B14F-4D97-AF65-F5344CB8AC3E}">
        <p14:creationId xmlns:p14="http://schemas.microsoft.com/office/powerpoint/2010/main" val="2843844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6096D-FE91-222B-82AC-6C00131C69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0BA83D-06FD-425B-B656-F5A8890DCE0E}"/>
              </a:ext>
            </a:extLst>
          </p:cNvPr>
          <p:cNvGrpSpPr/>
          <p:nvPr/>
        </p:nvGrpSpPr>
        <p:grpSpPr>
          <a:xfrm>
            <a:off x="6345412" y="2857500"/>
            <a:ext cx="5674233" cy="5674233"/>
            <a:chOff x="0" y="0"/>
            <a:chExt cx="6350000" cy="6350000"/>
          </a:xfrm>
        </p:grpSpPr>
        <p:sp>
          <p:nvSpPr>
            <p:cNvPr id="3" name="Freeform 3">
              <a:extLst>
                <a:ext uri="{FF2B5EF4-FFF2-40B4-BE49-F238E27FC236}">
                  <a16:creationId xmlns:a16="http://schemas.microsoft.com/office/drawing/2014/main" id="{49818C5A-54A7-C29E-DC37-F4274ACB312B}"/>
                </a:ext>
              </a:extLst>
            </p:cNvPr>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sp>
        <p:nvSpPr>
          <p:cNvPr id="5" name="TextBox 5">
            <a:extLst>
              <a:ext uri="{FF2B5EF4-FFF2-40B4-BE49-F238E27FC236}">
                <a16:creationId xmlns:a16="http://schemas.microsoft.com/office/drawing/2014/main" id="{5DA3665C-5CE3-3B32-EEF8-2EF06FFB40D5}"/>
              </a:ext>
            </a:extLst>
          </p:cNvPr>
          <p:cNvSpPr txBox="1"/>
          <p:nvPr/>
        </p:nvSpPr>
        <p:spPr>
          <a:xfrm>
            <a:off x="3220823" y="1085569"/>
            <a:ext cx="11538128" cy="1086131"/>
          </a:xfrm>
          <a:prstGeom prst="rect">
            <a:avLst/>
          </a:prstGeom>
        </p:spPr>
        <p:txBody>
          <a:bodyPr lIns="0" tIns="0" rIns="0" bIns="0" rtlCol="0" anchor="t">
            <a:spAutoFit/>
          </a:bodyPr>
          <a:lstStyle/>
          <a:p>
            <a:pPr algn="ctr">
              <a:lnSpc>
                <a:spcPts val="9600"/>
              </a:lnSpc>
            </a:pPr>
            <a:r>
              <a:rPr lang="en-US" sz="5400" dirty="0">
                <a:solidFill>
                  <a:srgbClr val="242725"/>
                </a:solidFill>
                <a:latin typeface="Inter Bold"/>
              </a:rPr>
              <a:t>Saran</a:t>
            </a:r>
          </a:p>
        </p:txBody>
      </p:sp>
      <p:sp>
        <p:nvSpPr>
          <p:cNvPr id="7" name="AutoShape 7">
            <a:extLst>
              <a:ext uri="{FF2B5EF4-FFF2-40B4-BE49-F238E27FC236}">
                <a16:creationId xmlns:a16="http://schemas.microsoft.com/office/drawing/2014/main" id="{CE0BFE1A-7CAC-1901-09A5-A614605C428B}"/>
              </a:ext>
            </a:extLst>
          </p:cNvPr>
          <p:cNvSpPr/>
          <p:nvPr/>
        </p:nvSpPr>
        <p:spPr>
          <a:xfrm>
            <a:off x="-443075" y="9720640"/>
            <a:ext cx="18865925" cy="1140393"/>
          </a:xfrm>
          <a:prstGeom prst="rect">
            <a:avLst/>
          </a:prstGeom>
          <a:solidFill>
            <a:srgbClr val="2ED47B"/>
          </a:solidFill>
        </p:spPr>
      </p:sp>
      <p:grpSp>
        <p:nvGrpSpPr>
          <p:cNvPr id="8" name="Group 8">
            <a:extLst>
              <a:ext uri="{FF2B5EF4-FFF2-40B4-BE49-F238E27FC236}">
                <a16:creationId xmlns:a16="http://schemas.microsoft.com/office/drawing/2014/main" id="{B53CA503-A00E-828E-7335-CB4E7661F6E6}"/>
              </a:ext>
            </a:extLst>
          </p:cNvPr>
          <p:cNvGrpSpPr/>
          <p:nvPr/>
        </p:nvGrpSpPr>
        <p:grpSpPr>
          <a:xfrm>
            <a:off x="14590736" y="615615"/>
            <a:ext cx="2912577" cy="2839113"/>
            <a:chOff x="0" y="0"/>
            <a:chExt cx="4589780" cy="4578350"/>
          </a:xfrm>
        </p:grpSpPr>
        <p:sp>
          <p:nvSpPr>
            <p:cNvPr id="9" name="Freeform 9">
              <a:extLst>
                <a:ext uri="{FF2B5EF4-FFF2-40B4-BE49-F238E27FC236}">
                  <a16:creationId xmlns:a16="http://schemas.microsoft.com/office/drawing/2014/main" id="{2A72DA2E-06CD-4ABD-AD79-18F7E44E895E}"/>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0" name="Freeform 10">
              <a:extLst>
                <a:ext uri="{FF2B5EF4-FFF2-40B4-BE49-F238E27FC236}">
                  <a16:creationId xmlns:a16="http://schemas.microsoft.com/office/drawing/2014/main" id="{26F0C2B2-DEC8-18E5-31F9-52530605281C}"/>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1" name="Group 11">
            <a:extLst>
              <a:ext uri="{FF2B5EF4-FFF2-40B4-BE49-F238E27FC236}">
                <a16:creationId xmlns:a16="http://schemas.microsoft.com/office/drawing/2014/main" id="{48120490-F99C-D6AD-0DF8-F8FC395155FC}"/>
              </a:ext>
            </a:extLst>
          </p:cNvPr>
          <p:cNvGrpSpPr/>
          <p:nvPr/>
        </p:nvGrpSpPr>
        <p:grpSpPr>
          <a:xfrm>
            <a:off x="566358" y="6741648"/>
            <a:ext cx="2912577" cy="2839113"/>
            <a:chOff x="0" y="0"/>
            <a:chExt cx="4589780" cy="4578350"/>
          </a:xfrm>
        </p:grpSpPr>
        <p:sp>
          <p:nvSpPr>
            <p:cNvPr id="12" name="Freeform 12">
              <a:extLst>
                <a:ext uri="{FF2B5EF4-FFF2-40B4-BE49-F238E27FC236}">
                  <a16:creationId xmlns:a16="http://schemas.microsoft.com/office/drawing/2014/main" id="{FFA497A8-E482-FF93-681C-F130D94A182E}"/>
                </a:ext>
              </a:extLst>
            </p:cNvPr>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13" name="Freeform 13">
              <a:extLst>
                <a:ext uri="{FF2B5EF4-FFF2-40B4-BE49-F238E27FC236}">
                  <a16:creationId xmlns:a16="http://schemas.microsoft.com/office/drawing/2014/main" id="{BDF28B53-B07D-AF05-312B-9B076DFC2232}"/>
                </a:ext>
              </a:extLst>
            </p:cNvPr>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sp>
        <p:nvSpPr>
          <p:cNvPr id="14" name="TextBox 6">
            <a:extLst>
              <a:ext uri="{FF2B5EF4-FFF2-40B4-BE49-F238E27FC236}">
                <a16:creationId xmlns:a16="http://schemas.microsoft.com/office/drawing/2014/main" id="{8C345F3B-EB7A-BA7E-6646-B04C3F936DAA}"/>
              </a:ext>
            </a:extLst>
          </p:cNvPr>
          <p:cNvSpPr txBox="1"/>
          <p:nvPr/>
        </p:nvSpPr>
        <p:spPr>
          <a:xfrm>
            <a:off x="702691" y="435282"/>
            <a:ext cx="2996933" cy="2696316"/>
          </a:xfrm>
          <a:prstGeom prst="rect">
            <a:avLst/>
          </a:prstGeom>
        </p:spPr>
        <p:txBody>
          <a:bodyPr lIns="0" tIns="0" rIns="0" bIns="0" rtlCol="0" anchor="t">
            <a:spAutoFit/>
          </a:bodyPr>
          <a:lstStyle/>
          <a:p>
            <a:pPr algn="r">
              <a:lnSpc>
                <a:spcPts val="22925"/>
              </a:lnSpc>
              <a:spcBef>
                <a:spcPct val="0"/>
              </a:spcBef>
            </a:pPr>
            <a:r>
              <a:rPr lang="en-US" sz="16375" dirty="0">
                <a:solidFill>
                  <a:srgbClr val="242725">
                    <a:alpha val="7842"/>
                  </a:srgbClr>
                </a:solidFill>
                <a:latin typeface="Inter Bold"/>
              </a:rPr>
              <a:t>28</a:t>
            </a:r>
          </a:p>
        </p:txBody>
      </p:sp>
      <p:sp>
        <p:nvSpPr>
          <p:cNvPr id="17" name="AutoShape 14" descr="Sejarah Awal Mula Perjalanan Debian - Loka Baca">
            <a:extLst>
              <a:ext uri="{FF2B5EF4-FFF2-40B4-BE49-F238E27FC236}">
                <a16:creationId xmlns:a16="http://schemas.microsoft.com/office/drawing/2014/main" id="{1A6301E3-3C26-FD70-2796-43F72DE1D7D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extBox 17">
            <a:extLst>
              <a:ext uri="{FF2B5EF4-FFF2-40B4-BE49-F238E27FC236}">
                <a16:creationId xmlns:a16="http://schemas.microsoft.com/office/drawing/2014/main" id="{3206953C-28FD-20A2-5772-DE2AC34B7B26}"/>
              </a:ext>
            </a:extLst>
          </p:cNvPr>
          <p:cNvSpPr txBox="1"/>
          <p:nvPr/>
        </p:nvSpPr>
        <p:spPr>
          <a:xfrm>
            <a:off x="1638300" y="2628900"/>
            <a:ext cx="15316200" cy="4436151"/>
          </a:xfrm>
          <a:prstGeom prst="rect">
            <a:avLst/>
          </a:prstGeom>
          <a:noFill/>
        </p:spPr>
        <p:txBody>
          <a:bodyPr wrap="square">
            <a:spAutoFit/>
          </a:bodyPr>
          <a:lstStyle/>
          <a:p>
            <a:pPr indent="457200" algn="just">
              <a:lnSpc>
                <a:spcPct val="150000"/>
              </a:lnSpc>
              <a:spcBef>
                <a:spcPts val="400"/>
              </a:spcBef>
              <a:spcAft>
                <a:spcPts val="400"/>
              </a:spcAft>
            </a:pPr>
            <a:r>
              <a:rPr lang="id-ID" sz="3200" dirty="0">
                <a:effectLst/>
                <a:latin typeface="Inter" panose="020B0604020202020204" charset="0"/>
                <a:ea typeface="Inter" panose="020B0604020202020204" charset="0"/>
                <a:cs typeface="Arial" panose="020B0604020202020204" pitchFamily="34" charset="0"/>
              </a:rPr>
              <a:t>Namun, apabila penambahan </a:t>
            </a:r>
            <a:r>
              <a:rPr lang="id-ID" sz="3200" i="1" dirty="0">
                <a:effectLst/>
                <a:latin typeface="Inter" panose="020B0604020202020204" charset="0"/>
                <a:ea typeface="Inter" panose="020B0604020202020204" charset="0"/>
                <a:cs typeface="Arial" panose="020B0604020202020204" pitchFamily="34" charset="0"/>
              </a:rPr>
              <a:t>bandwidth</a:t>
            </a:r>
            <a:r>
              <a:rPr lang="id-ID" sz="3200" dirty="0">
                <a:effectLst/>
                <a:latin typeface="Inter" panose="020B0604020202020204" charset="0"/>
                <a:ea typeface="Inter" panose="020B0604020202020204" charset="0"/>
                <a:cs typeface="Arial" panose="020B0604020202020204" pitchFamily="34" charset="0"/>
              </a:rPr>
              <a:t> belum memungkinkan, alternatif yang dapat diterapkan adalah implementasi </a:t>
            </a:r>
            <a:r>
              <a:rPr lang="id-ID" sz="3200" i="1" dirty="0">
                <a:effectLst/>
                <a:latin typeface="Inter" panose="020B0604020202020204" charset="0"/>
                <a:ea typeface="Inter" panose="020B0604020202020204" charset="0"/>
                <a:cs typeface="Arial" panose="020B0604020202020204" pitchFamily="34" charset="0"/>
              </a:rPr>
              <a:t>load balancing</a:t>
            </a:r>
            <a:r>
              <a:rPr lang="id-ID" sz="3200" dirty="0">
                <a:effectLst/>
                <a:latin typeface="Inter" panose="020B0604020202020204" charset="0"/>
                <a:ea typeface="Inter" panose="020B0604020202020204" charset="0"/>
                <a:cs typeface="Arial" panose="020B0604020202020204" pitchFamily="34" charset="0"/>
              </a:rPr>
              <a:t> pada router. </a:t>
            </a:r>
            <a:r>
              <a:rPr lang="id-ID" sz="3200" i="1" dirty="0">
                <a:effectLst/>
                <a:latin typeface="Inter" panose="020B0604020202020204" charset="0"/>
                <a:ea typeface="Inter" panose="020B0604020202020204" charset="0"/>
                <a:cs typeface="Arial" panose="020B0604020202020204" pitchFamily="34" charset="0"/>
              </a:rPr>
              <a:t>Load</a:t>
            </a:r>
            <a:r>
              <a:rPr lang="id-ID" sz="3200" dirty="0">
                <a:effectLst/>
                <a:latin typeface="Inter" panose="020B0604020202020204" charset="0"/>
                <a:ea typeface="Inter" panose="020B0604020202020204" charset="0"/>
                <a:cs typeface="Arial" panose="020B0604020202020204" pitchFamily="34" charset="0"/>
              </a:rPr>
              <a:t> </a:t>
            </a:r>
            <a:r>
              <a:rPr lang="id-ID" sz="3200" i="1" dirty="0">
                <a:effectLst/>
                <a:latin typeface="Inter" panose="020B0604020202020204" charset="0"/>
                <a:ea typeface="Inter" panose="020B0604020202020204" charset="0"/>
                <a:cs typeface="Arial" panose="020B0604020202020204" pitchFamily="34" charset="0"/>
              </a:rPr>
              <a:t>balancing</a:t>
            </a:r>
            <a:r>
              <a:rPr lang="id-ID" sz="3200" dirty="0">
                <a:effectLst/>
                <a:latin typeface="Inter" panose="020B0604020202020204" charset="0"/>
                <a:ea typeface="Inter" panose="020B0604020202020204" charset="0"/>
                <a:cs typeface="Arial" panose="020B0604020202020204" pitchFamily="34" charset="0"/>
              </a:rPr>
              <a:t> memungkinkan pembagian beban lalu lintas jaringan secara merata pada beberapa jalur koneksi internet, sehingga pemanfaatan </a:t>
            </a:r>
            <a:r>
              <a:rPr lang="id-ID" sz="3200" i="1" dirty="0">
                <a:effectLst/>
                <a:latin typeface="Inter" panose="020B0604020202020204" charset="0"/>
                <a:ea typeface="Inter" panose="020B0604020202020204" charset="0"/>
                <a:cs typeface="Arial" panose="020B0604020202020204" pitchFamily="34" charset="0"/>
              </a:rPr>
              <a:t>bandwidth</a:t>
            </a:r>
            <a:r>
              <a:rPr lang="id-ID" sz="3200" dirty="0">
                <a:effectLst/>
                <a:latin typeface="Inter" panose="020B0604020202020204" charset="0"/>
                <a:ea typeface="Inter" panose="020B0604020202020204" charset="0"/>
                <a:cs typeface="Arial" panose="020B0604020202020204" pitchFamily="34" charset="0"/>
              </a:rPr>
              <a:t> menjadi lebih efisien dan risiko terjadinya kepadatan jaringan dapat diminimalkan tanpa harus menambah kapasitas </a:t>
            </a:r>
            <a:r>
              <a:rPr lang="id-ID" sz="3200" i="1" dirty="0">
                <a:effectLst/>
                <a:latin typeface="Inter" panose="020B0604020202020204" charset="0"/>
                <a:ea typeface="Inter" panose="020B0604020202020204" charset="0"/>
                <a:cs typeface="Arial" panose="020B0604020202020204" pitchFamily="34" charset="0"/>
              </a:rPr>
              <a:t>bandwidth</a:t>
            </a:r>
            <a:r>
              <a:rPr lang="id-ID" sz="3200" dirty="0">
                <a:effectLst/>
                <a:latin typeface="Inter" panose="020B0604020202020204" charset="0"/>
                <a:ea typeface="Inter" panose="020B0604020202020204" charset="0"/>
                <a:cs typeface="Arial" panose="020B0604020202020204" pitchFamily="34" charset="0"/>
              </a:rPr>
              <a:t> secara langsung.</a:t>
            </a:r>
            <a:endParaRPr lang="en-ID" sz="3200" dirty="0">
              <a:effectLst/>
              <a:latin typeface="Inter" panose="020B0604020202020204" charset="0"/>
              <a:ea typeface="Inter" panose="020B0604020202020204" charset="0"/>
              <a:cs typeface="Arial" panose="020B0604020202020204" pitchFamily="34" charset="0"/>
            </a:endParaRPr>
          </a:p>
        </p:txBody>
      </p:sp>
    </p:spTree>
    <p:extLst>
      <p:ext uri="{BB962C8B-B14F-4D97-AF65-F5344CB8AC3E}">
        <p14:creationId xmlns:p14="http://schemas.microsoft.com/office/powerpoint/2010/main" val="2630720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1183264" y="4076700"/>
            <a:ext cx="10322936" cy="3985643"/>
          </a:xfrm>
          <a:prstGeom prst="rect">
            <a:avLst/>
          </a:prstGeom>
        </p:spPr>
        <p:txBody>
          <a:bodyPr wrap="square" lIns="0" tIns="0" rIns="0" bIns="0" rtlCol="0" anchor="t">
            <a:spAutoFit/>
          </a:bodyPr>
          <a:lstStyle/>
          <a:p>
            <a:pPr>
              <a:lnSpc>
                <a:spcPts val="9600"/>
              </a:lnSpc>
            </a:pPr>
            <a:r>
              <a:rPr lang="en-US" sz="19900" dirty="0" err="1">
                <a:solidFill>
                  <a:srgbClr val="242725"/>
                </a:solidFill>
                <a:latin typeface="Inter Bold"/>
              </a:rPr>
              <a:t>Terima</a:t>
            </a:r>
            <a:r>
              <a:rPr lang="en-US" sz="19900" dirty="0">
                <a:solidFill>
                  <a:srgbClr val="242725"/>
                </a:solidFill>
                <a:latin typeface="Inter Bold"/>
              </a:rPr>
              <a:t> </a:t>
            </a:r>
          </a:p>
          <a:p>
            <a:pPr>
              <a:lnSpc>
                <a:spcPts val="9600"/>
              </a:lnSpc>
            </a:pPr>
            <a:endParaRPr lang="en-US" sz="19900" dirty="0">
              <a:solidFill>
                <a:srgbClr val="242725"/>
              </a:solidFill>
              <a:latin typeface="Inter Bold"/>
            </a:endParaRPr>
          </a:p>
          <a:p>
            <a:pPr>
              <a:lnSpc>
                <a:spcPts val="9600"/>
              </a:lnSpc>
            </a:pPr>
            <a:r>
              <a:rPr lang="en-US" sz="19900" dirty="0">
                <a:solidFill>
                  <a:srgbClr val="242725"/>
                </a:solidFill>
                <a:latin typeface="Inter Bold"/>
              </a:rPr>
              <a:t>Kasih</a:t>
            </a:r>
          </a:p>
        </p:txBody>
      </p:sp>
      <p:grpSp>
        <p:nvGrpSpPr>
          <p:cNvPr id="3" name="Group 3"/>
          <p:cNvGrpSpPr/>
          <p:nvPr/>
        </p:nvGrpSpPr>
        <p:grpSpPr>
          <a:xfrm>
            <a:off x="10211329" y="885314"/>
            <a:ext cx="2912577" cy="2839113"/>
            <a:chOff x="0" y="0"/>
            <a:chExt cx="4589780" cy="4578350"/>
          </a:xfrm>
        </p:grpSpPr>
        <p:sp>
          <p:nvSpPr>
            <p:cNvPr id="4" name="Freeform 4"/>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5" name="Freeform 5"/>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6" name="Group 6"/>
          <p:cNvGrpSpPr/>
          <p:nvPr/>
        </p:nvGrpSpPr>
        <p:grpSpPr>
          <a:xfrm>
            <a:off x="4277938" y="5945392"/>
            <a:ext cx="2912577" cy="2839113"/>
            <a:chOff x="0" y="0"/>
            <a:chExt cx="4589780" cy="4578350"/>
          </a:xfrm>
        </p:grpSpPr>
        <p:sp>
          <p:nvSpPr>
            <p:cNvPr id="7" name="Freeform 7"/>
            <p:cNvSpPr/>
            <p:nvPr/>
          </p:nvSpPr>
          <p:spPr>
            <a:xfrm>
              <a:off x="232345" y="209944"/>
              <a:ext cx="2418937" cy="2345148"/>
            </a:xfrm>
            <a:custGeom>
              <a:avLst/>
              <a:gdLst/>
              <a:ahLst/>
              <a:cxnLst/>
              <a:rect l="l" t="t" r="r" b="b"/>
              <a:pathLst>
                <a:path w="2418937" h="2345148">
                  <a:moveTo>
                    <a:pt x="20688" y="139962"/>
                  </a:moveTo>
                  <a:lnTo>
                    <a:pt x="20688" y="116635"/>
                  </a:lnTo>
                  <a:cubicBezTo>
                    <a:pt x="46947" y="116635"/>
                    <a:pt x="68431" y="95641"/>
                    <a:pt x="68431" y="69981"/>
                  </a:cubicBezTo>
                  <a:cubicBezTo>
                    <a:pt x="68431" y="44321"/>
                    <a:pt x="46947" y="23327"/>
                    <a:pt x="20688" y="23327"/>
                  </a:cubicBezTo>
                  <a:lnTo>
                    <a:pt x="20688" y="0"/>
                  </a:lnTo>
                  <a:cubicBezTo>
                    <a:pt x="60474" y="0"/>
                    <a:pt x="92302" y="31102"/>
                    <a:pt x="92302" y="69981"/>
                  </a:cubicBezTo>
                  <a:cubicBezTo>
                    <a:pt x="92302" y="108859"/>
                    <a:pt x="60474" y="139962"/>
                    <a:pt x="20688" y="139962"/>
                  </a:cubicBezTo>
                  <a:close/>
                  <a:moveTo>
                    <a:pt x="1273125" y="80867"/>
                  </a:moveTo>
                  <a:lnTo>
                    <a:pt x="1273125" y="57540"/>
                  </a:lnTo>
                  <a:lnTo>
                    <a:pt x="1129898" y="57540"/>
                  </a:lnTo>
                  <a:lnTo>
                    <a:pt x="1129898" y="80867"/>
                  </a:lnTo>
                  <a:lnTo>
                    <a:pt x="1273125" y="80867"/>
                  </a:lnTo>
                  <a:close/>
                  <a:moveTo>
                    <a:pt x="1201511" y="2345148"/>
                  </a:moveTo>
                  <a:cubicBezTo>
                    <a:pt x="1241297" y="2345148"/>
                    <a:pt x="1273125" y="2314045"/>
                    <a:pt x="1273125" y="2275167"/>
                  </a:cubicBezTo>
                  <a:lnTo>
                    <a:pt x="1249254" y="2275167"/>
                  </a:lnTo>
                  <a:cubicBezTo>
                    <a:pt x="1249254" y="2300827"/>
                    <a:pt x="1227770" y="2321821"/>
                    <a:pt x="1201511" y="2321821"/>
                  </a:cubicBezTo>
                  <a:cubicBezTo>
                    <a:pt x="1175253" y="2321821"/>
                    <a:pt x="1153769" y="2300827"/>
                    <a:pt x="1153769" y="2275167"/>
                  </a:cubicBezTo>
                  <a:lnTo>
                    <a:pt x="1129898" y="2275167"/>
                  </a:lnTo>
                  <a:cubicBezTo>
                    <a:pt x="1129898" y="2313268"/>
                    <a:pt x="1161726" y="2345148"/>
                    <a:pt x="1201511" y="2345148"/>
                  </a:cubicBezTo>
                  <a:close/>
                  <a:moveTo>
                    <a:pt x="592799" y="1748753"/>
                  </a:moveTo>
                  <a:cubicBezTo>
                    <a:pt x="592799" y="1787631"/>
                    <a:pt x="624627" y="1818734"/>
                    <a:pt x="664412" y="1818734"/>
                  </a:cubicBezTo>
                  <a:lnTo>
                    <a:pt x="664412" y="1795407"/>
                  </a:lnTo>
                  <a:cubicBezTo>
                    <a:pt x="638154" y="1795407"/>
                    <a:pt x="616670" y="1774412"/>
                    <a:pt x="616670" y="1748753"/>
                  </a:cubicBezTo>
                  <a:cubicBezTo>
                    <a:pt x="616670" y="1723093"/>
                    <a:pt x="638154" y="1702098"/>
                    <a:pt x="664412" y="1702098"/>
                  </a:cubicBezTo>
                  <a:lnTo>
                    <a:pt x="664412" y="1678771"/>
                  </a:lnTo>
                  <a:cubicBezTo>
                    <a:pt x="625423" y="1678771"/>
                    <a:pt x="592799" y="1710652"/>
                    <a:pt x="592799" y="1748753"/>
                  </a:cubicBezTo>
                  <a:close/>
                  <a:moveTo>
                    <a:pt x="101054" y="1245665"/>
                  </a:moveTo>
                  <a:lnTo>
                    <a:pt x="117764" y="1228559"/>
                  </a:lnTo>
                  <a:lnTo>
                    <a:pt x="16710" y="1129808"/>
                  </a:lnTo>
                  <a:lnTo>
                    <a:pt x="0" y="1146137"/>
                  </a:lnTo>
                  <a:lnTo>
                    <a:pt x="101054" y="1245665"/>
                  </a:lnTo>
                  <a:close/>
                  <a:moveTo>
                    <a:pt x="2418937" y="644604"/>
                  </a:moveTo>
                  <a:lnTo>
                    <a:pt x="2418937" y="621277"/>
                  </a:lnTo>
                  <a:lnTo>
                    <a:pt x="2275710" y="621277"/>
                  </a:lnTo>
                  <a:lnTo>
                    <a:pt x="2275710" y="644604"/>
                  </a:lnTo>
                  <a:lnTo>
                    <a:pt x="2418937" y="644604"/>
                  </a:lnTo>
                  <a:close/>
                  <a:moveTo>
                    <a:pt x="2311517" y="1192013"/>
                  </a:moveTo>
                  <a:cubicBezTo>
                    <a:pt x="2311517" y="1230892"/>
                    <a:pt x="2343345" y="1261994"/>
                    <a:pt x="2383130" y="1261994"/>
                  </a:cubicBezTo>
                  <a:lnTo>
                    <a:pt x="2383130" y="1238667"/>
                  </a:lnTo>
                  <a:cubicBezTo>
                    <a:pt x="2356872" y="1238667"/>
                    <a:pt x="2335388" y="1217673"/>
                    <a:pt x="2335388" y="1192013"/>
                  </a:cubicBezTo>
                  <a:cubicBezTo>
                    <a:pt x="2335388" y="1166353"/>
                    <a:pt x="2356872" y="1145359"/>
                    <a:pt x="2383130" y="1145359"/>
                  </a:cubicBezTo>
                  <a:lnTo>
                    <a:pt x="2383130" y="1122032"/>
                  </a:lnTo>
                  <a:cubicBezTo>
                    <a:pt x="2344141" y="1122032"/>
                    <a:pt x="2311517" y="1153135"/>
                    <a:pt x="2311517" y="1192013"/>
                  </a:cubicBezTo>
                  <a:close/>
                  <a:moveTo>
                    <a:pt x="1235727" y="630608"/>
                  </a:moveTo>
                  <a:cubicBezTo>
                    <a:pt x="1235727" y="591730"/>
                    <a:pt x="1203899" y="560627"/>
                    <a:pt x="1164113" y="560627"/>
                  </a:cubicBezTo>
                  <a:lnTo>
                    <a:pt x="1164113" y="583954"/>
                  </a:lnTo>
                  <a:cubicBezTo>
                    <a:pt x="1190372" y="583954"/>
                    <a:pt x="1211856" y="604948"/>
                    <a:pt x="1211856" y="630608"/>
                  </a:cubicBezTo>
                  <a:cubicBezTo>
                    <a:pt x="1211856" y="656268"/>
                    <a:pt x="1190372" y="677262"/>
                    <a:pt x="1164113" y="677262"/>
                  </a:cubicBezTo>
                  <a:lnTo>
                    <a:pt x="1164113" y="700589"/>
                  </a:lnTo>
                  <a:cubicBezTo>
                    <a:pt x="1203899" y="700589"/>
                    <a:pt x="1235727" y="668709"/>
                    <a:pt x="1235727" y="630608"/>
                  </a:cubicBezTo>
                  <a:close/>
                  <a:moveTo>
                    <a:pt x="639745" y="559072"/>
                  </a:moveTo>
                  <a:lnTo>
                    <a:pt x="615874" y="559072"/>
                  </a:lnTo>
                  <a:lnTo>
                    <a:pt x="615874" y="699034"/>
                  </a:lnTo>
                  <a:lnTo>
                    <a:pt x="639745" y="699034"/>
                  </a:lnTo>
                  <a:lnTo>
                    <a:pt x="639745" y="559072"/>
                  </a:lnTo>
                  <a:close/>
                  <a:moveTo>
                    <a:pt x="1272329" y="1201344"/>
                  </a:moveTo>
                  <a:lnTo>
                    <a:pt x="1272329" y="1178017"/>
                  </a:lnTo>
                  <a:lnTo>
                    <a:pt x="1129103" y="1178017"/>
                  </a:lnTo>
                  <a:lnTo>
                    <a:pt x="1129103" y="1201344"/>
                  </a:lnTo>
                  <a:lnTo>
                    <a:pt x="1272329" y="1201344"/>
                  </a:lnTo>
                  <a:close/>
                  <a:moveTo>
                    <a:pt x="2418937" y="2320266"/>
                  </a:moveTo>
                  <a:lnTo>
                    <a:pt x="2418937" y="2296939"/>
                  </a:lnTo>
                  <a:lnTo>
                    <a:pt x="2275710" y="2296939"/>
                  </a:lnTo>
                  <a:lnTo>
                    <a:pt x="2275710" y="2320266"/>
                  </a:lnTo>
                  <a:lnTo>
                    <a:pt x="2418937" y="2320266"/>
                  </a:lnTo>
                  <a:close/>
                </a:path>
              </a:pathLst>
            </a:custGeom>
            <a:solidFill>
              <a:srgbClr val="383838"/>
            </a:solidFill>
          </p:spPr>
        </p:sp>
        <p:sp>
          <p:nvSpPr>
            <p:cNvPr id="8" name="Freeform 8"/>
            <p:cNvSpPr/>
            <p:nvPr/>
          </p:nvSpPr>
          <p:spPr>
            <a:xfrm>
              <a:off x="214840" y="209944"/>
              <a:ext cx="2423711" cy="2379361"/>
            </a:xfrm>
            <a:custGeom>
              <a:avLst/>
              <a:gdLst/>
              <a:ahLst/>
              <a:cxnLst/>
              <a:rect l="l" t="t" r="r" b="b"/>
              <a:pathLst>
                <a:path w="2423711" h="2379361">
                  <a:moveTo>
                    <a:pt x="2376764" y="1820289"/>
                  </a:moveTo>
                  <a:lnTo>
                    <a:pt x="2352893" y="1820289"/>
                  </a:lnTo>
                  <a:lnTo>
                    <a:pt x="2352893" y="1680326"/>
                  </a:lnTo>
                  <a:lnTo>
                    <a:pt x="2376764" y="1680326"/>
                  </a:lnTo>
                  <a:lnTo>
                    <a:pt x="2376764" y="1820289"/>
                  </a:lnTo>
                  <a:close/>
                  <a:moveTo>
                    <a:pt x="657250" y="0"/>
                  </a:moveTo>
                  <a:lnTo>
                    <a:pt x="633379" y="0"/>
                  </a:lnTo>
                  <a:lnTo>
                    <a:pt x="633379" y="139962"/>
                  </a:lnTo>
                  <a:lnTo>
                    <a:pt x="657250" y="139962"/>
                  </a:lnTo>
                  <a:lnTo>
                    <a:pt x="657250" y="0"/>
                  </a:lnTo>
                  <a:close/>
                  <a:moveTo>
                    <a:pt x="33419" y="690481"/>
                  </a:moveTo>
                  <a:lnTo>
                    <a:pt x="16710" y="674152"/>
                  </a:lnTo>
                  <a:lnTo>
                    <a:pt x="117764" y="575401"/>
                  </a:lnTo>
                  <a:lnTo>
                    <a:pt x="134474" y="591730"/>
                  </a:lnTo>
                  <a:lnTo>
                    <a:pt x="33419" y="690481"/>
                  </a:lnTo>
                  <a:close/>
                  <a:moveTo>
                    <a:pt x="1729858" y="27992"/>
                  </a:moveTo>
                  <a:lnTo>
                    <a:pt x="1746567" y="11663"/>
                  </a:lnTo>
                  <a:lnTo>
                    <a:pt x="1847622" y="110414"/>
                  </a:lnTo>
                  <a:lnTo>
                    <a:pt x="1830912" y="126743"/>
                  </a:lnTo>
                  <a:lnTo>
                    <a:pt x="1729858" y="27992"/>
                  </a:lnTo>
                  <a:close/>
                  <a:moveTo>
                    <a:pt x="1863536" y="664821"/>
                  </a:moveTo>
                  <a:lnTo>
                    <a:pt x="1839665" y="664821"/>
                  </a:lnTo>
                  <a:cubicBezTo>
                    <a:pt x="1839665" y="639161"/>
                    <a:pt x="1818181" y="618167"/>
                    <a:pt x="1791923" y="618167"/>
                  </a:cubicBezTo>
                  <a:cubicBezTo>
                    <a:pt x="1765664" y="618167"/>
                    <a:pt x="1744180" y="639161"/>
                    <a:pt x="1744180" y="664821"/>
                  </a:cubicBezTo>
                  <a:lnTo>
                    <a:pt x="1720309" y="664821"/>
                  </a:lnTo>
                  <a:cubicBezTo>
                    <a:pt x="1720309" y="625943"/>
                    <a:pt x="1752137" y="594840"/>
                    <a:pt x="1791923" y="594840"/>
                  </a:cubicBezTo>
                  <a:cubicBezTo>
                    <a:pt x="1830912" y="594840"/>
                    <a:pt x="1863536" y="626720"/>
                    <a:pt x="1863536" y="664821"/>
                  </a:cubicBezTo>
                  <a:close/>
                  <a:moveTo>
                    <a:pt x="1180823" y="1812513"/>
                  </a:moveTo>
                  <a:lnTo>
                    <a:pt x="1164113" y="1796184"/>
                  </a:lnTo>
                  <a:lnTo>
                    <a:pt x="1265167" y="1697433"/>
                  </a:lnTo>
                  <a:lnTo>
                    <a:pt x="1281877" y="1713762"/>
                  </a:lnTo>
                  <a:lnTo>
                    <a:pt x="1180823" y="1812513"/>
                  </a:lnTo>
                  <a:close/>
                  <a:moveTo>
                    <a:pt x="82753" y="1819511"/>
                  </a:moveTo>
                  <a:lnTo>
                    <a:pt x="58882" y="1819511"/>
                  </a:lnTo>
                  <a:lnTo>
                    <a:pt x="58882" y="1679549"/>
                  </a:lnTo>
                  <a:lnTo>
                    <a:pt x="82753" y="1679549"/>
                  </a:lnTo>
                  <a:lnTo>
                    <a:pt x="82753" y="1819511"/>
                  </a:lnTo>
                  <a:close/>
                  <a:moveTo>
                    <a:pt x="1803062" y="2379361"/>
                  </a:moveTo>
                  <a:lnTo>
                    <a:pt x="1779191" y="2379361"/>
                  </a:lnTo>
                  <a:lnTo>
                    <a:pt x="1779191" y="2239399"/>
                  </a:lnTo>
                  <a:lnTo>
                    <a:pt x="1803062" y="2239399"/>
                  </a:lnTo>
                  <a:lnTo>
                    <a:pt x="1803062" y="2379361"/>
                  </a:lnTo>
                  <a:close/>
                  <a:moveTo>
                    <a:pt x="143226" y="2344370"/>
                  </a:moveTo>
                  <a:lnTo>
                    <a:pt x="119355" y="2344370"/>
                  </a:lnTo>
                  <a:cubicBezTo>
                    <a:pt x="119355" y="2318711"/>
                    <a:pt x="97871" y="2297716"/>
                    <a:pt x="71613" y="2297716"/>
                  </a:cubicBezTo>
                  <a:cubicBezTo>
                    <a:pt x="45355" y="2297716"/>
                    <a:pt x="23871" y="2318711"/>
                    <a:pt x="23871" y="2344370"/>
                  </a:cubicBezTo>
                  <a:lnTo>
                    <a:pt x="0" y="2344370"/>
                  </a:lnTo>
                  <a:cubicBezTo>
                    <a:pt x="0" y="2305492"/>
                    <a:pt x="31828" y="2274389"/>
                    <a:pt x="71613" y="2274389"/>
                  </a:cubicBezTo>
                  <a:cubicBezTo>
                    <a:pt x="111398" y="2274389"/>
                    <a:pt x="143226" y="2305492"/>
                    <a:pt x="143226" y="2344370"/>
                  </a:cubicBezTo>
                  <a:close/>
                  <a:moveTo>
                    <a:pt x="2322656" y="127521"/>
                  </a:moveTo>
                  <a:lnTo>
                    <a:pt x="2305946" y="111192"/>
                  </a:lnTo>
                  <a:lnTo>
                    <a:pt x="2407001" y="12441"/>
                  </a:lnTo>
                  <a:lnTo>
                    <a:pt x="2423710" y="28770"/>
                  </a:lnTo>
                  <a:lnTo>
                    <a:pt x="2322656" y="127521"/>
                  </a:lnTo>
                  <a:close/>
                  <a:moveTo>
                    <a:pt x="601551" y="2370030"/>
                  </a:moveTo>
                  <a:lnTo>
                    <a:pt x="584841" y="2353701"/>
                  </a:lnTo>
                  <a:lnTo>
                    <a:pt x="685896" y="2254950"/>
                  </a:lnTo>
                  <a:lnTo>
                    <a:pt x="702605" y="2271279"/>
                  </a:lnTo>
                  <a:lnTo>
                    <a:pt x="601551" y="2370030"/>
                  </a:lnTo>
                  <a:close/>
                  <a:moveTo>
                    <a:pt x="1746567" y="1249553"/>
                  </a:moveTo>
                  <a:lnTo>
                    <a:pt x="1729858" y="1233224"/>
                  </a:lnTo>
                  <a:lnTo>
                    <a:pt x="1830912" y="1134473"/>
                  </a:lnTo>
                  <a:lnTo>
                    <a:pt x="1847622" y="1150802"/>
                  </a:lnTo>
                  <a:lnTo>
                    <a:pt x="1746567" y="1249553"/>
                  </a:lnTo>
                  <a:close/>
                  <a:moveTo>
                    <a:pt x="573701" y="1154690"/>
                  </a:moveTo>
                  <a:lnTo>
                    <a:pt x="597573" y="1154690"/>
                  </a:lnTo>
                  <a:cubicBezTo>
                    <a:pt x="597573" y="1180350"/>
                    <a:pt x="619056" y="1201344"/>
                    <a:pt x="645315" y="1201344"/>
                  </a:cubicBezTo>
                  <a:cubicBezTo>
                    <a:pt x="671573" y="1201344"/>
                    <a:pt x="693057" y="1180350"/>
                    <a:pt x="693057" y="1154690"/>
                  </a:cubicBezTo>
                  <a:lnTo>
                    <a:pt x="716928" y="1154690"/>
                  </a:lnTo>
                  <a:cubicBezTo>
                    <a:pt x="716928" y="1193568"/>
                    <a:pt x="685100" y="1224671"/>
                    <a:pt x="645315" y="1224671"/>
                  </a:cubicBezTo>
                  <a:cubicBezTo>
                    <a:pt x="606325" y="1224671"/>
                    <a:pt x="573701" y="1193568"/>
                    <a:pt x="573701" y="1154690"/>
                  </a:cubicBezTo>
                  <a:close/>
                  <a:moveTo>
                    <a:pt x="1863536" y="1783743"/>
                  </a:moveTo>
                  <a:lnTo>
                    <a:pt x="1839665" y="1783743"/>
                  </a:lnTo>
                  <a:cubicBezTo>
                    <a:pt x="1839665" y="1758083"/>
                    <a:pt x="1818181" y="1737089"/>
                    <a:pt x="1791923" y="1737089"/>
                  </a:cubicBezTo>
                  <a:cubicBezTo>
                    <a:pt x="1765664" y="1737089"/>
                    <a:pt x="1744180" y="1758083"/>
                    <a:pt x="1744180" y="1783743"/>
                  </a:cubicBezTo>
                  <a:lnTo>
                    <a:pt x="1720309" y="1783743"/>
                  </a:lnTo>
                  <a:cubicBezTo>
                    <a:pt x="1720309" y="1744865"/>
                    <a:pt x="1752137" y="1713762"/>
                    <a:pt x="1791923" y="1713762"/>
                  </a:cubicBezTo>
                  <a:cubicBezTo>
                    <a:pt x="1831708" y="1713762"/>
                    <a:pt x="1863536" y="1745642"/>
                    <a:pt x="1863536" y="1783743"/>
                  </a:cubicBezTo>
                  <a:close/>
                </a:path>
              </a:pathLst>
            </a:custGeom>
            <a:solidFill>
              <a:srgbClr val="2ED47B"/>
            </a:solidFill>
          </p:spPr>
        </p:sp>
      </p:grpSp>
      <p:grpSp>
        <p:nvGrpSpPr>
          <p:cNvPr id="10" name="Group 10"/>
          <p:cNvGrpSpPr/>
          <p:nvPr/>
        </p:nvGrpSpPr>
        <p:grpSpPr>
          <a:xfrm>
            <a:off x="13299994" y="3027246"/>
            <a:ext cx="3959305" cy="4927059"/>
            <a:chOff x="-1" y="-47625"/>
            <a:chExt cx="5279073" cy="6569410"/>
          </a:xfrm>
        </p:grpSpPr>
        <p:sp>
          <p:nvSpPr>
            <p:cNvPr id="11" name="TextBox 11"/>
            <p:cNvSpPr txBox="1"/>
            <p:nvPr/>
          </p:nvSpPr>
          <p:spPr>
            <a:xfrm>
              <a:off x="0" y="-47625"/>
              <a:ext cx="4995104" cy="447032"/>
            </a:xfrm>
            <a:prstGeom prst="rect">
              <a:avLst/>
            </a:prstGeom>
          </p:spPr>
          <p:txBody>
            <a:bodyPr lIns="0" tIns="0" rIns="0" bIns="0" rtlCol="0" anchor="t">
              <a:spAutoFit/>
            </a:bodyPr>
            <a:lstStyle/>
            <a:p>
              <a:pPr>
                <a:lnSpc>
                  <a:spcPts val="2800"/>
                </a:lnSpc>
                <a:spcBef>
                  <a:spcPct val="0"/>
                </a:spcBef>
              </a:pPr>
              <a:r>
                <a:rPr lang="en-US" sz="2000" spc="20" dirty="0">
                  <a:solidFill>
                    <a:srgbClr val="242725"/>
                  </a:solidFill>
                  <a:latin typeface="Inter Bold"/>
                </a:rPr>
                <a:t>NAMA</a:t>
              </a:r>
            </a:p>
          </p:txBody>
        </p:sp>
        <p:sp>
          <p:nvSpPr>
            <p:cNvPr id="12" name="TextBox 12"/>
            <p:cNvSpPr txBox="1"/>
            <p:nvPr/>
          </p:nvSpPr>
          <p:spPr>
            <a:xfrm>
              <a:off x="0" y="498215"/>
              <a:ext cx="4995104" cy="447032"/>
            </a:xfrm>
            <a:prstGeom prst="rect">
              <a:avLst/>
            </a:prstGeom>
          </p:spPr>
          <p:txBody>
            <a:bodyPr lIns="0" tIns="0" rIns="0" bIns="0" rtlCol="0" anchor="t">
              <a:spAutoFit/>
            </a:bodyPr>
            <a:lstStyle/>
            <a:p>
              <a:pPr>
                <a:lnSpc>
                  <a:spcPts val="2800"/>
                </a:lnSpc>
                <a:spcBef>
                  <a:spcPct val="0"/>
                </a:spcBef>
              </a:pPr>
              <a:r>
                <a:rPr lang="en-US" sz="2000" dirty="0">
                  <a:solidFill>
                    <a:srgbClr val="242725"/>
                  </a:solidFill>
                  <a:latin typeface="Inter"/>
                </a:rPr>
                <a:t>Imam Muktamarulhaq</a:t>
              </a:r>
            </a:p>
          </p:txBody>
        </p:sp>
        <p:sp>
          <p:nvSpPr>
            <p:cNvPr id="13" name="TextBox 13"/>
            <p:cNvSpPr txBox="1"/>
            <p:nvPr/>
          </p:nvSpPr>
          <p:spPr>
            <a:xfrm>
              <a:off x="0" y="1351647"/>
              <a:ext cx="4995104" cy="447032"/>
            </a:xfrm>
            <a:prstGeom prst="rect">
              <a:avLst/>
            </a:prstGeom>
          </p:spPr>
          <p:txBody>
            <a:bodyPr lIns="0" tIns="0" rIns="0" bIns="0" rtlCol="0" anchor="t">
              <a:spAutoFit/>
            </a:bodyPr>
            <a:lstStyle/>
            <a:p>
              <a:pPr>
                <a:lnSpc>
                  <a:spcPts val="2800"/>
                </a:lnSpc>
                <a:spcBef>
                  <a:spcPct val="0"/>
                </a:spcBef>
              </a:pPr>
              <a:r>
                <a:rPr lang="en-US" sz="2000" spc="20" dirty="0">
                  <a:solidFill>
                    <a:srgbClr val="242725"/>
                  </a:solidFill>
                  <a:latin typeface="Inter Bold"/>
                </a:rPr>
                <a:t>NIM</a:t>
              </a:r>
            </a:p>
          </p:txBody>
        </p:sp>
        <p:sp>
          <p:nvSpPr>
            <p:cNvPr id="14" name="TextBox 14"/>
            <p:cNvSpPr txBox="1"/>
            <p:nvPr/>
          </p:nvSpPr>
          <p:spPr>
            <a:xfrm>
              <a:off x="0" y="1859647"/>
              <a:ext cx="4995104" cy="447032"/>
            </a:xfrm>
            <a:prstGeom prst="rect">
              <a:avLst/>
            </a:prstGeom>
          </p:spPr>
          <p:txBody>
            <a:bodyPr lIns="0" tIns="0" rIns="0" bIns="0" rtlCol="0" anchor="t">
              <a:spAutoFit/>
            </a:bodyPr>
            <a:lstStyle/>
            <a:p>
              <a:pPr>
                <a:lnSpc>
                  <a:spcPts val="2800"/>
                </a:lnSpc>
                <a:spcBef>
                  <a:spcPct val="0"/>
                </a:spcBef>
              </a:pPr>
              <a:r>
                <a:rPr lang="en-US" sz="2000" dirty="0">
                  <a:solidFill>
                    <a:srgbClr val="242725"/>
                  </a:solidFill>
                  <a:latin typeface="Inter"/>
                </a:rPr>
                <a:t>232220009</a:t>
              </a:r>
            </a:p>
          </p:txBody>
        </p:sp>
        <p:sp>
          <p:nvSpPr>
            <p:cNvPr id="15" name="TextBox 15"/>
            <p:cNvSpPr txBox="1"/>
            <p:nvPr/>
          </p:nvSpPr>
          <p:spPr>
            <a:xfrm>
              <a:off x="0" y="2828633"/>
              <a:ext cx="4995104" cy="1875813"/>
            </a:xfrm>
            <a:prstGeom prst="rect">
              <a:avLst/>
            </a:prstGeom>
          </p:spPr>
          <p:txBody>
            <a:bodyPr lIns="0" tIns="0" rIns="0" bIns="0" rtlCol="0" anchor="t">
              <a:spAutoFit/>
            </a:bodyPr>
            <a:lstStyle/>
            <a:p>
              <a:pPr>
                <a:lnSpc>
                  <a:spcPts val="2800"/>
                </a:lnSpc>
                <a:spcBef>
                  <a:spcPct val="0"/>
                </a:spcBef>
              </a:pPr>
              <a:r>
                <a:rPr lang="en-US" sz="2000" spc="20" dirty="0">
                  <a:solidFill>
                    <a:srgbClr val="242725"/>
                  </a:solidFill>
                  <a:latin typeface="Inter Bold"/>
                </a:rPr>
                <a:t>IMPLEMENTASI VLAN UNTUK OPTIMASI QUALITY OF SERVICE (QOS) JARINGAN </a:t>
              </a:r>
            </a:p>
            <a:p>
              <a:pPr>
                <a:lnSpc>
                  <a:spcPts val="2800"/>
                </a:lnSpc>
                <a:spcBef>
                  <a:spcPct val="0"/>
                </a:spcBef>
              </a:pPr>
              <a:r>
                <a:rPr lang="en-US" sz="2000" spc="20" dirty="0">
                  <a:solidFill>
                    <a:srgbClr val="242725"/>
                  </a:solidFill>
                  <a:latin typeface="Inter Bold"/>
                </a:rPr>
                <a:t>PADA MIN 3 PONTIANAK</a:t>
              </a:r>
            </a:p>
          </p:txBody>
        </p:sp>
        <p:sp>
          <p:nvSpPr>
            <p:cNvPr id="16" name="TextBox 16"/>
            <p:cNvSpPr txBox="1"/>
            <p:nvPr/>
          </p:nvSpPr>
          <p:spPr>
            <a:xfrm>
              <a:off x="-1" y="3688446"/>
              <a:ext cx="5279073" cy="2833339"/>
            </a:xfrm>
            <a:prstGeom prst="rect">
              <a:avLst/>
            </a:prstGeom>
          </p:spPr>
          <p:txBody>
            <a:bodyPr wrap="square" lIns="0" tIns="0" rIns="0" bIns="0" rtlCol="0" anchor="t">
              <a:spAutoFit/>
            </a:bodyPr>
            <a:lstStyle/>
            <a:p>
              <a:pPr>
                <a:lnSpc>
                  <a:spcPts val="2800"/>
                </a:lnSpc>
                <a:spcBef>
                  <a:spcPct val="0"/>
                </a:spcBef>
              </a:pPr>
              <a:endParaRPr lang="en-US" sz="2000" dirty="0">
                <a:solidFill>
                  <a:srgbClr val="242725"/>
                </a:solidFill>
                <a:latin typeface="Inter"/>
              </a:endParaRPr>
            </a:p>
            <a:p>
              <a:pPr>
                <a:lnSpc>
                  <a:spcPts val="2800"/>
                </a:lnSpc>
                <a:spcBef>
                  <a:spcPct val="0"/>
                </a:spcBef>
              </a:pPr>
              <a:endParaRPr lang="en-US" sz="2000" dirty="0">
                <a:solidFill>
                  <a:srgbClr val="242725"/>
                </a:solidFill>
                <a:latin typeface="Inter"/>
              </a:endParaRPr>
            </a:p>
            <a:p>
              <a:pPr>
                <a:lnSpc>
                  <a:spcPts val="2800"/>
                </a:lnSpc>
                <a:spcBef>
                  <a:spcPct val="0"/>
                </a:spcBef>
              </a:pPr>
              <a:endParaRPr lang="en-US" sz="2000" dirty="0">
                <a:solidFill>
                  <a:srgbClr val="242725"/>
                </a:solidFill>
                <a:latin typeface="Inter"/>
              </a:endParaRPr>
            </a:p>
            <a:p>
              <a:pPr>
                <a:lnSpc>
                  <a:spcPts val="2800"/>
                </a:lnSpc>
                <a:spcBef>
                  <a:spcPct val="0"/>
                </a:spcBef>
              </a:pPr>
              <a:r>
                <a:rPr lang="en-US" sz="2000" dirty="0">
                  <a:solidFill>
                    <a:srgbClr val="242725"/>
                  </a:solidFill>
                  <a:latin typeface="Inter"/>
                </a:rPr>
                <a:t>Rabu, 28 </a:t>
              </a:r>
              <a:r>
                <a:rPr lang="en-US" sz="2000" dirty="0" err="1">
                  <a:solidFill>
                    <a:srgbClr val="242725"/>
                  </a:solidFill>
                  <a:latin typeface="Inter"/>
                </a:rPr>
                <a:t>Januari</a:t>
              </a:r>
              <a:r>
                <a:rPr lang="en-US" sz="2000" dirty="0">
                  <a:solidFill>
                    <a:srgbClr val="242725"/>
                  </a:solidFill>
                  <a:latin typeface="Inter"/>
                </a:rPr>
                <a:t> 2026</a:t>
              </a:r>
            </a:p>
            <a:p>
              <a:pPr>
                <a:lnSpc>
                  <a:spcPts val="2800"/>
                </a:lnSpc>
                <a:spcBef>
                  <a:spcPct val="0"/>
                </a:spcBef>
              </a:pPr>
              <a:r>
                <a:rPr lang="en-US" sz="2000" dirty="0">
                  <a:solidFill>
                    <a:srgbClr val="242725"/>
                  </a:solidFill>
                  <a:latin typeface="Inter"/>
                </a:rPr>
                <a:t>Ruang </a:t>
              </a:r>
              <a:r>
                <a:rPr lang="en-US" sz="2000" dirty="0" err="1">
                  <a:solidFill>
                    <a:srgbClr val="242725"/>
                  </a:solidFill>
                  <a:latin typeface="Inter"/>
                </a:rPr>
                <a:t>Rapat</a:t>
              </a:r>
              <a:r>
                <a:rPr lang="en-US" sz="2000" dirty="0">
                  <a:solidFill>
                    <a:srgbClr val="242725"/>
                  </a:solidFill>
                  <a:latin typeface="Inter"/>
                </a:rPr>
                <a:t> FTIK</a:t>
              </a:r>
            </a:p>
            <a:p>
              <a:pPr>
                <a:lnSpc>
                  <a:spcPts val="2800"/>
                </a:lnSpc>
                <a:spcBef>
                  <a:spcPct val="0"/>
                </a:spcBef>
              </a:pPr>
              <a:r>
                <a:rPr lang="en-US" sz="2000" dirty="0" err="1">
                  <a:solidFill>
                    <a:srgbClr val="242725"/>
                  </a:solidFill>
                  <a:latin typeface="Inter"/>
                </a:rPr>
                <a:t>Pukul</a:t>
              </a:r>
              <a:r>
                <a:rPr lang="en-US" sz="2000" dirty="0">
                  <a:solidFill>
                    <a:srgbClr val="242725"/>
                  </a:solidFill>
                  <a:latin typeface="Inter"/>
                </a:rPr>
                <a:t> 10.00-Selesai</a:t>
              </a:r>
            </a:p>
          </p:txBody>
        </p:sp>
      </p:grpSp>
      <p:grpSp>
        <p:nvGrpSpPr>
          <p:cNvPr id="17" name="Group 17"/>
          <p:cNvGrpSpPr/>
          <p:nvPr/>
        </p:nvGrpSpPr>
        <p:grpSpPr>
          <a:xfrm>
            <a:off x="-2897619" y="7671683"/>
            <a:ext cx="6216356" cy="6216356"/>
            <a:chOff x="0" y="0"/>
            <a:chExt cx="6350000" cy="6350000"/>
          </a:xfrm>
        </p:grpSpPr>
        <p:sp>
          <p:nvSpPr>
            <p:cNvPr id="18" name="Freeform 1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grpSp>
        <p:nvGrpSpPr>
          <p:cNvPr id="19" name="Group 19"/>
          <p:cNvGrpSpPr/>
          <p:nvPr/>
        </p:nvGrpSpPr>
        <p:grpSpPr>
          <a:xfrm>
            <a:off x="15173159" y="-3763194"/>
            <a:ext cx="6216356" cy="6216356"/>
            <a:chOff x="0" y="0"/>
            <a:chExt cx="6350000" cy="6350000"/>
          </a:xfrm>
        </p:grpSpPr>
        <p:sp>
          <p:nvSpPr>
            <p:cNvPr id="20" name="Freeform 2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42725">
                <a:alpha val="4705"/>
              </a:srgbClr>
            </a:solidFill>
          </p:spPr>
        </p:sp>
      </p:grpSp>
      <p:pic>
        <p:nvPicPr>
          <p:cNvPr id="24" name="Picture 23">
            <a:extLst>
              <a:ext uri="{FF2B5EF4-FFF2-40B4-BE49-F238E27FC236}">
                <a16:creationId xmlns:a16="http://schemas.microsoft.com/office/drawing/2014/main" id="{A5975710-D8C8-B2CB-DA94-E0F038E467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74924" y="8561682"/>
            <a:ext cx="3344675" cy="7977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1851</TotalTime>
  <Words>2642</Words>
  <Application>Microsoft Office PowerPoint</Application>
  <PresentationFormat>Custom</PresentationFormat>
  <Paragraphs>185</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Inter</vt:lpstr>
      <vt:lpstr>Lato Light</vt:lpstr>
      <vt:lpstr>Arial</vt:lpstr>
      <vt:lpstr>Calibri</vt:lpstr>
      <vt:lpstr>Aptos</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Muhamad Rizal Saputra</dc:creator>
  <cp:lastModifiedBy>Imam Muktamarulhaq</cp:lastModifiedBy>
  <cp:revision>82</cp:revision>
  <cp:lastPrinted>2026-01-27T16:07:17Z</cp:lastPrinted>
  <dcterms:created xsi:type="dcterms:W3CDTF">2006-08-16T00:00:00Z</dcterms:created>
  <dcterms:modified xsi:type="dcterms:W3CDTF">2026-01-28T04:46:29Z</dcterms:modified>
  <dc:identifier>DAEZagJSTFI</dc:identifier>
</cp:coreProperties>
</file>